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Lst>
  <p:notesMasterIdLst>
    <p:notesMasterId r:id="rId24"/>
  </p:notesMasterIdLst>
  <p:sldIdLst>
    <p:sldId id="1196" r:id="rId2"/>
    <p:sldId id="1249" r:id="rId3"/>
    <p:sldId id="1192" r:id="rId4"/>
    <p:sldId id="1223" r:id="rId5"/>
    <p:sldId id="1219" r:id="rId6"/>
    <p:sldId id="1221" r:id="rId7"/>
    <p:sldId id="1227" r:id="rId8"/>
    <p:sldId id="1202" r:id="rId9"/>
    <p:sldId id="1246" r:id="rId10"/>
    <p:sldId id="1232" r:id="rId11"/>
    <p:sldId id="1240" r:id="rId12"/>
    <p:sldId id="1238" r:id="rId13"/>
    <p:sldId id="1251" r:id="rId14"/>
    <p:sldId id="1248" r:id="rId15"/>
    <p:sldId id="1209" r:id="rId16"/>
    <p:sldId id="1218" r:id="rId17"/>
    <p:sldId id="1212" r:id="rId18"/>
    <p:sldId id="1242" r:id="rId19"/>
    <p:sldId id="1213" r:id="rId20"/>
    <p:sldId id="1216" r:id="rId21"/>
    <p:sldId id="1211" r:id="rId22"/>
    <p:sldId id="53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FF"/>
    <a:srgbClr val="1C20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614" autoAdjust="0"/>
    <p:restoredTop sz="76327" autoAdjust="0"/>
  </p:normalViewPr>
  <p:slideViewPr>
    <p:cSldViewPr snapToGrid="0" showGuides="1">
      <p:cViewPr varScale="1">
        <p:scale>
          <a:sx n="92" d="100"/>
          <a:sy n="92" d="100"/>
        </p:scale>
        <p:origin x="1064" y="168"/>
      </p:cViewPr>
      <p:guideLst>
        <p:guide orient="horz" pos="2160"/>
        <p:guide pos="3816"/>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B9918F-0B17-4232-AD1A-245C189562AE}" type="datetimeFigureOut">
              <a:rPr lang="zh-CN" altLang="en-US" smtClean="0"/>
              <a:t>2026/10/22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7D0C94-429E-485B-855A-0F7FC51424BB}" type="slidenum">
              <a:rPr lang="zh-CN" altLang="en-US" smtClean="0"/>
              <a:t>‹#›</a:t>
            </a:fld>
            <a:endParaRPr lang="zh-CN" altLang="en-US"/>
          </a:p>
        </p:txBody>
      </p:sp>
    </p:spTree>
    <p:extLst>
      <p:ext uri="{BB962C8B-B14F-4D97-AF65-F5344CB8AC3E}">
        <p14:creationId xmlns:p14="http://schemas.microsoft.com/office/powerpoint/2010/main" val="4286320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Good</a:t>
            </a:r>
            <a:r>
              <a:rPr lang="zh-CN" altLang="en-US" dirty="0"/>
              <a:t> </a:t>
            </a:r>
            <a:r>
              <a:rPr lang="en-US" altLang="zh-CN" dirty="0"/>
              <a:t>afternoon, my name is Wei</a:t>
            </a:r>
            <a:r>
              <a:rPr lang="zh-CN" altLang="en-US" dirty="0"/>
              <a:t> </a:t>
            </a:r>
            <a:r>
              <a:rPr lang="en-US" altLang="zh-CN" dirty="0"/>
              <a:t>XUAN, come from Institute of computing technology, Chinese academy of sciences.  </a:t>
            </a:r>
          </a:p>
          <a:p>
            <a:r>
              <a:rPr lang="en-US" altLang="zh-CN" dirty="0"/>
              <a:t>It’s my honor to share our recent work here, which entitled “DTC: Real-Time and Accurate Distributed Triangle Counting in Fully Dynamic Graph Streams”.</a:t>
            </a:r>
          </a:p>
        </p:txBody>
      </p:sp>
      <p:sp>
        <p:nvSpPr>
          <p:cNvPr id="4" name="灯片编号占位符 3"/>
          <p:cNvSpPr>
            <a:spLocks noGrp="1"/>
          </p:cNvSpPr>
          <p:nvPr>
            <p:ph type="sldNum" sz="quarter" idx="5"/>
          </p:nvPr>
        </p:nvSpPr>
        <p:spPr/>
        <p:txBody>
          <a:bodyPr/>
          <a:lstStyle/>
          <a:p>
            <a:fld id="{5A7D0C94-429E-485B-855A-0F7FC51424BB}" type="slidenum">
              <a:rPr lang="zh-CN" altLang="en-US" smtClean="0"/>
              <a:t>1</a:t>
            </a:fld>
            <a:endParaRPr lang="zh-CN" altLang="en-US"/>
          </a:p>
        </p:txBody>
      </p:sp>
    </p:spTree>
    <p:extLst>
      <p:ext uri="{BB962C8B-B14F-4D97-AF65-F5344CB8AC3E}">
        <p14:creationId xmlns:p14="http://schemas.microsoft.com/office/powerpoint/2010/main" val="2220093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I will present this work in three sections. The first section covers the background and related work.</a:t>
            </a:r>
            <a:r>
              <a:rPr lang="zh-CN" altLang="en-US" dirty="0"/>
              <a:t> </a:t>
            </a:r>
            <a:r>
              <a:rPr lang="en-US" altLang="zh-CN" dirty="0"/>
              <a:t>Then</a:t>
            </a:r>
            <a:r>
              <a:rPr lang="zh-CN" altLang="en-US" dirty="0"/>
              <a:t> </a:t>
            </a:r>
            <a:r>
              <a:rPr lang="en-US" altLang="zh-CN" dirty="0"/>
              <a:t>is</a:t>
            </a:r>
            <a:r>
              <a:rPr lang="zh-CN" altLang="en-US" dirty="0"/>
              <a:t> </a:t>
            </a:r>
            <a:r>
              <a:rPr lang="en-US" altLang="zh-CN" dirty="0"/>
              <a:t>our</a:t>
            </a:r>
            <a:r>
              <a:rPr lang="zh-CN" altLang="en-US" dirty="0"/>
              <a:t> </a:t>
            </a:r>
            <a:r>
              <a:rPr lang="en-US" altLang="zh-CN" dirty="0"/>
              <a:t>proposed</a:t>
            </a:r>
            <a:r>
              <a:rPr lang="zh-CN" altLang="en-US" dirty="0"/>
              <a:t>  </a:t>
            </a:r>
            <a:r>
              <a:rPr lang="en-US" altLang="zh-CN" dirty="0"/>
              <a:t>solution.</a:t>
            </a:r>
            <a:r>
              <a:rPr lang="zh-CN" altLang="en-US" dirty="0"/>
              <a:t> </a:t>
            </a:r>
            <a:r>
              <a:rPr lang="en-US" altLang="zh-CN" dirty="0"/>
              <a:t>Lastly,</a:t>
            </a:r>
            <a:r>
              <a:rPr lang="zh-CN" altLang="en-US" dirty="0"/>
              <a:t> </a:t>
            </a:r>
            <a:r>
              <a:rPr lang="en-US" altLang="zh-CN" dirty="0"/>
              <a:t>I</a:t>
            </a:r>
            <a:r>
              <a:rPr lang="zh-CN" altLang="en-US" dirty="0"/>
              <a:t> </a:t>
            </a:r>
            <a:r>
              <a:rPr lang="en-US" altLang="zh-CN" dirty="0"/>
              <a:t>will</a:t>
            </a:r>
            <a:r>
              <a:rPr lang="zh-CN" altLang="en-US" dirty="0"/>
              <a:t> </a:t>
            </a:r>
            <a:r>
              <a:rPr lang="en-US" altLang="zh-CN" dirty="0"/>
              <a:t>discuss</a:t>
            </a:r>
            <a:r>
              <a:rPr lang="zh-CN" altLang="en-US" dirty="0"/>
              <a:t> </a:t>
            </a:r>
            <a:r>
              <a:rPr lang="en-US" altLang="zh-CN" dirty="0"/>
              <a:t>the</a:t>
            </a:r>
            <a:r>
              <a:rPr lang="zh-CN" altLang="en-US" dirty="0"/>
              <a:t> </a:t>
            </a:r>
            <a:r>
              <a:rPr lang="en-US" altLang="zh-CN" dirty="0"/>
              <a:t>experiments</a:t>
            </a:r>
            <a:r>
              <a:rPr lang="zh-CN" altLang="en-US" dirty="0"/>
              <a:t> </a:t>
            </a:r>
            <a:r>
              <a:rPr lang="en-US" altLang="zh-CN" dirty="0"/>
              <a:t>and</a:t>
            </a:r>
            <a:r>
              <a:rPr lang="zh-CN" altLang="en-US" dirty="0"/>
              <a:t> </a:t>
            </a:r>
            <a:r>
              <a:rPr lang="en-US" altLang="zh-CN" dirty="0"/>
              <a:t>conclusions.</a:t>
            </a:r>
          </a:p>
        </p:txBody>
      </p:sp>
      <p:sp>
        <p:nvSpPr>
          <p:cNvPr id="4" name="灯片编号占位符 3"/>
          <p:cNvSpPr>
            <a:spLocks noGrp="1"/>
          </p:cNvSpPr>
          <p:nvPr>
            <p:ph type="sldNum" sz="quarter" idx="5"/>
          </p:nvPr>
        </p:nvSpPr>
        <p:spPr/>
        <p:txBody>
          <a:bodyPr/>
          <a:lstStyle/>
          <a:p>
            <a:fld id="{5A7D0C94-429E-485B-855A-0F7FC51424BB}" type="slidenum">
              <a:rPr lang="zh-CN" altLang="en-US" smtClean="0"/>
              <a:t>2</a:t>
            </a:fld>
            <a:endParaRPr lang="zh-CN" altLang="en-US"/>
          </a:p>
        </p:txBody>
      </p:sp>
    </p:spTree>
    <p:extLst>
      <p:ext uri="{BB962C8B-B14F-4D97-AF65-F5344CB8AC3E}">
        <p14:creationId xmlns:p14="http://schemas.microsoft.com/office/powerpoint/2010/main" val="3866475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Graphs are widespread, serving as a mathematical model that depicts relationships between entities. In this model, a vertex represents an entity, while an edge signifies a relation between entities. Graphs find application across diverse domains such as social networks, e-commerce networks, and traffic networks.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Triangles, consisting of three pairwise interconnected edges, are a fundamental primitive in graph mining. Global triangles involve three nodes interconnected to each other, while local triangles are formed around individual vertices. Key metrics include the clustering coefficient and transitivity ratio.</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3</a:t>
            </a:fld>
            <a:endParaRPr lang="zh-CN" altLang="en-US"/>
          </a:p>
        </p:txBody>
      </p:sp>
    </p:spTree>
    <p:extLst>
      <p:ext uri="{BB962C8B-B14F-4D97-AF65-F5344CB8AC3E}">
        <p14:creationId xmlns:p14="http://schemas.microsoft.com/office/powerpoint/2010/main" val="2053118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Evolving graph streams are characterized by a</a:t>
            </a:r>
            <a:r>
              <a:rPr lang="en-US" sz="1800" u="none" kern="100" dirty="0">
                <a:effectLst/>
                <a:latin typeface="Calibri" panose="020F0502020204030204" pitchFamily="34" charset="0"/>
                <a:ea typeface="DengXian" panose="02010600030101010101" pitchFamily="2" charset="-122"/>
                <a:cs typeface="Times New Roman" panose="02020603050405020304" pitchFamily="18" charset="0"/>
              </a:rPr>
              <a:t> </a:t>
            </a:r>
            <a:r>
              <a:rPr lang="en-US"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sequence</a:t>
            </a:r>
            <a:r>
              <a:rPr lang="en-US" sz="1800" u="none" kern="100" dirty="0">
                <a:effectLst/>
                <a:latin typeface="Calibri" panose="020F0502020204030204" pitchFamily="34" charset="0"/>
                <a:ea typeface="DengXian" panose="02010600030101010101" pitchFamily="2" charset="-122"/>
                <a:cs typeface="Times New Roman" panose="02020603050405020304" pitchFamily="18" charset="0"/>
              </a:rPr>
              <a:t> </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of edges continually generated from real-world sources. These streams </a:t>
            </a:r>
            <a:r>
              <a:rPr lang="en-US"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exhibit</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 full dynamism, involving edge insertions and deletions along with </a:t>
            </a:r>
            <a:r>
              <a:rPr lang="en-US"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topological</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 structural changes. They are vast in scale, continuously expanding, and dynamically evolving without any predefined order. Time sensitivity is crucial in handling these streams, requiring real-time feedback for processing outcomes.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The first figure illustrates the edge sequence of a streaming graph, while the second figure depicts the evolution of the graph's topological structure.</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4</a:t>
            </a:fld>
            <a:endParaRPr lang="zh-CN" altLang="en-US"/>
          </a:p>
        </p:txBody>
      </p:sp>
    </p:spTree>
    <p:extLst>
      <p:ext uri="{BB962C8B-B14F-4D97-AF65-F5344CB8AC3E}">
        <p14:creationId xmlns:p14="http://schemas.microsoft.com/office/powerpoint/2010/main" val="4155228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altLang="zh-CN" dirty="0"/>
              <a:t>Triangle counting holds significant importance across diverse domains such as financial fraud detection and community discovery to recommendation systems, social network analysis, world airline route maps, and spam detection.</a:t>
            </a:r>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5</a:t>
            </a:fld>
            <a:endParaRPr lang="zh-CN" altLang="en-US"/>
          </a:p>
        </p:txBody>
      </p:sp>
    </p:spTree>
    <p:extLst>
      <p:ext uri="{BB962C8B-B14F-4D97-AF65-F5344CB8AC3E}">
        <p14:creationId xmlns:p14="http://schemas.microsoft.com/office/powerpoint/2010/main" val="3797718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Real-world graphs are vast in scale, constantly expanding, and present a lack of prior knowledge regarding evolving graph streams. Furthermore, there is a </a:t>
            </a:r>
            <a:r>
              <a:rPr lang="en-HK"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constraint</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on primary memory capacity for real-time analysis.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In light of these challenges, achieving exact counts of global and local triangles by storing the entire graph streams in memory becomes practically infeasible. Consequently, current research has shifted into streaming algorithms that use sampling approaches to obtain approximate triangle counts.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6</a:t>
            </a:fld>
            <a:endParaRPr lang="zh-CN" altLang="en-US"/>
          </a:p>
        </p:txBody>
      </p:sp>
    </p:spTree>
    <p:extLst>
      <p:ext uri="{BB962C8B-B14F-4D97-AF65-F5344CB8AC3E}">
        <p14:creationId xmlns:p14="http://schemas.microsoft.com/office/powerpoint/2010/main" val="124155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US"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Streaming Algorithms can be classified by three main types, including Sampling Methods, Resource Utilization, and Processing Capability.</a:t>
            </a:r>
            <a:endParaRPr lang="zh-CN" sz="1800" u="none"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Sampling Methods encompass Reservoir-based sampling, which utilizes a fixed-size storage budget for storing sampled edges used in triangle counting, and Bernoulli-based sampling, which samples every edge with the same probability.</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Resource Utilization includes Single-machine streaming algorithms and Multi-machine distributed streaming algorithms. Processing Capability involves managing insertion-only edge streams and handling fully dynamic streams.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7</a:t>
            </a:fld>
            <a:endParaRPr lang="zh-CN" altLang="en-US"/>
          </a:p>
        </p:txBody>
      </p:sp>
    </p:spTree>
    <p:extLst>
      <p:ext uri="{BB962C8B-B14F-4D97-AF65-F5344CB8AC3E}">
        <p14:creationId xmlns:p14="http://schemas.microsoft.com/office/powerpoint/2010/main" val="4055619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8</a:t>
            </a:fld>
            <a:endParaRPr lang="zh-CN" altLang="en-US"/>
          </a:p>
        </p:txBody>
      </p:sp>
    </p:spTree>
    <p:extLst>
      <p:ext uri="{BB962C8B-B14F-4D97-AF65-F5344CB8AC3E}">
        <p14:creationId xmlns:p14="http://schemas.microsoft.com/office/powerpoint/2010/main" val="713174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The</a:t>
            </a:r>
            <a:r>
              <a:rPr lang="zh-CN" altLang="en-US" dirty="0"/>
              <a:t> </a:t>
            </a:r>
            <a:r>
              <a:rPr lang="en-US" altLang="zh-CN" dirty="0"/>
              <a:t>second</a:t>
            </a:r>
            <a:r>
              <a:rPr lang="zh-CN" altLang="en-US" dirty="0"/>
              <a:t> </a:t>
            </a:r>
            <a:r>
              <a:rPr lang="en-US" altLang="zh-CN" dirty="0"/>
              <a:t>section</a:t>
            </a:r>
            <a:r>
              <a:rPr lang="zh-CN" altLang="en-US" dirty="0"/>
              <a:t> </a:t>
            </a:r>
            <a:r>
              <a:rPr lang="en-US" altLang="zh-CN" dirty="0"/>
              <a:t>is</a:t>
            </a:r>
            <a:r>
              <a:rPr lang="zh-CN" altLang="en-US" dirty="0"/>
              <a:t> </a:t>
            </a:r>
            <a:r>
              <a:rPr lang="en-US" altLang="zh-CN" dirty="0"/>
              <a:t>about</a:t>
            </a:r>
            <a:r>
              <a:rPr lang="zh-CN" altLang="en-US" dirty="0"/>
              <a:t> </a:t>
            </a:r>
            <a:r>
              <a:rPr lang="en-US" altLang="zh-CN" dirty="0"/>
              <a:t>our</a:t>
            </a:r>
            <a:r>
              <a:rPr lang="zh-CN" altLang="en-US" dirty="0"/>
              <a:t> </a:t>
            </a:r>
            <a:r>
              <a:rPr lang="en-US" altLang="zh-CN" dirty="0"/>
              <a:t>proposed</a:t>
            </a:r>
            <a:r>
              <a:rPr lang="zh-CN" altLang="en-US" dirty="0"/>
              <a:t> </a:t>
            </a:r>
            <a:r>
              <a:rPr lang="en-US" altLang="zh-CN" dirty="0"/>
              <a:t>solution</a:t>
            </a:r>
          </a:p>
        </p:txBody>
      </p:sp>
      <p:sp>
        <p:nvSpPr>
          <p:cNvPr id="4" name="灯片编号占位符 3"/>
          <p:cNvSpPr>
            <a:spLocks noGrp="1"/>
          </p:cNvSpPr>
          <p:nvPr>
            <p:ph type="sldNum" sz="quarter" idx="5"/>
          </p:nvPr>
        </p:nvSpPr>
        <p:spPr/>
        <p:txBody>
          <a:bodyPr/>
          <a:lstStyle/>
          <a:p>
            <a:fld id="{5A7D0C94-429E-485B-855A-0F7FC51424BB}" type="slidenum">
              <a:rPr lang="zh-CN" altLang="en-US" smtClean="0"/>
              <a:t>9</a:t>
            </a:fld>
            <a:endParaRPr lang="zh-CN" altLang="en-US"/>
          </a:p>
        </p:txBody>
      </p:sp>
    </p:spTree>
    <p:extLst>
      <p:ext uri="{BB962C8B-B14F-4D97-AF65-F5344CB8AC3E}">
        <p14:creationId xmlns:p14="http://schemas.microsoft.com/office/powerpoint/2010/main" val="1507756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This figure depicts the architecture of distributed streaming algorithms. </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The inputs are real-world graph streams, such as social network, and traffic network. It includes Master-Workers-Aggregator, where the Master is responsible for load balancing and efficient edge distribution among the workers, the Workers Execute streaming algorithms for triangle counting within the distributed system, the Aggregator accumulates the results from all workers. The output includes global and local triangle counts derived from the graph streams.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10</a:t>
            </a:fld>
            <a:endParaRPr lang="zh-CN" altLang="en-US"/>
          </a:p>
        </p:txBody>
      </p:sp>
    </p:spTree>
    <p:extLst>
      <p:ext uri="{BB962C8B-B14F-4D97-AF65-F5344CB8AC3E}">
        <p14:creationId xmlns:p14="http://schemas.microsoft.com/office/powerpoint/2010/main" val="2159096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The </a:t>
            </a:r>
            <a:r>
              <a:rPr lang="en-US"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algorithm</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 pseudo-code on the left represents the Master, which determines the scheduling method based on the hash values of the two vertices of each edge. On the other side, the pseudo-code represents the Aggregator, responsible for real-time updates on global and local triangle counting.</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Our Proposed DTC-family comprises two key algorithms: DTC-AR and DTC-FD. Distributed Triangle Counting with Adaptive Resampling (DTC-AR) achieves remarkable precision through an adaptive sampling ratio method, eliminating the necessity for prior knowledge about the graph streams. Distributed Triangle Counting in Fully Dynamic Graph Streams (DTC-FD) accounts for edge insertions and deletions across multiple machines.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11</a:t>
            </a:fld>
            <a:endParaRPr lang="zh-CN" altLang="en-US"/>
          </a:p>
        </p:txBody>
      </p:sp>
    </p:spTree>
    <p:extLst>
      <p:ext uri="{BB962C8B-B14F-4D97-AF65-F5344CB8AC3E}">
        <p14:creationId xmlns:p14="http://schemas.microsoft.com/office/powerpoint/2010/main" val="876791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Distributed Triangle Counting with Adaptive Resampling (DTC-AR) incorporates the following characteristics: Incremental sample maintenance, Preservation of Sampling Fairness, Efficient Resource Utilization, </a:t>
            </a:r>
            <a:r>
              <a:rPr lang="en-US"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Avoidance </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of external storage access, and Single-pass streaming algorithm.</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The algorithm on the right shows the process of each worker, mainly </a:t>
            </a:r>
            <a:r>
              <a:rPr lang="en-US"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including </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two functions: </a:t>
            </a:r>
            <a:r>
              <a:rPr lang="en-US" sz="1800" kern="100" dirty="0" err="1">
                <a:effectLst/>
                <a:latin typeface="Calibri" panose="020F0502020204030204" pitchFamily="34" charset="0"/>
                <a:ea typeface="DengXian" panose="02010600030101010101" pitchFamily="2" charset="-122"/>
                <a:cs typeface="Times New Roman" panose="02020603050405020304" pitchFamily="18" charset="0"/>
              </a:rPr>
              <a:t>sampleInsEdge</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 and </a:t>
            </a:r>
            <a:r>
              <a:rPr lang="en-US" sz="1800" kern="100" dirty="0" err="1">
                <a:effectLst/>
                <a:latin typeface="Calibri" panose="020F0502020204030204" pitchFamily="34" charset="0"/>
                <a:ea typeface="DengXian" panose="02010600030101010101" pitchFamily="2" charset="-122"/>
                <a:cs typeface="Times New Roman" panose="02020603050405020304" pitchFamily="18" charset="0"/>
              </a:rPr>
              <a:t>CheckRatio</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 The below diagram vividly illustrates the worker's workflow, enabling adaptive adjustment of sampling accuracy through Incremental sample maintenance. Upon sampling an edge, the triangle count initiation begins updating.</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12</a:t>
            </a:fld>
            <a:endParaRPr lang="zh-CN" altLang="en-US"/>
          </a:p>
        </p:txBody>
      </p:sp>
    </p:spTree>
    <p:extLst>
      <p:ext uri="{BB962C8B-B14F-4D97-AF65-F5344CB8AC3E}">
        <p14:creationId xmlns:p14="http://schemas.microsoft.com/office/powerpoint/2010/main" val="2775676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Distributed Triangle Counting in Fully Dynamic Graph Streams (DTC-FD) include the following features: Supporting fully dynamic graph streams by utilizing future edge insertions to offset prior deletions; Employing a single-pass streaming algorithm.</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The pseudo-code on the right represents the worker for DTC-FD. Within it, the function </a:t>
            </a:r>
            <a:r>
              <a:rPr lang="en-HK" sz="1800" kern="100" dirty="0" err="1">
                <a:effectLst/>
                <a:latin typeface="Calibri" panose="020F0502020204030204" pitchFamily="34" charset="0"/>
                <a:ea typeface="DengXian" panose="02010600030101010101" pitchFamily="2" charset="-122"/>
                <a:cs typeface="Times New Roman" panose="02020603050405020304" pitchFamily="18" charset="0"/>
              </a:rPr>
              <a:t>SampleDynEdge</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is responsible for sampling in fully dynamic graph streams, handling edge insertions and deletions. The diagram below illustrates the processing flow of DTC-FD. Upon the arrival of edges in the graph streams, triangle counts are updated, followed by a decision based on </a:t>
            </a:r>
            <a:r>
              <a:rPr lang="en-HK" sz="1800" kern="100" dirty="0" err="1">
                <a:effectLst/>
                <a:latin typeface="Calibri" panose="020F0502020204030204" pitchFamily="34" charset="0"/>
                <a:ea typeface="DengXian" panose="02010600030101010101" pitchFamily="2" charset="-122"/>
                <a:cs typeface="Times New Roman" panose="02020603050405020304" pitchFamily="18" charset="0"/>
              </a:rPr>
              <a:t>SampleDynEdge</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on whether to update the sample set.</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13</a:t>
            </a:fld>
            <a:endParaRPr lang="zh-CN" altLang="en-US"/>
          </a:p>
        </p:txBody>
      </p:sp>
    </p:spTree>
    <p:extLst>
      <p:ext uri="{BB962C8B-B14F-4D97-AF65-F5344CB8AC3E}">
        <p14:creationId xmlns:p14="http://schemas.microsoft.com/office/powerpoint/2010/main" val="1270599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The</a:t>
            </a:r>
            <a:r>
              <a:rPr lang="zh-CN" altLang="en-US" dirty="0"/>
              <a:t> </a:t>
            </a:r>
            <a:r>
              <a:rPr lang="en-US" altLang="zh-CN" dirty="0"/>
              <a:t>final</a:t>
            </a:r>
            <a:r>
              <a:rPr lang="zh-CN" altLang="en-US" dirty="0"/>
              <a:t> </a:t>
            </a:r>
            <a:r>
              <a:rPr lang="en-US" altLang="zh-CN" dirty="0"/>
              <a:t>section</a:t>
            </a:r>
            <a:r>
              <a:rPr lang="zh-CN" altLang="en-US" dirty="0"/>
              <a:t> </a:t>
            </a:r>
            <a:r>
              <a:rPr lang="en-US" altLang="zh-CN" dirty="0"/>
              <a:t>comprises</a:t>
            </a:r>
            <a:r>
              <a:rPr lang="zh-CN" altLang="en-US" dirty="0"/>
              <a:t> </a:t>
            </a:r>
            <a:r>
              <a:rPr lang="en-US" altLang="zh-CN" dirty="0"/>
              <a:t>experiments</a:t>
            </a:r>
            <a:r>
              <a:rPr lang="zh-CN" altLang="en-US" dirty="0"/>
              <a:t> </a:t>
            </a:r>
            <a:r>
              <a:rPr lang="en-US" altLang="zh-CN" dirty="0"/>
              <a:t>and</a:t>
            </a:r>
            <a:r>
              <a:rPr lang="zh-CN" altLang="en-US" dirty="0"/>
              <a:t> </a:t>
            </a:r>
            <a:r>
              <a:rPr lang="en-US" altLang="zh-CN" dirty="0"/>
              <a:t>conclusions</a:t>
            </a:r>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14</a:t>
            </a:fld>
            <a:endParaRPr lang="zh-CN" altLang="en-US"/>
          </a:p>
        </p:txBody>
      </p:sp>
    </p:spTree>
    <p:extLst>
      <p:ext uri="{BB962C8B-B14F-4D97-AF65-F5344CB8AC3E}">
        <p14:creationId xmlns:p14="http://schemas.microsoft.com/office/powerpoint/2010/main" val="3303467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We conducted the evaluation using the Intel server and implemented distributing algorithms using C++ and MPICH. Preprocessing 8 real-world graph datasets by removing parallel, self-loop, and directed edges, ultimately generating fully dynamic graph streams through random edge deletion and relocation. The evaluation includes a range of algorithms designed for single-machine and distributed environments. We employ metrics like mean global error, mean local error, global variance, and </a:t>
            </a:r>
            <a:r>
              <a:rPr lang="en-HK"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Pearson correlation </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coefficient</a:t>
            </a:r>
            <a:r>
              <a:rPr lang="en-HK"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to evaluate accuracy and performance.</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15</a:t>
            </a:fld>
            <a:endParaRPr lang="zh-CN" altLang="en-US"/>
          </a:p>
        </p:txBody>
      </p:sp>
    </p:spTree>
    <p:extLst>
      <p:ext uri="{BB962C8B-B14F-4D97-AF65-F5344CB8AC3E}">
        <p14:creationId xmlns:p14="http://schemas.microsoft.com/office/powerpoint/2010/main" val="3649080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By setting a large range of storage budget </a:t>
            </a:r>
            <a:r>
              <a:rPr lang="en-HK"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variations</a:t>
            </a:r>
            <a:r>
              <a:rPr lang="en-US"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 </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to simulate the fluctuating</a:t>
            </a:r>
            <a:r>
              <a:rPr lang="en-HK"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sizes of graph streams, DTC-AR demonstrates notably improved accuracy and speed compared to its counterparts, such as </a:t>
            </a:r>
            <a:r>
              <a:rPr lang="en-HK" sz="1800" kern="100" dirty="0" err="1">
                <a:effectLst/>
                <a:latin typeface="Calibri" panose="020F0502020204030204" pitchFamily="34" charset="0"/>
                <a:ea typeface="DengXian" panose="02010600030101010101" pitchFamily="2" charset="-122"/>
                <a:cs typeface="Times New Roman" panose="02020603050405020304" pitchFamily="18" charset="0"/>
              </a:rPr>
              <a:t>CoCoS</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TRIEST-IMPR and MASCOT.</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16</a:t>
            </a:fld>
            <a:endParaRPr lang="zh-CN" altLang="en-US"/>
          </a:p>
        </p:txBody>
      </p:sp>
    </p:spTree>
    <p:extLst>
      <p:ext uri="{BB962C8B-B14F-4D97-AF65-F5344CB8AC3E}">
        <p14:creationId xmlns:p14="http://schemas.microsoft.com/office/powerpoint/2010/main" val="5145385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With 10 workers and storing </a:t>
            </a:r>
            <a:r>
              <a:rPr lang="en-HK" sz="1800" u="none" kern="100" dirty="0">
                <a:effectLst/>
                <a:latin typeface="Calibri" panose="020F0502020204030204" pitchFamily="34" charset="0"/>
                <a:ea typeface="DengXian" panose="02010600030101010101" pitchFamily="2" charset="-122"/>
                <a:cs typeface="Times New Roman" panose="02020603050405020304" pitchFamily="18" charset="0"/>
              </a:rPr>
              <a:t>only </a:t>
            </a:r>
            <a:r>
              <a:rPr lang="en-HK" sz="1800" u="none" kern="100" dirty="0">
                <a:solidFill>
                  <a:srgbClr val="467886"/>
                </a:solidFill>
                <a:effectLst/>
                <a:latin typeface="Calibri" panose="020F0502020204030204" pitchFamily="34" charset="0"/>
                <a:ea typeface="DengXian" panose="02010600030101010101" pitchFamily="2" charset="-122"/>
                <a:cs typeface="Times New Roman" panose="02020603050405020304" pitchFamily="18" charset="0"/>
              </a:rPr>
              <a:t>small </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storage budget of the graph dataset </a:t>
            </a:r>
            <a:r>
              <a:rPr lang="en-HK" sz="1800" kern="100" dirty="0" err="1">
                <a:effectLst/>
                <a:latin typeface="Calibri" panose="020F0502020204030204" pitchFamily="34" charset="0"/>
                <a:ea typeface="DengXian" panose="02010600030101010101" pitchFamily="2" charset="-122"/>
                <a:cs typeface="Times New Roman" panose="02020603050405020304" pitchFamily="18" charset="0"/>
              </a:rPr>
              <a:t>Dblp</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in distributed settings, DTC-AR outperformed </a:t>
            </a:r>
            <a:r>
              <a:rPr lang="en-HK" sz="1800" kern="100" dirty="0" err="1">
                <a:effectLst/>
                <a:latin typeface="Calibri" panose="020F0502020204030204" pitchFamily="34" charset="0"/>
                <a:ea typeface="DengXian" panose="02010600030101010101" pitchFamily="2" charset="-122"/>
                <a:cs typeface="Times New Roman" panose="02020603050405020304" pitchFamily="18" charset="0"/>
              </a:rPr>
              <a:t>CoCoS</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TRIEST-IMPR and MASCOT by achieving the optimal trade-off between speed and accuracy. Notably, DTC-AR demonstrated a remarkable 35.0× increase in accuracy over </a:t>
            </a:r>
            <a:r>
              <a:rPr lang="en-HK" sz="1800" kern="100" dirty="0" err="1">
                <a:effectLst/>
                <a:latin typeface="Calibri" panose="020F0502020204030204" pitchFamily="34" charset="0"/>
                <a:ea typeface="DengXian" panose="02010600030101010101" pitchFamily="2" charset="-122"/>
                <a:cs typeface="Times New Roman" panose="02020603050405020304" pitchFamily="18" charset="0"/>
              </a:rPr>
              <a:t>CoCoS</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in terms of global error while maintaining similar processing times. Furthermore, the scalability of DTC-AR is directly </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proportional </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to the sampling threshold in graph streams, ensuring efficient performance as the threshold value increases.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17</a:t>
            </a:fld>
            <a:endParaRPr lang="zh-CN" altLang="en-US"/>
          </a:p>
        </p:txBody>
      </p:sp>
    </p:spTree>
    <p:extLst>
      <p:ext uri="{BB962C8B-B14F-4D97-AF65-F5344CB8AC3E}">
        <p14:creationId xmlns:p14="http://schemas.microsoft.com/office/powerpoint/2010/main" val="2658449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DTC-FD demonstrates significantly higher accuracy compared to MASCOT-FD, achieving up to 32.5× and 19.3× improvement in global error and local error, respectively. </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Additionally, DTC-FD outperforms </a:t>
            </a:r>
            <a:r>
              <a:rPr lang="en-HK" sz="1800" kern="100" dirty="0" err="1">
                <a:effectLst/>
                <a:latin typeface="Calibri" panose="020F0502020204030204" pitchFamily="34" charset="0"/>
                <a:ea typeface="DengXian" panose="02010600030101010101" pitchFamily="2" charset="-122"/>
                <a:cs typeface="Times New Roman" panose="02020603050405020304" pitchFamily="18" charset="0"/>
              </a:rPr>
              <a:t>ThinkDAcc</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with up to 109.7× improvement in global variance and 2.6× improvement in the Pearson coefficient.</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18</a:t>
            </a:fld>
            <a:endParaRPr lang="zh-CN" altLang="en-US"/>
          </a:p>
        </p:txBody>
      </p:sp>
    </p:spTree>
    <p:extLst>
      <p:ext uri="{BB962C8B-B14F-4D97-AF65-F5344CB8AC3E}">
        <p14:creationId xmlns:p14="http://schemas.microsoft.com/office/powerpoint/2010/main" val="3904878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DTC-FD achieves the best trade-off between speed and accuracy compared to other algorithms for triangle counting in fully-dynamic graph streams.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Specifically, DTC-FD was up to 2.1× faster than </a:t>
            </a:r>
            <a:r>
              <a:rPr lang="en-HK" sz="1800" kern="100" dirty="0" err="1">
                <a:effectLst/>
                <a:latin typeface="Calibri" panose="020F0502020204030204" pitchFamily="34" charset="0"/>
                <a:ea typeface="DengXian" panose="02010600030101010101" pitchFamily="2" charset="-122"/>
                <a:cs typeface="Times New Roman" panose="02020603050405020304" pitchFamily="18" charset="0"/>
              </a:rPr>
              <a:t>ThinkDAcc</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while maintaining nearly same levels of global error.</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19</a:t>
            </a:fld>
            <a:endParaRPr lang="zh-CN" altLang="en-US"/>
          </a:p>
        </p:txBody>
      </p:sp>
    </p:spTree>
    <p:extLst>
      <p:ext uri="{BB962C8B-B14F-4D97-AF65-F5344CB8AC3E}">
        <p14:creationId xmlns:p14="http://schemas.microsoft.com/office/powerpoint/2010/main" val="2544852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As the number of workers increased, DTC-FD demonstrates enhanced accuracy</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a:t>
            </a:r>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 Global error, global variance, and local error dropped quickly with the increase of workers.</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Moreover, the processing time of DTC-FD displayed a linear correlation with the number of edges in fully dynamic streams, ensuring efficient computational throughput even as the edge count scaled up.</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20</a:t>
            </a:fld>
            <a:endParaRPr lang="zh-CN" altLang="en-US"/>
          </a:p>
        </p:txBody>
      </p:sp>
    </p:spTree>
    <p:extLst>
      <p:ext uri="{BB962C8B-B14F-4D97-AF65-F5344CB8AC3E}">
        <p14:creationId xmlns:p14="http://schemas.microsoft.com/office/powerpoint/2010/main" val="15080690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We observed the limitations of existing methods from many perspectives, such as sampling methods, resource utilization and processing capability. And highlight the challenges, Single-Machine Streaming Algorithms within constrained primary memory constraints, while Multi-Machine Distributed Streaming Algorithms are limited to handling edge insertions and require prior knowledge.</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HK" sz="1800" kern="100" dirty="0">
                <a:effectLst/>
                <a:latin typeface="Calibri" panose="020F0502020204030204" pitchFamily="34" charset="0"/>
                <a:ea typeface="DengXian" panose="02010600030101010101" pitchFamily="2" charset="-122"/>
                <a:cs typeface="Times New Roman" panose="02020603050405020304" pitchFamily="18" charset="0"/>
              </a:rPr>
              <a:t>In response to these challenges, we introduce a suite of distributed triangle algorithms, called DTC-family. DTC-AR introduces adaptive resampling techniques, while DTC-FD compensates for prior deletions by leveraging future edge insertions for sustained stream dynamism.</a:t>
            </a:r>
            <a:endParaRPr 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HK" sz="1800" kern="100">
                <a:effectLst/>
                <a:latin typeface="Calibri" panose="020F0502020204030204" pitchFamily="34" charset="0"/>
                <a:ea typeface="DengXian" panose="02010600030101010101" pitchFamily="2" charset="-122"/>
                <a:cs typeface="Times New Roman" panose="02020603050405020304" pitchFamily="18" charset="0"/>
              </a:rPr>
              <a:t>Through an in-depth analysis of experimental results, the DTC-family emerges as a superior solution, demonstrating remarkable accuracy, speed, and scalability across diverse real-world graph datasets.</a:t>
            </a:r>
            <a:endParaRPr lang="zh-CN" sz="1800" kern="10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A7D0C94-429E-485B-855A-0F7FC51424BB}" type="slidenum">
              <a:rPr lang="zh-CN" altLang="en-US" smtClean="0"/>
              <a:t>21</a:t>
            </a:fld>
            <a:endParaRPr lang="zh-CN" altLang="en-US"/>
          </a:p>
        </p:txBody>
      </p:sp>
    </p:spTree>
    <p:extLst>
      <p:ext uri="{BB962C8B-B14F-4D97-AF65-F5344CB8AC3E}">
        <p14:creationId xmlns:p14="http://schemas.microsoft.com/office/powerpoint/2010/main" val="2812085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Thank</a:t>
            </a:r>
            <a:r>
              <a:rPr lang="zh-CN" altLang="en-US" dirty="0"/>
              <a:t> </a:t>
            </a:r>
            <a:r>
              <a:rPr lang="en-US" altLang="zh-CN" dirty="0"/>
              <a:t>you all</a:t>
            </a:r>
            <a:r>
              <a:rPr lang="zh-CN" altLang="en-US" dirty="0"/>
              <a:t> </a:t>
            </a:r>
            <a:r>
              <a:rPr lang="en-US" altLang="zh-CN" dirty="0"/>
              <a:t>for your attention. </a:t>
            </a:r>
            <a:endParaRPr lang="zh-CN" altLang="en-US" dirty="0"/>
          </a:p>
        </p:txBody>
      </p:sp>
      <p:sp>
        <p:nvSpPr>
          <p:cNvPr id="4" name="灯片编号占位符 3"/>
          <p:cNvSpPr>
            <a:spLocks noGrp="1"/>
          </p:cNvSpPr>
          <p:nvPr>
            <p:ph type="sldNum" sz="quarter" idx="5"/>
          </p:nvPr>
        </p:nvSpPr>
        <p:spPr/>
        <p:txBody>
          <a:bodyPr/>
          <a:lstStyle/>
          <a:p>
            <a:fld id="{5A7D0C94-429E-485B-855A-0F7FC51424BB}" type="slidenum">
              <a:rPr lang="zh-CN" altLang="en-US" smtClean="0"/>
              <a:t>22</a:t>
            </a:fld>
            <a:endParaRPr lang="zh-CN" altLang="en-US"/>
          </a:p>
        </p:txBody>
      </p:sp>
    </p:spTree>
    <p:extLst>
      <p:ext uri="{BB962C8B-B14F-4D97-AF65-F5344CB8AC3E}">
        <p14:creationId xmlns:p14="http://schemas.microsoft.com/office/powerpoint/2010/main" val="2074963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FE490A-1261-4753-856B-1852BA732776}" type="datetime1">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275513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3134E5-94AA-4FCA-8D79-00126F5EA8E8}" type="datetime1">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700622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1BC702-90BB-4060-A60F-EEF6804F5B73}" type="datetime1">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82932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530D7C-4302-4BA4-9C0B-AE83C8D8345C}" type="datetime1">
              <a:rPr lang="zh-CN" altLang="en-US" smtClean="0"/>
              <a:t>2026/10/22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2231475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B66152-0745-4873-865E-7F177846BDBC}" type="datetime1">
              <a:rPr lang="zh-CN" altLang="en-US" smtClean="0"/>
              <a:t>2026/10/22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3125005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8CB8EB-F7BE-49AE-AEE7-41A769820713}" type="datetime1">
              <a:rPr lang="zh-CN" altLang="en-US" smtClean="0"/>
              <a:t>2026/10/22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1272348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EB48DB-2455-47EB-80EF-798C9791E8D5}" type="datetime1">
              <a:rPr lang="zh-CN" altLang="en-US" smtClean="0"/>
              <a:t>2026/10/22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2065662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2795A7-E199-4517-A8EA-FA11226C6877}" type="datetime1">
              <a:rPr lang="zh-CN" altLang="en-US" smtClean="0"/>
              <a:t>2026/10/22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1868400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C10EBA-F617-455A-87F5-D2E756C548A2}" type="datetime1">
              <a:rPr lang="zh-CN" altLang="en-US" smtClean="0"/>
              <a:t>2026/10/22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1718011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E6EDC6-593E-415E-AE12-7ACC52018F47}" type="datetime1">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1232639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CCC86E-9587-4F76-B41C-FC938B90A3D2}" type="datetime1">
              <a:rPr lang="zh-CN" altLang="en-US" smtClean="0"/>
              <a:t>2026/10/22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1524986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B82AFA-6AA2-45A9-8897-80E61588F1EA}" type="datetime1">
              <a:rPr lang="zh-CN" altLang="en-US" smtClean="0"/>
              <a:t>2026/10/22</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C18B20-99F9-4866-84D4-802F7B8C14EF}" type="slidenum">
              <a:rPr lang="zh-CN" altLang="en-US" smtClean="0"/>
              <a:t>‹#›</a:t>
            </a:fld>
            <a:endParaRPr lang="zh-CN" altLang="en-US"/>
          </a:p>
        </p:txBody>
      </p:sp>
    </p:spTree>
    <p:extLst>
      <p:ext uri="{BB962C8B-B14F-4D97-AF65-F5344CB8AC3E}">
        <p14:creationId xmlns:p14="http://schemas.microsoft.com/office/powerpoint/2010/main" val="55857609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jpe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17.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8.png"/><Relationship Id="rId5" Type="http://schemas.openxmlformats.org/officeDocument/2006/relationships/image" Target="../media/image52.png"/><Relationship Id="rId10" Type="http://schemas.openxmlformats.org/officeDocument/2006/relationships/image" Target="../media/image47.png"/><Relationship Id="rId4" Type="http://schemas.openxmlformats.org/officeDocument/2006/relationships/image" Target="../media/image51.png"/><Relationship Id="rId9"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2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7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B5330B-EF32-4038-B982-97CD92F5F91D}"/>
              </a:ext>
            </a:extLst>
          </p:cNvPr>
          <p:cNvSpPr>
            <a:spLocks noGrp="1"/>
          </p:cNvSpPr>
          <p:nvPr>
            <p:ph type="ctrTitle"/>
          </p:nvPr>
        </p:nvSpPr>
        <p:spPr>
          <a:xfrm>
            <a:off x="222336" y="462138"/>
            <a:ext cx="11747328" cy="1468670"/>
          </a:xfrm>
        </p:spPr>
        <p:txBody>
          <a:bodyPr>
            <a:noAutofit/>
          </a:bodyPr>
          <a:lstStyle/>
          <a:p>
            <a:r>
              <a:rPr lang="en-US" altLang="zh-CN" sz="4400" b="1" dirty="0">
                <a:solidFill>
                  <a:srgbClr val="C00000"/>
                </a:solidFill>
                <a:latin typeface="Calibri" panose="020F0502020204030204" pitchFamily="34" charset="0"/>
                <a:cs typeface="Calibri" panose="020F0502020204030204" pitchFamily="34" charset="0"/>
              </a:rPr>
              <a:t>DTC: Real-Time and Accurate Distributed Triangle Counting in Fully Dynamic Graph Streams</a:t>
            </a:r>
            <a:endParaRPr lang="zh-CN" altLang="en-US" sz="4400" b="1" dirty="0">
              <a:solidFill>
                <a:srgbClr val="C00000"/>
              </a:solidFill>
              <a:latin typeface="Calibri" panose="020F0502020204030204" pitchFamily="34" charset="0"/>
              <a:cs typeface="Calibri" panose="020F0502020204030204" pitchFamily="34" charset="0"/>
            </a:endParaRPr>
          </a:p>
        </p:txBody>
      </p:sp>
      <p:sp>
        <p:nvSpPr>
          <p:cNvPr id="3" name="副标题 2">
            <a:extLst>
              <a:ext uri="{FF2B5EF4-FFF2-40B4-BE49-F238E27FC236}">
                <a16:creationId xmlns:a16="http://schemas.microsoft.com/office/drawing/2014/main" id="{29A9CAE2-0E3E-433B-8AD3-AB17568C4E9D}"/>
              </a:ext>
            </a:extLst>
          </p:cNvPr>
          <p:cNvSpPr>
            <a:spLocks noGrp="1"/>
          </p:cNvSpPr>
          <p:nvPr>
            <p:ph type="subTitle" idx="1"/>
          </p:nvPr>
        </p:nvSpPr>
        <p:spPr>
          <a:xfrm>
            <a:off x="2508707" y="3191415"/>
            <a:ext cx="7174586" cy="989338"/>
          </a:xfrm>
        </p:spPr>
        <p:txBody>
          <a:bodyPr>
            <a:normAutofit/>
          </a:bodyPr>
          <a:lstStyle/>
          <a:p>
            <a:r>
              <a:rPr lang="en-US" altLang="zh-CN" b="1" spc="-50" dirty="0">
                <a:solidFill>
                  <a:srgbClr val="2683C6"/>
                </a:solidFill>
                <a:latin typeface="Calibri" panose="020F0502020204030204"/>
                <a:cs typeface="Arial" charset="0"/>
              </a:rPr>
              <a:t>Wei Xuan</a:t>
            </a:r>
            <a:r>
              <a:rPr lang="en-US" altLang="zh-CN" spc="-50" dirty="0">
                <a:solidFill>
                  <a:srgbClr val="2683C6"/>
                </a:solidFill>
                <a:latin typeface="Calibri" panose="020F0502020204030204"/>
                <a:cs typeface="Arial" charset="0"/>
              </a:rPr>
              <a:t>, Yan Liang, Huawei Cao, Ning Lin,</a:t>
            </a:r>
          </a:p>
          <a:p>
            <a:r>
              <a:rPr lang="en-US" altLang="zh-CN" spc="-50" dirty="0" err="1">
                <a:solidFill>
                  <a:srgbClr val="2683C6"/>
                </a:solidFill>
                <a:latin typeface="Calibri" panose="020F0502020204030204"/>
                <a:cs typeface="Arial" charset="0"/>
              </a:rPr>
              <a:t>Xiaochun</a:t>
            </a:r>
            <a:r>
              <a:rPr lang="en-US" altLang="zh-CN" spc="-50" dirty="0">
                <a:solidFill>
                  <a:srgbClr val="2683C6"/>
                </a:solidFill>
                <a:latin typeface="Calibri" panose="020F0502020204030204"/>
                <a:cs typeface="Arial" charset="0"/>
              </a:rPr>
              <a:t> Ye and </a:t>
            </a:r>
            <a:r>
              <a:rPr lang="en-US" altLang="zh-CN" spc="-50" dirty="0" err="1">
                <a:solidFill>
                  <a:srgbClr val="2683C6"/>
                </a:solidFill>
                <a:latin typeface="Calibri" panose="020F0502020204030204"/>
                <a:cs typeface="Arial" charset="0"/>
              </a:rPr>
              <a:t>Dongrui</a:t>
            </a:r>
            <a:r>
              <a:rPr lang="en-US" altLang="zh-CN" spc="-50" dirty="0">
                <a:solidFill>
                  <a:srgbClr val="2683C6"/>
                </a:solidFill>
                <a:latin typeface="Calibri" panose="020F0502020204030204"/>
                <a:cs typeface="Arial" charset="0"/>
              </a:rPr>
              <a:t> Fan</a:t>
            </a:r>
            <a:endParaRPr lang="zh-CN" altLang="en-US" spc="-50" dirty="0">
              <a:solidFill>
                <a:srgbClr val="2683C6"/>
              </a:solidFill>
              <a:latin typeface="Calibri" panose="020F0502020204030204"/>
              <a:cs typeface="Arial" charset="0"/>
            </a:endParaRPr>
          </a:p>
        </p:txBody>
      </p:sp>
      <p:sp>
        <p:nvSpPr>
          <p:cNvPr id="4" name="矩形 3">
            <a:extLst>
              <a:ext uri="{FF2B5EF4-FFF2-40B4-BE49-F238E27FC236}">
                <a16:creationId xmlns:a16="http://schemas.microsoft.com/office/drawing/2014/main" id="{5B4738D2-6B1F-496F-8D1D-2F1237CC9813}"/>
              </a:ext>
            </a:extLst>
          </p:cNvPr>
          <p:cNvSpPr/>
          <p:nvPr/>
        </p:nvSpPr>
        <p:spPr>
          <a:xfrm>
            <a:off x="2450429" y="4270836"/>
            <a:ext cx="7291137" cy="830997"/>
          </a:xfrm>
          <a:prstGeom prst="rect">
            <a:avLst/>
          </a:prstGeom>
        </p:spPr>
        <p:txBody>
          <a:bodyPr wrap="square">
            <a:spAutoFit/>
          </a:bodyPr>
          <a:lstStyle/>
          <a:p>
            <a:pPr algn="ctr"/>
            <a:r>
              <a:rPr lang="zh-CN" altLang="en-US" sz="2400" spc="-50" dirty="0">
                <a:solidFill>
                  <a:srgbClr val="2683C6"/>
                </a:solidFill>
                <a:latin typeface="Calibri" panose="020F0502020204030204" pitchFamily="34" charset="0"/>
                <a:cs typeface="Calibri" panose="020F0502020204030204" pitchFamily="34" charset="0"/>
              </a:rPr>
              <a:t>Institute of Computing Technology, </a:t>
            </a:r>
            <a:endParaRPr lang="en-US" altLang="zh-CN" sz="2400" spc="-50" dirty="0">
              <a:solidFill>
                <a:srgbClr val="2683C6"/>
              </a:solidFill>
              <a:latin typeface="Calibri" panose="020F0502020204030204" pitchFamily="34" charset="0"/>
              <a:cs typeface="Calibri" panose="020F0502020204030204" pitchFamily="34" charset="0"/>
            </a:endParaRPr>
          </a:p>
          <a:p>
            <a:pPr algn="ctr"/>
            <a:r>
              <a:rPr lang="zh-CN" altLang="en-US" sz="2400" spc="-50" dirty="0">
                <a:solidFill>
                  <a:srgbClr val="2683C6"/>
                </a:solidFill>
                <a:latin typeface="Calibri" panose="020F0502020204030204" pitchFamily="34" charset="0"/>
                <a:cs typeface="Calibri" panose="020F0502020204030204" pitchFamily="34" charset="0"/>
              </a:rPr>
              <a:t>Chinese Academy of Sciences, China</a:t>
            </a:r>
          </a:p>
        </p:txBody>
      </p:sp>
      <p:pic>
        <p:nvPicPr>
          <p:cNvPr id="7" name="Picture 6" descr="Blue symbols with white text&#10;&#10;Description automatically generated with medium confidence">
            <a:extLst>
              <a:ext uri="{FF2B5EF4-FFF2-40B4-BE49-F238E27FC236}">
                <a16:creationId xmlns:a16="http://schemas.microsoft.com/office/drawing/2014/main" id="{8CDCA681-6206-B56B-D6C3-28AB298A9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2735" y="5573892"/>
            <a:ext cx="3326529" cy="565587"/>
          </a:xfrm>
          <a:prstGeom prst="rect">
            <a:avLst/>
          </a:prstGeom>
        </p:spPr>
      </p:pic>
    </p:spTree>
    <p:extLst>
      <p:ext uri="{BB962C8B-B14F-4D97-AF65-F5344CB8AC3E}">
        <p14:creationId xmlns:p14="http://schemas.microsoft.com/office/powerpoint/2010/main" val="3076205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Outline</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2</a:t>
            </a:fld>
            <a:endParaRPr lang="zh-CN" altLang="en-US"/>
          </a:p>
        </p:txBody>
      </p:sp>
      <p:sp>
        <p:nvSpPr>
          <p:cNvPr id="6" name="Freeform: Shape 5">
            <a:extLst>
              <a:ext uri="{FF2B5EF4-FFF2-40B4-BE49-F238E27FC236}">
                <a16:creationId xmlns:a16="http://schemas.microsoft.com/office/drawing/2014/main" id="{24C6E462-CBE0-A8F7-D52F-A36EC8EA204B}"/>
              </a:ext>
            </a:extLst>
          </p:cNvPr>
          <p:cNvSpPr/>
          <p:nvPr/>
        </p:nvSpPr>
        <p:spPr>
          <a:xfrm>
            <a:off x="3051679" y="1583731"/>
            <a:ext cx="6012441" cy="815490"/>
          </a:xfrm>
          <a:custGeom>
            <a:avLst/>
            <a:gdLst>
              <a:gd name="connsiteX0" fmla="*/ 0 w 6012441"/>
              <a:gd name="connsiteY0" fmla="*/ 135918 h 815490"/>
              <a:gd name="connsiteX1" fmla="*/ 135918 w 6012441"/>
              <a:gd name="connsiteY1" fmla="*/ 0 h 815490"/>
              <a:gd name="connsiteX2" fmla="*/ 5876523 w 6012441"/>
              <a:gd name="connsiteY2" fmla="*/ 0 h 815490"/>
              <a:gd name="connsiteX3" fmla="*/ 6012441 w 6012441"/>
              <a:gd name="connsiteY3" fmla="*/ 135918 h 815490"/>
              <a:gd name="connsiteX4" fmla="*/ 6012441 w 6012441"/>
              <a:gd name="connsiteY4" fmla="*/ 679572 h 815490"/>
              <a:gd name="connsiteX5" fmla="*/ 5876523 w 6012441"/>
              <a:gd name="connsiteY5" fmla="*/ 815490 h 815490"/>
              <a:gd name="connsiteX6" fmla="*/ 135918 w 6012441"/>
              <a:gd name="connsiteY6" fmla="*/ 815490 h 815490"/>
              <a:gd name="connsiteX7" fmla="*/ 0 w 6012441"/>
              <a:gd name="connsiteY7" fmla="*/ 679572 h 815490"/>
              <a:gd name="connsiteX8" fmla="*/ 0 w 6012441"/>
              <a:gd name="connsiteY8" fmla="*/ 135918 h 8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2441" h="815490">
                <a:moveTo>
                  <a:pt x="0" y="135918"/>
                </a:moveTo>
                <a:cubicBezTo>
                  <a:pt x="0" y="60853"/>
                  <a:pt x="60853" y="0"/>
                  <a:pt x="135918" y="0"/>
                </a:cubicBezTo>
                <a:lnTo>
                  <a:pt x="5876523" y="0"/>
                </a:lnTo>
                <a:cubicBezTo>
                  <a:pt x="5951588" y="0"/>
                  <a:pt x="6012441" y="60853"/>
                  <a:pt x="6012441" y="135918"/>
                </a:cubicBezTo>
                <a:lnTo>
                  <a:pt x="6012441" y="679572"/>
                </a:lnTo>
                <a:cubicBezTo>
                  <a:pt x="6012441" y="754637"/>
                  <a:pt x="5951588" y="815490"/>
                  <a:pt x="5876523" y="815490"/>
                </a:cubicBezTo>
                <a:lnTo>
                  <a:pt x="135918" y="815490"/>
                </a:lnTo>
                <a:cubicBezTo>
                  <a:pt x="60853" y="815490"/>
                  <a:pt x="0" y="754637"/>
                  <a:pt x="0" y="679572"/>
                </a:cubicBezTo>
                <a:lnTo>
                  <a:pt x="0" y="135918"/>
                </a:lnTo>
                <a:close/>
              </a:path>
            </a:pathLst>
          </a:custGeom>
          <a:gradFill rotWithShape="1">
            <a:gsLst>
              <a:gs pos="0">
                <a:srgbClr val="4472C4">
                  <a:shade val="50000"/>
                  <a:hueOff val="0"/>
                  <a:satOff val="0"/>
                  <a:lumOff val="0"/>
                  <a:alphaOff val="0"/>
                  <a:satMod val="103000"/>
                  <a:lumMod val="102000"/>
                  <a:tint val="94000"/>
                </a:srgbClr>
              </a:gs>
              <a:gs pos="50000">
                <a:srgbClr val="4472C4">
                  <a:shade val="50000"/>
                  <a:hueOff val="0"/>
                  <a:satOff val="0"/>
                  <a:lumOff val="0"/>
                  <a:alphaOff val="0"/>
                  <a:satMod val="110000"/>
                  <a:lumMod val="100000"/>
                  <a:shade val="100000"/>
                </a:srgbClr>
              </a:gs>
              <a:gs pos="100000">
                <a:srgbClr val="4472C4">
                  <a:shade val="50000"/>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169349" tIns="169349" rIns="169349" bIns="169349" numCol="1" spcCol="1270" anchor="ctr" anchorCtr="0">
            <a:noAutofit/>
          </a:bodyPr>
          <a:lstStyle/>
          <a:p>
            <a:pPr marL="0" marR="0" lvl="0" indent="0" defTabSz="1511300" eaLnBrk="1" fontAlgn="auto" latinLnBrk="0" hangingPunct="1">
              <a:lnSpc>
                <a:spcPct val="90000"/>
              </a:lnSpc>
              <a:spcBef>
                <a:spcPct val="0"/>
              </a:spcBef>
              <a:spcAft>
                <a:spcPct val="3500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Maiandra GD" panose="020E0502030308020204" pitchFamily="34" charset="0"/>
              </a:rPr>
              <a:t>Background and Related Work </a:t>
            </a:r>
          </a:p>
        </p:txBody>
      </p:sp>
      <p:sp>
        <p:nvSpPr>
          <p:cNvPr id="8" name="Freeform: Shape 7">
            <a:extLst>
              <a:ext uri="{FF2B5EF4-FFF2-40B4-BE49-F238E27FC236}">
                <a16:creationId xmlns:a16="http://schemas.microsoft.com/office/drawing/2014/main" id="{A7BC5A78-36F1-F9B5-49B6-6A6102AE5BFE}"/>
              </a:ext>
            </a:extLst>
          </p:cNvPr>
          <p:cNvSpPr/>
          <p:nvPr/>
        </p:nvSpPr>
        <p:spPr>
          <a:xfrm>
            <a:off x="3051677" y="4548826"/>
            <a:ext cx="6012441" cy="815490"/>
          </a:xfrm>
          <a:custGeom>
            <a:avLst/>
            <a:gdLst>
              <a:gd name="connsiteX0" fmla="*/ 0 w 6012441"/>
              <a:gd name="connsiteY0" fmla="*/ 135918 h 815490"/>
              <a:gd name="connsiteX1" fmla="*/ 135918 w 6012441"/>
              <a:gd name="connsiteY1" fmla="*/ 0 h 815490"/>
              <a:gd name="connsiteX2" fmla="*/ 5876523 w 6012441"/>
              <a:gd name="connsiteY2" fmla="*/ 0 h 815490"/>
              <a:gd name="connsiteX3" fmla="*/ 6012441 w 6012441"/>
              <a:gd name="connsiteY3" fmla="*/ 135918 h 815490"/>
              <a:gd name="connsiteX4" fmla="*/ 6012441 w 6012441"/>
              <a:gd name="connsiteY4" fmla="*/ 679572 h 815490"/>
              <a:gd name="connsiteX5" fmla="*/ 5876523 w 6012441"/>
              <a:gd name="connsiteY5" fmla="*/ 815490 h 815490"/>
              <a:gd name="connsiteX6" fmla="*/ 135918 w 6012441"/>
              <a:gd name="connsiteY6" fmla="*/ 815490 h 815490"/>
              <a:gd name="connsiteX7" fmla="*/ 0 w 6012441"/>
              <a:gd name="connsiteY7" fmla="*/ 679572 h 815490"/>
              <a:gd name="connsiteX8" fmla="*/ 0 w 6012441"/>
              <a:gd name="connsiteY8" fmla="*/ 135918 h 8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2441" h="815490">
                <a:moveTo>
                  <a:pt x="0" y="135918"/>
                </a:moveTo>
                <a:cubicBezTo>
                  <a:pt x="0" y="60853"/>
                  <a:pt x="60853" y="0"/>
                  <a:pt x="135918" y="0"/>
                </a:cubicBezTo>
                <a:lnTo>
                  <a:pt x="5876523" y="0"/>
                </a:lnTo>
                <a:cubicBezTo>
                  <a:pt x="5951588" y="0"/>
                  <a:pt x="6012441" y="60853"/>
                  <a:pt x="6012441" y="135918"/>
                </a:cubicBezTo>
                <a:lnTo>
                  <a:pt x="6012441" y="679572"/>
                </a:lnTo>
                <a:cubicBezTo>
                  <a:pt x="6012441" y="754637"/>
                  <a:pt x="5951588" y="815490"/>
                  <a:pt x="5876523" y="815490"/>
                </a:cubicBezTo>
                <a:lnTo>
                  <a:pt x="135918" y="815490"/>
                </a:lnTo>
                <a:cubicBezTo>
                  <a:pt x="60853" y="815490"/>
                  <a:pt x="0" y="754637"/>
                  <a:pt x="0" y="679572"/>
                </a:cubicBezTo>
                <a:lnTo>
                  <a:pt x="0" y="135918"/>
                </a:lnTo>
                <a:close/>
              </a:path>
            </a:pathLst>
          </a:custGeom>
          <a:gradFill rotWithShape="1">
            <a:gsLst>
              <a:gs pos="0">
                <a:srgbClr val="4472C4">
                  <a:shade val="50000"/>
                  <a:hueOff val="0"/>
                  <a:satOff val="0"/>
                  <a:lumOff val="0"/>
                  <a:alphaOff val="0"/>
                  <a:satMod val="103000"/>
                  <a:lumMod val="102000"/>
                  <a:tint val="94000"/>
                </a:srgbClr>
              </a:gs>
              <a:gs pos="50000">
                <a:srgbClr val="4472C4">
                  <a:shade val="50000"/>
                  <a:hueOff val="0"/>
                  <a:satOff val="0"/>
                  <a:lumOff val="0"/>
                  <a:alphaOff val="0"/>
                  <a:satMod val="110000"/>
                  <a:lumMod val="100000"/>
                  <a:shade val="100000"/>
                </a:srgbClr>
              </a:gs>
              <a:gs pos="100000">
                <a:srgbClr val="4472C4">
                  <a:shade val="50000"/>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169349" tIns="169349" rIns="169349" bIns="169349" numCol="1" spcCol="1270" anchor="ctr" anchorCtr="0">
            <a:noAutofit/>
          </a:bodyPr>
          <a:lstStyle/>
          <a:p>
            <a:pPr defTabSz="1511300">
              <a:lnSpc>
                <a:spcPct val="90000"/>
              </a:lnSpc>
              <a:spcBef>
                <a:spcPct val="0"/>
              </a:spcBef>
              <a:spcAft>
                <a:spcPct val="35000"/>
              </a:spcAft>
            </a:pPr>
            <a:r>
              <a:rPr lang="en-US" sz="3200" kern="0" dirty="0">
                <a:solidFill>
                  <a:prstClr val="white"/>
                </a:solidFill>
                <a:latin typeface="Maiandra GD" panose="020E0502030308020204" pitchFamily="34" charset="0"/>
              </a:rPr>
              <a:t>Experiments and Conclusion</a:t>
            </a:r>
            <a:r>
              <a:rPr lang="en-US" altLang="zh-CN" sz="3200" kern="0" dirty="0">
                <a:solidFill>
                  <a:prstClr val="white"/>
                </a:solidFill>
                <a:latin typeface="Maiandra GD" panose="020E0502030308020204" pitchFamily="34" charset="0"/>
              </a:rPr>
              <a:t>s</a:t>
            </a:r>
            <a:endParaRPr lang="en-US" sz="3200" kern="0" dirty="0">
              <a:solidFill>
                <a:prstClr val="white"/>
              </a:solidFill>
              <a:latin typeface="Maiandra GD" panose="020E0502030308020204" pitchFamily="34" charset="0"/>
            </a:endParaRPr>
          </a:p>
        </p:txBody>
      </p:sp>
      <p:sp>
        <p:nvSpPr>
          <p:cNvPr id="17" name="Freeform: Shape 16">
            <a:extLst>
              <a:ext uri="{FF2B5EF4-FFF2-40B4-BE49-F238E27FC236}">
                <a16:creationId xmlns:a16="http://schemas.microsoft.com/office/drawing/2014/main" id="{8FDB8730-7EDF-883D-7A75-CB90B609F541}"/>
              </a:ext>
            </a:extLst>
          </p:cNvPr>
          <p:cNvSpPr/>
          <p:nvPr/>
        </p:nvSpPr>
        <p:spPr>
          <a:xfrm>
            <a:off x="3051677" y="3066278"/>
            <a:ext cx="6012441" cy="815490"/>
          </a:xfrm>
          <a:custGeom>
            <a:avLst/>
            <a:gdLst>
              <a:gd name="connsiteX0" fmla="*/ 0 w 6012441"/>
              <a:gd name="connsiteY0" fmla="*/ 135918 h 815490"/>
              <a:gd name="connsiteX1" fmla="*/ 135918 w 6012441"/>
              <a:gd name="connsiteY1" fmla="*/ 0 h 815490"/>
              <a:gd name="connsiteX2" fmla="*/ 5876523 w 6012441"/>
              <a:gd name="connsiteY2" fmla="*/ 0 h 815490"/>
              <a:gd name="connsiteX3" fmla="*/ 6012441 w 6012441"/>
              <a:gd name="connsiteY3" fmla="*/ 135918 h 815490"/>
              <a:gd name="connsiteX4" fmla="*/ 6012441 w 6012441"/>
              <a:gd name="connsiteY4" fmla="*/ 679572 h 815490"/>
              <a:gd name="connsiteX5" fmla="*/ 5876523 w 6012441"/>
              <a:gd name="connsiteY5" fmla="*/ 815490 h 815490"/>
              <a:gd name="connsiteX6" fmla="*/ 135918 w 6012441"/>
              <a:gd name="connsiteY6" fmla="*/ 815490 h 815490"/>
              <a:gd name="connsiteX7" fmla="*/ 0 w 6012441"/>
              <a:gd name="connsiteY7" fmla="*/ 679572 h 815490"/>
              <a:gd name="connsiteX8" fmla="*/ 0 w 6012441"/>
              <a:gd name="connsiteY8" fmla="*/ 135918 h 8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2441" h="815490">
                <a:moveTo>
                  <a:pt x="0" y="135918"/>
                </a:moveTo>
                <a:cubicBezTo>
                  <a:pt x="0" y="60853"/>
                  <a:pt x="60853" y="0"/>
                  <a:pt x="135918" y="0"/>
                </a:cubicBezTo>
                <a:lnTo>
                  <a:pt x="5876523" y="0"/>
                </a:lnTo>
                <a:cubicBezTo>
                  <a:pt x="5951588" y="0"/>
                  <a:pt x="6012441" y="60853"/>
                  <a:pt x="6012441" y="135918"/>
                </a:cubicBezTo>
                <a:lnTo>
                  <a:pt x="6012441" y="679572"/>
                </a:lnTo>
                <a:cubicBezTo>
                  <a:pt x="6012441" y="754637"/>
                  <a:pt x="5951588" y="815490"/>
                  <a:pt x="5876523" y="815490"/>
                </a:cubicBezTo>
                <a:lnTo>
                  <a:pt x="135918" y="815490"/>
                </a:lnTo>
                <a:cubicBezTo>
                  <a:pt x="60853" y="815490"/>
                  <a:pt x="0" y="754637"/>
                  <a:pt x="0" y="679572"/>
                </a:cubicBezTo>
                <a:lnTo>
                  <a:pt x="0" y="135918"/>
                </a:lnTo>
                <a:close/>
              </a:path>
            </a:pathLst>
          </a:custGeom>
          <a:gradFill rotWithShape="1">
            <a:gsLst>
              <a:gs pos="0">
                <a:srgbClr val="4472C4">
                  <a:shade val="50000"/>
                  <a:hueOff val="0"/>
                  <a:satOff val="0"/>
                  <a:lumOff val="0"/>
                  <a:alphaOff val="0"/>
                  <a:satMod val="103000"/>
                  <a:lumMod val="102000"/>
                  <a:tint val="94000"/>
                </a:srgbClr>
              </a:gs>
              <a:gs pos="50000">
                <a:srgbClr val="4472C4">
                  <a:shade val="50000"/>
                  <a:hueOff val="0"/>
                  <a:satOff val="0"/>
                  <a:lumOff val="0"/>
                  <a:alphaOff val="0"/>
                  <a:satMod val="110000"/>
                  <a:lumMod val="100000"/>
                  <a:shade val="100000"/>
                </a:srgbClr>
              </a:gs>
              <a:gs pos="100000">
                <a:srgbClr val="4472C4">
                  <a:shade val="50000"/>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169349" tIns="169349" rIns="169349" bIns="169349" numCol="1" spcCol="1270" anchor="ctr" anchorCtr="0">
            <a:noAutofit/>
          </a:bodyPr>
          <a:lstStyle/>
          <a:p>
            <a:pPr defTabSz="1511300">
              <a:lnSpc>
                <a:spcPct val="90000"/>
              </a:lnSpc>
              <a:spcBef>
                <a:spcPct val="0"/>
              </a:spcBef>
              <a:spcAft>
                <a:spcPct val="35000"/>
              </a:spcAft>
            </a:pPr>
            <a:r>
              <a:rPr lang="en-US" sz="3200" kern="0" dirty="0">
                <a:solidFill>
                  <a:schemeClr val="bg1"/>
                </a:solidFill>
                <a:latin typeface="Maiandra GD" panose="020E0502030308020204" pitchFamily="34" charset="0"/>
              </a:rPr>
              <a:t>Proposed </a:t>
            </a:r>
            <a:r>
              <a:rPr lang="en-US" altLang="zh-CN" sz="3200" kern="0" dirty="0">
                <a:solidFill>
                  <a:schemeClr val="bg1"/>
                </a:solidFill>
                <a:latin typeface="Maiandra GD" panose="020E0502030308020204" pitchFamily="34" charset="0"/>
              </a:rPr>
              <a:t>Solution</a:t>
            </a:r>
            <a:endParaRPr lang="en-US" sz="3200" kern="0" dirty="0">
              <a:solidFill>
                <a:schemeClr val="bg1"/>
              </a:solidFill>
              <a:latin typeface="Maiandra GD" panose="020E0502030308020204" pitchFamily="34" charset="0"/>
            </a:endParaRPr>
          </a:p>
        </p:txBody>
      </p:sp>
      <p:pic>
        <p:nvPicPr>
          <p:cNvPr id="7" name="Picture 6" descr="A graphic of a beaker and a pencil&#10;&#10;Description automatically generated">
            <a:extLst>
              <a:ext uri="{FF2B5EF4-FFF2-40B4-BE49-F238E27FC236}">
                <a16:creationId xmlns:a16="http://schemas.microsoft.com/office/drawing/2014/main" id="{EBF8CDC1-68F7-5ECC-3AF4-CF02A977B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1520" y="4555540"/>
            <a:ext cx="815490" cy="815490"/>
          </a:xfrm>
          <a:prstGeom prst="rect">
            <a:avLst/>
          </a:prstGeom>
        </p:spPr>
      </p:pic>
      <p:pic>
        <p:nvPicPr>
          <p:cNvPr id="21" name="Picture 20" descr="A drawing of a diamond and a pen&#10;&#10;Description automatically generated">
            <a:extLst>
              <a:ext uri="{FF2B5EF4-FFF2-40B4-BE49-F238E27FC236}">
                <a16:creationId xmlns:a16="http://schemas.microsoft.com/office/drawing/2014/main" id="{73BC744D-7F46-FCF0-2F72-E983CD2763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1520" y="3103492"/>
            <a:ext cx="815490" cy="815490"/>
          </a:xfrm>
          <a:prstGeom prst="rect">
            <a:avLst/>
          </a:prstGeom>
        </p:spPr>
      </p:pic>
      <p:pic>
        <p:nvPicPr>
          <p:cNvPr id="23" name="Picture 22" descr="A stack of books on a table&#10;&#10;Description automatically generated">
            <a:extLst>
              <a:ext uri="{FF2B5EF4-FFF2-40B4-BE49-F238E27FC236}">
                <a16:creationId xmlns:a16="http://schemas.microsoft.com/office/drawing/2014/main" id="{3D3F97D2-FF83-5DF2-9AA2-31F2C0257F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3027" y="1668444"/>
            <a:ext cx="829945" cy="828324"/>
          </a:xfrm>
          <a:prstGeom prst="rect">
            <a:avLst/>
          </a:prstGeom>
        </p:spPr>
      </p:pic>
    </p:spTree>
    <p:extLst>
      <p:ext uri="{BB962C8B-B14F-4D97-AF65-F5344CB8AC3E}">
        <p14:creationId xmlns:p14="http://schemas.microsoft.com/office/powerpoint/2010/main" val="3123335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1E72963-5153-466A-A793-419BCC315672}"/>
              </a:ext>
            </a:extLst>
          </p:cNvPr>
          <p:cNvSpPr>
            <a:spLocks noGrp="1"/>
          </p:cNvSpPr>
          <p:nvPr>
            <p:ph idx="1"/>
          </p:nvPr>
        </p:nvSpPr>
        <p:spPr>
          <a:xfrm>
            <a:off x="822658" y="1619050"/>
            <a:ext cx="8267225" cy="3848499"/>
          </a:xfrm>
        </p:spPr>
        <p:txBody>
          <a:bodyPr>
            <a:normAutofit lnSpcReduction="10000"/>
          </a:bodyPr>
          <a:lstStyle/>
          <a:p>
            <a:pPr marL="0" indent="0">
              <a:buNone/>
            </a:pPr>
            <a:r>
              <a:rPr lang="en-US" altLang="zh-CN" sz="2000" b="1" dirty="0"/>
              <a:t>Graphs</a:t>
            </a:r>
            <a:r>
              <a:rPr lang="en-US" altLang="zh-CN" sz="2000" dirty="0"/>
              <a:t> are ubiquitous</a:t>
            </a:r>
          </a:p>
          <a:p>
            <a:pPr lvl="1">
              <a:buFont typeface="Courier New" panose="02070309020205020404" pitchFamily="49" charset="0"/>
              <a:buChar char="o"/>
            </a:pPr>
            <a:r>
              <a:rPr lang="en-US" altLang="zh-CN" sz="2000" dirty="0"/>
              <a:t>A mathematical model depicting relationships between entities. </a:t>
            </a:r>
          </a:p>
          <a:p>
            <a:pPr lvl="1">
              <a:buFont typeface="Courier New" panose="02070309020205020404" pitchFamily="49" charset="0"/>
              <a:buChar char="o"/>
            </a:pPr>
            <a:r>
              <a:rPr lang="en-US" altLang="zh-CN" sz="2000" dirty="0"/>
              <a:t>A vertex symbolizes an entity, and an edge denotes a relation between entities. </a:t>
            </a:r>
          </a:p>
          <a:p>
            <a:pPr lvl="1">
              <a:buFont typeface="Courier New" panose="02070309020205020404" pitchFamily="49" charset="0"/>
              <a:buChar char="o"/>
            </a:pPr>
            <a:r>
              <a:rPr lang="en-US" altLang="zh-CN" sz="2000" dirty="0"/>
              <a:t>Applied across diverse domains including social networks, e-commerce networks, traffic networks.</a:t>
            </a:r>
          </a:p>
          <a:p>
            <a:pPr marL="457200" lvl="1" indent="0">
              <a:buNone/>
            </a:pPr>
            <a:endParaRPr lang="en-US" altLang="zh-CN" sz="2000" dirty="0"/>
          </a:p>
          <a:p>
            <a:pPr marL="0" indent="0">
              <a:buNone/>
            </a:pPr>
            <a:r>
              <a:rPr lang="en-US" altLang="zh-CN" sz="2000" b="1" dirty="0"/>
              <a:t>Triangles</a:t>
            </a:r>
            <a:r>
              <a:rPr lang="en-US" altLang="zh-CN" sz="2000" dirty="0"/>
              <a:t> comprise three pairwise interconnected edges</a:t>
            </a:r>
          </a:p>
          <a:p>
            <a:pPr lvl="1">
              <a:buFont typeface="Courier New" panose="02070309020205020404" pitchFamily="49" charset="0"/>
              <a:buChar char="o"/>
            </a:pPr>
            <a:r>
              <a:rPr lang="en-US" altLang="zh-CN" sz="2000" dirty="0"/>
              <a:t>A fundamental primitive in graph mining.</a:t>
            </a:r>
          </a:p>
          <a:p>
            <a:pPr lvl="1">
              <a:buFont typeface="Courier New" panose="02070309020205020404" pitchFamily="49" charset="0"/>
              <a:buChar char="o"/>
            </a:pPr>
            <a:r>
              <a:rPr lang="en-US" altLang="zh-CN" sz="2000" dirty="0"/>
              <a:t>Global triangles involve three nodes connected to each other.</a:t>
            </a:r>
          </a:p>
          <a:p>
            <a:pPr lvl="1">
              <a:buFont typeface="Courier New" panose="02070309020205020404" pitchFamily="49" charset="0"/>
              <a:buChar char="o"/>
            </a:pPr>
            <a:r>
              <a:rPr lang="en-US" altLang="zh-CN" sz="2000" dirty="0"/>
              <a:t>Local triangles form around individual vertices.</a:t>
            </a:r>
          </a:p>
          <a:p>
            <a:pPr lvl="1">
              <a:buFont typeface="Courier New" panose="02070309020205020404" pitchFamily="49" charset="0"/>
              <a:buChar char="o"/>
            </a:pPr>
            <a:r>
              <a:rPr lang="en-US" altLang="zh-CN" sz="2000" dirty="0"/>
              <a:t>Important metrics include clustering coefficient and transitivity ratio.</a:t>
            </a:r>
          </a:p>
        </p:txBody>
      </p:sp>
      <p:pic>
        <p:nvPicPr>
          <p:cNvPr id="8" name="图片 7">
            <a:extLst>
              <a:ext uri="{FF2B5EF4-FFF2-40B4-BE49-F238E27FC236}">
                <a16:creationId xmlns:a16="http://schemas.microsoft.com/office/drawing/2014/main" id="{A704A187-272E-4988-B919-A548D2D1EAAD}"/>
              </a:ext>
            </a:extLst>
          </p:cNvPr>
          <p:cNvPicPr>
            <a:picLocks noChangeAspect="1"/>
          </p:cNvPicPr>
          <p:nvPr/>
        </p:nvPicPr>
        <p:blipFill>
          <a:blip r:embed="rId3"/>
          <a:stretch>
            <a:fillRect/>
          </a:stretch>
        </p:blipFill>
        <p:spPr>
          <a:xfrm>
            <a:off x="8469478" y="2634588"/>
            <a:ext cx="3457427" cy="2274623"/>
          </a:xfrm>
          <a:prstGeom prst="rect">
            <a:avLst/>
          </a:prstGeom>
        </p:spPr>
      </p:pic>
      <p:sp>
        <p:nvSpPr>
          <p:cNvPr id="5" name="Title 2">
            <a:extLst>
              <a:ext uri="{FF2B5EF4-FFF2-40B4-BE49-F238E27FC236}">
                <a16:creationId xmlns:a16="http://schemas.microsoft.com/office/drawing/2014/main" id="{0EFABC7B-1A56-5A28-04D5-51E1816E5A20}"/>
              </a:ext>
            </a:extLst>
          </p:cNvPr>
          <p:cNvSpPr txBox="1">
            <a:spLocks/>
          </p:cNvSpPr>
          <p:nvPr/>
        </p:nvSpPr>
        <p:spPr bwMode="auto">
          <a:xfrm>
            <a:off x="336705" y="206375"/>
            <a:ext cx="11355186"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Triangles in Graphs</a:t>
            </a:r>
          </a:p>
        </p:txBody>
      </p:sp>
      <p:sp>
        <p:nvSpPr>
          <p:cNvPr id="2" name="Rectangle 1">
            <a:extLst>
              <a:ext uri="{FF2B5EF4-FFF2-40B4-BE49-F238E27FC236}">
                <a16:creationId xmlns:a16="http://schemas.microsoft.com/office/drawing/2014/main" id="{61A7EDC6-8F30-9B14-6543-0F39A3707D7A}"/>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069EB914-A18D-0014-AD69-56E5C3216DFD}"/>
              </a:ext>
            </a:extLst>
          </p:cNvPr>
          <p:cNvSpPr>
            <a:spLocks noGrp="1"/>
          </p:cNvSpPr>
          <p:nvPr>
            <p:ph type="sldNum" sz="quarter" idx="12"/>
          </p:nvPr>
        </p:nvSpPr>
        <p:spPr/>
        <p:txBody>
          <a:bodyPr/>
          <a:lstStyle/>
          <a:p>
            <a:fld id="{88C18B20-99F9-4866-84D4-802F7B8C14EF}" type="slidenum">
              <a:rPr lang="zh-CN" altLang="en-US" smtClean="0"/>
              <a:t>3</a:t>
            </a:fld>
            <a:endParaRPr lang="zh-CN" altLang="en-US" dirty="0"/>
          </a:p>
        </p:txBody>
      </p:sp>
      <p:sp>
        <p:nvSpPr>
          <p:cNvPr id="7" name="Oval 6">
            <a:extLst>
              <a:ext uri="{FF2B5EF4-FFF2-40B4-BE49-F238E27FC236}">
                <a16:creationId xmlns:a16="http://schemas.microsoft.com/office/drawing/2014/main" id="{67D941CA-9A39-DA14-0778-30830FBEA635}"/>
              </a:ext>
            </a:extLst>
          </p:cNvPr>
          <p:cNvSpPr/>
          <p:nvPr/>
        </p:nvSpPr>
        <p:spPr>
          <a:xfrm>
            <a:off x="7288070" y="3428999"/>
            <a:ext cx="228600" cy="228600"/>
          </a:xfrm>
          <a:prstGeom prst="ellipse">
            <a:avLst/>
          </a:prstGeom>
          <a:solidFill>
            <a:schemeClr val="accent6">
              <a:lumMod val="40000"/>
              <a:lumOff val="60000"/>
            </a:schemeClr>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onstantia"/>
              <a:ea typeface="+mn-ea"/>
              <a:cs typeface="+mn-cs"/>
            </a:endParaRPr>
          </a:p>
        </p:txBody>
      </p:sp>
      <p:sp>
        <p:nvSpPr>
          <p:cNvPr id="9" name="Oval 8">
            <a:extLst>
              <a:ext uri="{FF2B5EF4-FFF2-40B4-BE49-F238E27FC236}">
                <a16:creationId xmlns:a16="http://schemas.microsoft.com/office/drawing/2014/main" id="{6D1F66D6-231F-ABA1-6888-4E7595F01728}"/>
              </a:ext>
            </a:extLst>
          </p:cNvPr>
          <p:cNvSpPr/>
          <p:nvPr/>
        </p:nvSpPr>
        <p:spPr>
          <a:xfrm>
            <a:off x="6983270" y="3886199"/>
            <a:ext cx="228600" cy="228600"/>
          </a:xfrm>
          <a:prstGeom prst="ellipse">
            <a:avLst/>
          </a:prstGeom>
          <a:solidFill>
            <a:schemeClr val="accent6">
              <a:lumMod val="40000"/>
              <a:lumOff val="60000"/>
            </a:schemeClr>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onstantia"/>
              <a:ea typeface="+mn-ea"/>
              <a:cs typeface="+mn-cs"/>
            </a:endParaRPr>
          </a:p>
        </p:txBody>
      </p:sp>
      <p:sp>
        <p:nvSpPr>
          <p:cNvPr id="10" name="Oval 9">
            <a:extLst>
              <a:ext uri="{FF2B5EF4-FFF2-40B4-BE49-F238E27FC236}">
                <a16:creationId xmlns:a16="http://schemas.microsoft.com/office/drawing/2014/main" id="{2AF36516-BCDA-0AEA-AB96-5C3902334575}"/>
              </a:ext>
            </a:extLst>
          </p:cNvPr>
          <p:cNvSpPr/>
          <p:nvPr/>
        </p:nvSpPr>
        <p:spPr>
          <a:xfrm>
            <a:off x="7592870" y="3886199"/>
            <a:ext cx="228600" cy="228600"/>
          </a:xfrm>
          <a:prstGeom prst="ellipse">
            <a:avLst/>
          </a:prstGeom>
          <a:solidFill>
            <a:schemeClr val="accent6">
              <a:lumMod val="40000"/>
              <a:lumOff val="60000"/>
            </a:schemeClr>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onstantia"/>
              <a:ea typeface="+mn-ea"/>
              <a:cs typeface="+mn-cs"/>
            </a:endParaRPr>
          </a:p>
        </p:txBody>
      </p:sp>
      <p:cxnSp>
        <p:nvCxnSpPr>
          <p:cNvPr id="11" name="Straight Connector 10">
            <a:extLst>
              <a:ext uri="{FF2B5EF4-FFF2-40B4-BE49-F238E27FC236}">
                <a16:creationId xmlns:a16="http://schemas.microsoft.com/office/drawing/2014/main" id="{D05C0EC6-5F9E-25F8-3BBB-EB6F76774B34}"/>
              </a:ext>
            </a:extLst>
          </p:cNvPr>
          <p:cNvCxnSpPr>
            <a:stCxn id="9" idx="6"/>
            <a:endCxn id="10" idx="2"/>
          </p:cNvCxnSpPr>
          <p:nvPr/>
        </p:nvCxnSpPr>
        <p:spPr>
          <a:xfrm>
            <a:off x="7211870" y="4000499"/>
            <a:ext cx="381000" cy="1588"/>
          </a:xfrm>
          <a:prstGeom prst="line">
            <a:avLst/>
          </a:prstGeom>
          <a:noFill/>
          <a:ln w="19050" cap="flat" cmpd="sng" algn="ctr">
            <a:solidFill>
              <a:srgbClr val="0F6FC6">
                <a:shade val="50000"/>
                <a:satMod val="103000"/>
              </a:srgbClr>
            </a:solidFill>
            <a:prstDash val="solid"/>
          </a:ln>
          <a:effectLst/>
        </p:spPr>
      </p:cxnSp>
      <p:cxnSp>
        <p:nvCxnSpPr>
          <p:cNvPr id="12" name="Straight Connector 11">
            <a:extLst>
              <a:ext uri="{FF2B5EF4-FFF2-40B4-BE49-F238E27FC236}">
                <a16:creationId xmlns:a16="http://schemas.microsoft.com/office/drawing/2014/main" id="{1E1CB04F-048C-C664-A674-02FD1AD2EDA3}"/>
              </a:ext>
            </a:extLst>
          </p:cNvPr>
          <p:cNvCxnSpPr>
            <a:stCxn id="9" idx="0"/>
            <a:endCxn id="7" idx="3"/>
          </p:cNvCxnSpPr>
          <p:nvPr/>
        </p:nvCxnSpPr>
        <p:spPr>
          <a:xfrm rot="5400000" flipH="1" flipV="1">
            <a:off x="7078520" y="3643312"/>
            <a:ext cx="261937" cy="223838"/>
          </a:xfrm>
          <a:prstGeom prst="line">
            <a:avLst/>
          </a:prstGeom>
          <a:noFill/>
          <a:ln w="19050" cap="flat" cmpd="sng" algn="ctr">
            <a:solidFill>
              <a:srgbClr val="0F6FC6">
                <a:shade val="50000"/>
                <a:satMod val="103000"/>
              </a:srgbClr>
            </a:solidFill>
            <a:prstDash val="solid"/>
          </a:ln>
          <a:effectLst/>
        </p:spPr>
      </p:cxnSp>
      <p:cxnSp>
        <p:nvCxnSpPr>
          <p:cNvPr id="13" name="Straight Connector 12">
            <a:extLst>
              <a:ext uri="{FF2B5EF4-FFF2-40B4-BE49-F238E27FC236}">
                <a16:creationId xmlns:a16="http://schemas.microsoft.com/office/drawing/2014/main" id="{EA2B4C9C-09F9-783A-74EB-106B7062BF5B}"/>
              </a:ext>
            </a:extLst>
          </p:cNvPr>
          <p:cNvCxnSpPr>
            <a:stCxn id="7" idx="5"/>
            <a:endCxn id="10" idx="0"/>
          </p:cNvCxnSpPr>
          <p:nvPr/>
        </p:nvCxnSpPr>
        <p:spPr>
          <a:xfrm rot="16200000" flipH="1">
            <a:off x="7464283" y="3643312"/>
            <a:ext cx="261937" cy="223837"/>
          </a:xfrm>
          <a:prstGeom prst="line">
            <a:avLst/>
          </a:prstGeom>
          <a:noFill/>
          <a:ln w="19050" cap="flat" cmpd="sng" algn="ctr">
            <a:solidFill>
              <a:srgbClr val="0F6FC6">
                <a:shade val="50000"/>
                <a:satMod val="103000"/>
              </a:srgbClr>
            </a:solidFill>
            <a:prstDash val="solid"/>
          </a:ln>
          <a:effectLst/>
        </p:spPr>
      </p:cxnSp>
    </p:spTree>
    <p:extLst>
      <p:ext uri="{BB962C8B-B14F-4D97-AF65-F5344CB8AC3E}">
        <p14:creationId xmlns:p14="http://schemas.microsoft.com/office/powerpoint/2010/main" val="245566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0EFABC7B-1A56-5A28-04D5-51E1816E5A20}"/>
              </a:ext>
            </a:extLst>
          </p:cNvPr>
          <p:cNvSpPr txBox="1">
            <a:spLocks/>
          </p:cNvSpPr>
          <p:nvPr/>
        </p:nvSpPr>
        <p:spPr bwMode="auto">
          <a:xfrm>
            <a:off x="336705" y="206375"/>
            <a:ext cx="11355186"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Evolving Graph Streams</a:t>
            </a:r>
          </a:p>
        </p:txBody>
      </p:sp>
      <p:sp>
        <p:nvSpPr>
          <p:cNvPr id="2" name="Rectangle 1">
            <a:extLst>
              <a:ext uri="{FF2B5EF4-FFF2-40B4-BE49-F238E27FC236}">
                <a16:creationId xmlns:a16="http://schemas.microsoft.com/office/drawing/2014/main" id="{61A7EDC6-8F30-9B14-6543-0F39A3707D7A}"/>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069EB914-A18D-0014-AD69-56E5C3216DFD}"/>
              </a:ext>
            </a:extLst>
          </p:cNvPr>
          <p:cNvSpPr>
            <a:spLocks noGrp="1"/>
          </p:cNvSpPr>
          <p:nvPr>
            <p:ph type="sldNum" sz="quarter" idx="12"/>
          </p:nvPr>
        </p:nvSpPr>
        <p:spPr/>
        <p:txBody>
          <a:bodyPr/>
          <a:lstStyle/>
          <a:p>
            <a:fld id="{88C18B20-99F9-4866-84D4-802F7B8C14EF}" type="slidenum">
              <a:rPr lang="zh-CN" altLang="en-US" smtClean="0"/>
              <a:t>4</a:t>
            </a:fld>
            <a:endParaRPr lang="zh-CN" altLang="en-US" dirty="0"/>
          </a:p>
        </p:txBody>
      </p:sp>
      <p:sp>
        <p:nvSpPr>
          <p:cNvPr id="9" name="内容占位符 4">
            <a:extLst>
              <a:ext uri="{FF2B5EF4-FFF2-40B4-BE49-F238E27FC236}">
                <a16:creationId xmlns:a16="http://schemas.microsoft.com/office/drawing/2014/main" id="{8A391279-4C8A-6735-EA83-3049848ABC18}"/>
              </a:ext>
            </a:extLst>
          </p:cNvPr>
          <p:cNvSpPr>
            <a:spLocks noGrp="1"/>
          </p:cNvSpPr>
          <p:nvPr>
            <p:ph idx="1"/>
          </p:nvPr>
        </p:nvSpPr>
        <p:spPr>
          <a:xfrm>
            <a:off x="827087" y="1036321"/>
            <a:ext cx="10618679" cy="1770380"/>
          </a:xfrm>
        </p:spPr>
        <p:txBody>
          <a:bodyPr>
            <a:noAutofit/>
          </a:bodyPr>
          <a:lstStyle/>
          <a:p>
            <a:pPr marL="0" indent="0">
              <a:buNone/>
            </a:pPr>
            <a:r>
              <a:rPr lang="en-US" altLang="zh-CN" sz="2000" b="1" dirty="0">
                <a:latin typeface="Calibri" panose="020F0502020204030204" pitchFamily="34" charset="0"/>
                <a:cs typeface="Calibri" panose="020F0502020204030204" pitchFamily="34" charset="0"/>
              </a:rPr>
              <a:t>They consist of a sequence of edges continuously generated from the real world</a:t>
            </a:r>
          </a:p>
          <a:p>
            <a:pPr>
              <a:buFont typeface="Courier New" panose="02070309020205020404" pitchFamily="49" charset="0"/>
              <a:buChar char="o"/>
            </a:pPr>
            <a:r>
              <a:rPr lang="en-US" altLang="zh-CN" sz="2000" dirty="0">
                <a:latin typeface="Calibri" panose="020F0502020204030204" pitchFamily="34" charset="0"/>
                <a:ea typeface="黑体" panose="02010609060101010101" pitchFamily="49" charset="-122"/>
                <a:cs typeface="Calibri" panose="020F0502020204030204" pitchFamily="34" charset="0"/>
              </a:rPr>
              <a:t>Exhibit full dynamism with edge insertions &amp; deletions, topological structural changes.</a:t>
            </a:r>
          </a:p>
          <a:p>
            <a:pPr>
              <a:buFont typeface="Courier New" panose="02070309020205020404" pitchFamily="49" charset="0"/>
              <a:buChar char="o"/>
            </a:pPr>
            <a:r>
              <a:rPr lang="en-US" altLang="zh-CN" sz="2000" dirty="0">
                <a:latin typeface="Calibri" panose="020F0502020204030204" pitchFamily="34" charset="0"/>
                <a:ea typeface="黑体" panose="02010609060101010101" pitchFamily="49" charset="-122"/>
                <a:cs typeface="Calibri" panose="020F0502020204030204" pitchFamily="34" charset="0"/>
              </a:rPr>
              <a:t>Vast in scale, continuously expanding, and evolving dynamically without any prior predefined order.</a:t>
            </a:r>
          </a:p>
          <a:p>
            <a:pPr>
              <a:buFont typeface="Courier New" panose="02070309020205020404" pitchFamily="49" charset="0"/>
              <a:buChar char="o"/>
            </a:pPr>
            <a:r>
              <a:rPr lang="en-US" altLang="zh-CN" sz="2000" dirty="0">
                <a:latin typeface="Calibri" panose="020F0502020204030204" pitchFamily="34" charset="0"/>
                <a:ea typeface="黑体" panose="02010609060101010101" pitchFamily="49" charset="-122"/>
                <a:cs typeface="Calibri" panose="020F0502020204030204" pitchFamily="34" charset="0"/>
              </a:rPr>
              <a:t>Time sensitivity is paramount, necessitating real-time feedback for processing outcomes.</a:t>
            </a:r>
            <a:endParaRPr lang="zh-CN" altLang="en-US" sz="2000" dirty="0">
              <a:latin typeface="Calibri" panose="020F0502020204030204" pitchFamily="34" charset="0"/>
              <a:cs typeface="Calibri" panose="020F0502020204030204" pitchFamily="34" charset="0"/>
            </a:endParaRPr>
          </a:p>
        </p:txBody>
      </p:sp>
      <p:sp>
        <p:nvSpPr>
          <p:cNvPr id="10" name="灯片编号占位符 1">
            <a:extLst>
              <a:ext uri="{FF2B5EF4-FFF2-40B4-BE49-F238E27FC236}">
                <a16:creationId xmlns:a16="http://schemas.microsoft.com/office/drawing/2014/main" id="{13107D14-8EF7-3337-90A9-20EADC508F95}"/>
              </a:ext>
            </a:extLst>
          </p:cNvPr>
          <p:cNvSpPr txBox="1">
            <a:spLocks/>
          </p:cNvSpPr>
          <p:nvPr/>
        </p:nvSpPr>
        <p:spPr>
          <a:xfrm>
            <a:off x="6931025" y="6633371"/>
            <a:ext cx="2133600" cy="26193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ctr" defTabSz="457200" rtl="0" eaLnBrk="1" latinLnBrk="0" hangingPunct="1">
              <a:defRPr sz="1200" b="1" kern="1200">
                <a:solidFill>
                  <a:schemeClr val="tx1"/>
                </a:solidFill>
                <a:latin typeface="Calibri" panose="020F0502020204030204" pitchFamily="34" charset="0"/>
                <a:ea typeface="宋体" panose="02010600030101010101" pitchFamily="2" charset="-122"/>
                <a:cs typeface="+mn-cs"/>
                <a:sym typeface="Symbol" panose="05050102010706020507" pitchFamily="18" charset="2"/>
              </a:defRPr>
            </a:lvl1pPr>
            <a:lvl2pPr marL="742950" indent="-285750" algn="l" defTabSz="457200" rtl="0" eaLnBrk="1" latinLnBrk="0" hangingPunct="1">
              <a:defRPr sz="1800" b="1" kern="1200">
                <a:solidFill>
                  <a:schemeClr val="tx1"/>
                </a:solidFill>
                <a:latin typeface="Calibri" panose="020F0502020204030204" pitchFamily="34" charset="0"/>
                <a:ea typeface="宋体" panose="02010600030101010101" pitchFamily="2" charset="-122"/>
                <a:cs typeface="+mn-cs"/>
                <a:sym typeface="Symbol" panose="05050102010706020507" pitchFamily="18" charset="2"/>
              </a:defRPr>
            </a:lvl2pPr>
            <a:lvl3pPr marL="1143000" indent="-228600" algn="l" defTabSz="457200" rtl="0" eaLnBrk="1" latinLnBrk="0" hangingPunct="1">
              <a:defRPr sz="1800" b="1" kern="1200">
                <a:solidFill>
                  <a:schemeClr val="tx1"/>
                </a:solidFill>
                <a:latin typeface="Calibri" panose="020F0502020204030204" pitchFamily="34" charset="0"/>
                <a:ea typeface="宋体" panose="02010600030101010101" pitchFamily="2" charset="-122"/>
                <a:cs typeface="+mn-cs"/>
                <a:sym typeface="Symbol" panose="05050102010706020507" pitchFamily="18" charset="2"/>
              </a:defRPr>
            </a:lvl3pPr>
            <a:lvl4pPr marL="1600200" indent="-228600" algn="l" defTabSz="457200" rtl="0" eaLnBrk="1" latinLnBrk="0" hangingPunct="1">
              <a:defRPr sz="1800" b="1" kern="1200">
                <a:solidFill>
                  <a:schemeClr val="tx1"/>
                </a:solidFill>
                <a:latin typeface="Calibri" panose="020F0502020204030204" pitchFamily="34" charset="0"/>
                <a:ea typeface="宋体" panose="02010600030101010101" pitchFamily="2" charset="-122"/>
                <a:cs typeface="+mn-cs"/>
                <a:sym typeface="Symbol" panose="05050102010706020507" pitchFamily="18" charset="2"/>
              </a:defRPr>
            </a:lvl4pPr>
            <a:lvl5pPr marL="2057400" indent="-228600" algn="l" defTabSz="457200" rtl="0" eaLnBrk="1" latinLnBrk="0" hangingPunct="1">
              <a:defRPr sz="1800" b="1" kern="1200">
                <a:solidFill>
                  <a:schemeClr val="tx1"/>
                </a:solidFill>
                <a:latin typeface="Calibri" panose="020F0502020204030204" pitchFamily="34" charset="0"/>
                <a:ea typeface="宋体" panose="02010600030101010101" pitchFamily="2" charset="-122"/>
                <a:cs typeface="+mn-cs"/>
                <a:sym typeface="Symbol" panose="05050102010706020507" pitchFamily="18" charset="2"/>
              </a:defRPr>
            </a:lvl5pPr>
            <a:lvl6pPr marL="2514600" indent="-228600" algn="l" defTabSz="457200" rtl="0" eaLnBrk="0" fontAlgn="base" latinLnBrk="0" hangingPunct="0">
              <a:spcBef>
                <a:spcPct val="0"/>
              </a:spcBef>
              <a:spcAft>
                <a:spcPct val="0"/>
              </a:spcAft>
              <a:defRPr sz="1800" b="1" kern="1200">
                <a:solidFill>
                  <a:schemeClr val="tx1"/>
                </a:solidFill>
                <a:latin typeface="Calibri" panose="020F0502020204030204" pitchFamily="34" charset="0"/>
                <a:ea typeface="宋体" panose="02010600030101010101" pitchFamily="2" charset="-122"/>
                <a:cs typeface="+mn-cs"/>
                <a:sym typeface="Symbol" panose="05050102010706020507" pitchFamily="18" charset="2"/>
              </a:defRPr>
            </a:lvl6pPr>
            <a:lvl7pPr marL="2971800" indent="-228600" algn="l" defTabSz="457200" rtl="0" eaLnBrk="0" fontAlgn="base" latinLnBrk="0" hangingPunct="0">
              <a:spcBef>
                <a:spcPct val="0"/>
              </a:spcBef>
              <a:spcAft>
                <a:spcPct val="0"/>
              </a:spcAft>
              <a:defRPr sz="1800" b="1" kern="1200">
                <a:solidFill>
                  <a:schemeClr val="tx1"/>
                </a:solidFill>
                <a:latin typeface="Calibri" panose="020F0502020204030204" pitchFamily="34" charset="0"/>
                <a:ea typeface="宋体" panose="02010600030101010101" pitchFamily="2" charset="-122"/>
                <a:cs typeface="+mn-cs"/>
                <a:sym typeface="Symbol" panose="05050102010706020507" pitchFamily="18" charset="2"/>
              </a:defRPr>
            </a:lvl7pPr>
            <a:lvl8pPr marL="3429000" indent="-228600" algn="l" defTabSz="457200" rtl="0" eaLnBrk="0" fontAlgn="base" latinLnBrk="0" hangingPunct="0">
              <a:spcBef>
                <a:spcPct val="0"/>
              </a:spcBef>
              <a:spcAft>
                <a:spcPct val="0"/>
              </a:spcAft>
              <a:defRPr sz="1800" b="1" kern="1200">
                <a:solidFill>
                  <a:schemeClr val="tx1"/>
                </a:solidFill>
                <a:latin typeface="Calibri" panose="020F0502020204030204" pitchFamily="34" charset="0"/>
                <a:ea typeface="宋体" panose="02010600030101010101" pitchFamily="2" charset="-122"/>
                <a:cs typeface="+mn-cs"/>
                <a:sym typeface="Symbol" panose="05050102010706020507" pitchFamily="18" charset="2"/>
              </a:defRPr>
            </a:lvl8pPr>
            <a:lvl9pPr marL="3886200" indent="-228600" algn="l" defTabSz="457200" rtl="0" eaLnBrk="0" fontAlgn="base" latinLnBrk="0" hangingPunct="0">
              <a:spcBef>
                <a:spcPct val="0"/>
              </a:spcBef>
              <a:spcAft>
                <a:spcPct val="0"/>
              </a:spcAft>
              <a:defRPr sz="1800" b="1" kern="1200">
                <a:solidFill>
                  <a:schemeClr val="tx1"/>
                </a:solidFill>
                <a:latin typeface="Calibri" panose="020F0502020204030204" pitchFamily="34" charset="0"/>
                <a:ea typeface="宋体" panose="02010600030101010101" pitchFamily="2" charset="-122"/>
                <a:cs typeface="+mn-cs"/>
                <a:sym typeface="Symbol" panose="05050102010706020507" pitchFamily="18" charset="2"/>
              </a:defRPr>
            </a:lvl9pPr>
          </a:lstStyle>
          <a:p>
            <a:pPr algn="r" defTabSz="914400" fontAlgn="base">
              <a:spcBef>
                <a:spcPct val="0"/>
              </a:spcBef>
              <a:spcAft>
                <a:spcPct val="0"/>
              </a:spcAft>
              <a:defRPr/>
            </a:pPr>
            <a:fld id="{A17744AF-E1C3-4F7E-A881-C49F90670361}" type="slidenum">
              <a:rPr lang="en-US" altLang="zh-CN" b="0" smtClean="0">
                <a:solidFill>
                  <a:srgbClr val="46C8AF"/>
                </a:solidFill>
                <a:latin typeface="Arial Black" panose="020B0A04020102020204" pitchFamily="34" charset="0"/>
              </a:rPr>
              <a:pPr algn="r" defTabSz="914400" fontAlgn="base">
                <a:spcBef>
                  <a:spcPct val="0"/>
                </a:spcBef>
                <a:spcAft>
                  <a:spcPct val="0"/>
                </a:spcAft>
                <a:defRPr/>
              </a:pPr>
              <a:t>4</a:t>
            </a:fld>
            <a:endParaRPr lang="en-US" altLang="zh-CN" b="0">
              <a:solidFill>
                <a:srgbClr val="46C8AF"/>
              </a:solidFill>
              <a:latin typeface="Arial Black" panose="020B0A04020102020204" pitchFamily="34" charset="0"/>
            </a:endParaRPr>
          </a:p>
        </p:txBody>
      </p:sp>
      <p:pic>
        <p:nvPicPr>
          <p:cNvPr id="11" name="Picture 4" descr="Image result for web">
            <a:extLst>
              <a:ext uri="{FF2B5EF4-FFF2-40B4-BE49-F238E27FC236}">
                <a16:creationId xmlns:a16="http://schemas.microsoft.com/office/drawing/2014/main" id="{49A9A2FC-FC04-B659-069E-E37A43D90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75" y="2965880"/>
            <a:ext cx="1836737"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descr="Image result for computer cartoon">
            <a:extLst>
              <a:ext uri="{FF2B5EF4-FFF2-40B4-BE49-F238E27FC236}">
                <a16:creationId xmlns:a16="http://schemas.microsoft.com/office/drawing/2014/main" id="{7EA9DD1F-A8C5-AFF7-5BEF-7C25882F4E8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92278" y="2906387"/>
            <a:ext cx="1300163"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
            <a:extLst>
              <a:ext uri="{FF2B5EF4-FFF2-40B4-BE49-F238E27FC236}">
                <a16:creationId xmlns:a16="http://schemas.microsoft.com/office/drawing/2014/main" id="{A02AC05A-6497-BFA0-821A-8302AE7630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3687" y="4697413"/>
            <a:ext cx="644842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0">
            <a:extLst>
              <a:ext uri="{FF2B5EF4-FFF2-40B4-BE49-F238E27FC236}">
                <a16:creationId xmlns:a16="http://schemas.microsoft.com/office/drawing/2014/main" id="{C83B25DA-F31F-6332-C630-0ED453F486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0450" y="2897618"/>
            <a:ext cx="450850" cy="125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1">
            <a:extLst>
              <a:ext uri="{FF2B5EF4-FFF2-40B4-BE49-F238E27FC236}">
                <a16:creationId xmlns:a16="http://schemas.microsoft.com/office/drawing/2014/main" id="{614D0436-8EF7-D792-075F-AADCA94C19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2887" y="2905555"/>
            <a:ext cx="4699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12">
            <a:extLst>
              <a:ext uri="{FF2B5EF4-FFF2-40B4-BE49-F238E27FC236}">
                <a16:creationId xmlns:a16="http://schemas.microsoft.com/office/drawing/2014/main" id="{1D328BC7-7912-D1FE-08C5-79662E0518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8950" y="2888093"/>
            <a:ext cx="45085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13">
            <a:extLst>
              <a:ext uri="{FF2B5EF4-FFF2-40B4-BE49-F238E27FC236}">
                <a16:creationId xmlns:a16="http://schemas.microsoft.com/office/drawing/2014/main" id="{54F0EC8E-8594-02B1-36DF-1935D9376EA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5787" y="2918255"/>
            <a:ext cx="466725"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14">
            <a:extLst>
              <a:ext uri="{FF2B5EF4-FFF2-40B4-BE49-F238E27FC236}">
                <a16:creationId xmlns:a16="http://schemas.microsoft.com/office/drawing/2014/main" id="{2C2FC3F5-7F15-E877-56EB-6656A114DFE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16150" y="2888093"/>
            <a:ext cx="450850"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15">
            <a:extLst>
              <a:ext uri="{FF2B5EF4-FFF2-40B4-BE49-F238E27FC236}">
                <a16:creationId xmlns:a16="http://schemas.microsoft.com/office/drawing/2014/main" id="{D8872D03-8BEA-1CAC-DEE2-BCD4B7CC7CA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5412" y="2900793"/>
            <a:ext cx="45720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矩形 1">
            <a:extLst>
              <a:ext uri="{FF2B5EF4-FFF2-40B4-BE49-F238E27FC236}">
                <a16:creationId xmlns:a16="http://schemas.microsoft.com/office/drawing/2014/main" id="{8CC714E9-C720-CD7C-41C5-0EB88B47B00B}"/>
              </a:ext>
            </a:extLst>
          </p:cNvPr>
          <p:cNvSpPr/>
          <p:nvPr/>
        </p:nvSpPr>
        <p:spPr>
          <a:xfrm>
            <a:off x="4051300" y="4392612"/>
            <a:ext cx="4179542" cy="400110"/>
          </a:xfrm>
          <a:prstGeom prst="rect">
            <a:avLst/>
          </a:prstGeom>
        </p:spPr>
        <p:txBody>
          <a:bodyPr wrap="none">
            <a:spAutoFit/>
          </a:bodyPr>
          <a:lstStyle/>
          <a:p>
            <a:pPr lvl="0">
              <a:spcBef>
                <a:spcPct val="30000"/>
              </a:spcBef>
              <a:defRPr/>
            </a:pPr>
            <a:r>
              <a:rPr lang="zh-CN" altLang="en-US" sz="2000" b="0" dirty="0">
                <a:latin typeface="Calibri" panose="020F0502020204030204" pitchFamily="34" charset="0"/>
                <a:ea typeface="黑体" panose="02010609060101010101" pitchFamily="49" charset="-122"/>
                <a:cs typeface="Calibri" panose="020F0502020204030204" pitchFamily="34" charset="0"/>
                <a:sym typeface="Wingdings 2" panose="05020102010507070707" pitchFamily="18" charset="2"/>
              </a:rPr>
              <a:t></a:t>
            </a:r>
            <a:r>
              <a:rPr lang="en-US" altLang="zh-CN" sz="2000" b="0" dirty="0">
                <a:latin typeface="Calibri" panose="020F0502020204030204" pitchFamily="34" charset="0"/>
                <a:ea typeface="黑体" panose="02010609060101010101" pitchFamily="49" charset="-122"/>
                <a:cs typeface="Calibri" panose="020F0502020204030204" pitchFamily="34" charset="0"/>
              </a:rPr>
              <a:t>Edge sequence of a streaming graph</a:t>
            </a:r>
          </a:p>
        </p:txBody>
      </p:sp>
      <p:sp>
        <p:nvSpPr>
          <p:cNvPr id="21" name="矩形 2">
            <a:extLst>
              <a:ext uri="{FF2B5EF4-FFF2-40B4-BE49-F238E27FC236}">
                <a16:creationId xmlns:a16="http://schemas.microsoft.com/office/drawing/2014/main" id="{4055E98B-76B5-EBAA-A916-508D5E6B6A41}"/>
              </a:ext>
            </a:extLst>
          </p:cNvPr>
          <p:cNvSpPr/>
          <p:nvPr/>
        </p:nvSpPr>
        <p:spPr>
          <a:xfrm>
            <a:off x="3667596" y="6364229"/>
            <a:ext cx="4693401" cy="400110"/>
          </a:xfrm>
          <a:prstGeom prst="rect">
            <a:avLst/>
          </a:prstGeom>
        </p:spPr>
        <p:txBody>
          <a:bodyPr wrap="none">
            <a:spAutoFit/>
          </a:bodyPr>
          <a:lstStyle/>
          <a:p>
            <a:pPr lvl="0">
              <a:spcBef>
                <a:spcPct val="30000"/>
              </a:spcBef>
              <a:defRPr/>
            </a:pPr>
            <a:r>
              <a:rPr lang="zh-CN" altLang="en-US" sz="2000" b="0" dirty="0">
                <a:latin typeface="Calibri" panose="020F0502020204030204" pitchFamily="34" charset="0"/>
                <a:ea typeface="黑体" panose="02010609060101010101" pitchFamily="49" charset="-122"/>
                <a:cs typeface="Calibri" panose="020F0502020204030204" pitchFamily="34" charset="0"/>
                <a:sym typeface="Wingdings 2" panose="05020102010507070707" pitchFamily="18" charset="2"/>
              </a:rPr>
              <a:t></a:t>
            </a:r>
            <a:r>
              <a:rPr lang="en-US" altLang="zh-CN" sz="2000" b="0" dirty="0">
                <a:latin typeface="Calibri" panose="020F0502020204030204" pitchFamily="34" charset="0"/>
                <a:ea typeface="黑体" panose="02010609060101010101" pitchFamily="49" charset="-122"/>
                <a:cs typeface="Calibri" panose="020F0502020204030204" pitchFamily="34" charset="0"/>
                <a:sym typeface="Wingdings 2" panose="05020102010507070707" pitchFamily="18" charset="2"/>
              </a:rPr>
              <a:t>Evolution of graph's topological structure</a:t>
            </a:r>
            <a:endParaRPr lang="en-US" altLang="zh-CN" sz="2000" b="0" dirty="0">
              <a:latin typeface="Calibri" panose="020F0502020204030204" pitchFamily="34" charset="0"/>
              <a:ea typeface="黑体" panose="02010609060101010101" pitchFamily="49" charset="-122"/>
              <a:cs typeface="Calibri" panose="020F0502020204030204" pitchFamily="34" charset="0"/>
            </a:endParaRPr>
          </a:p>
        </p:txBody>
      </p:sp>
    </p:spTree>
    <p:extLst>
      <p:ext uri="{BB962C8B-B14F-4D97-AF65-F5344CB8AC3E}">
        <p14:creationId xmlns:p14="http://schemas.microsoft.com/office/powerpoint/2010/main" val="265998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2.77778E-7 0 L 0.35799 -0.00509 " pathEditMode="relative" rAng="0" ptsTypes="AA">
                                      <p:cBhvr>
                                        <p:cTn id="6" dur="3000" fill="hold"/>
                                        <p:tgtEl>
                                          <p:spTgt spid="15"/>
                                        </p:tgtEl>
                                        <p:attrNameLst>
                                          <p:attrName>ppt_x</p:attrName>
                                          <p:attrName>ppt_y</p:attrName>
                                        </p:attrNameLst>
                                      </p:cBhvr>
                                      <p:rCtr x="17899" y="-255"/>
                                    </p:animMotion>
                                  </p:childTnLst>
                                </p:cTn>
                              </p:par>
                              <p:par>
                                <p:cTn id="7" presetID="63" presetClass="path" presetSubtype="0" accel="50000" decel="50000" fill="hold" nodeType="withEffect">
                                  <p:stCondLst>
                                    <p:cond delay="250"/>
                                  </p:stCondLst>
                                  <p:childTnLst>
                                    <p:animMotion origin="layout" path="M 1.11111E-6 4.44444E-6 L 0.3533 -0.0044 " pathEditMode="relative" rAng="0" ptsTypes="AA">
                                      <p:cBhvr>
                                        <p:cTn id="8" dur="3000" fill="hold"/>
                                        <p:tgtEl>
                                          <p:spTgt spid="14"/>
                                        </p:tgtEl>
                                        <p:attrNameLst>
                                          <p:attrName>ppt_x</p:attrName>
                                          <p:attrName>ppt_y</p:attrName>
                                        </p:attrNameLst>
                                      </p:cBhvr>
                                      <p:rCtr x="17656" y="-231"/>
                                    </p:animMotion>
                                  </p:childTnLst>
                                </p:cTn>
                              </p:par>
                              <p:par>
                                <p:cTn id="9" presetID="63" presetClass="path" presetSubtype="0" accel="50000" decel="50000" fill="hold" nodeType="withEffect">
                                  <p:stCondLst>
                                    <p:cond delay="500"/>
                                  </p:stCondLst>
                                  <p:childTnLst>
                                    <p:animMotion origin="layout" path="M 2.77778E-6 4.07407E-6 L 0.3493 -0.00602 " pathEditMode="relative" rAng="0" ptsTypes="AA">
                                      <p:cBhvr>
                                        <p:cTn id="10" dur="3000" fill="hold"/>
                                        <p:tgtEl>
                                          <p:spTgt spid="17"/>
                                        </p:tgtEl>
                                        <p:attrNameLst>
                                          <p:attrName>ppt_x</p:attrName>
                                          <p:attrName>ppt_y</p:attrName>
                                        </p:attrNameLst>
                                      </p:cBhvr>
                                      <p:rCtr x="17465" y="-301"/>
                                    </p:animMotion>
                                  </p:childTnLst>
                                </p:cTn>
                              </p:par>
                              <p:par>
                                <p:cTn id="11" presetID="63" presetClass="path" presetSubtype="0" accel="50000" decel="50000" fill="hold" nodeType="withEffect">
                                  <p:stCondLst>
                                    <p:cond delay="750"/>
                                  </p:stCondLst>
                                  <p:childTnLst>
                                    <p:animMotion origin="layout" path="M 8.33333E-7 3.7037E-7 L 0.35 -0.00347 " pathEditMode="relative" rAng="0" ptsTypes="AA">
                                      <p:cBhvr>
                                        <p:cTn id="12" dur="3000" fill="hold"/>
                                        <p:tgtEl>
                                          <p:spTgt spid="19"/>
                                        </p:tgtEl>
                                        <p:attrNameLst>
                                          <p:attrName>ppt_x</p:attrName>
                                          <p:attrName>ppt_y</p:attrName>
                                        </p:attrNameLst>
                                      </p:cBhvr>
                                      <p:rCtr x="17500" y="-185"/>
                                    </p:animMotion>
                                  </p:childTnLst>
                                </p:cTn>
                              </p:par>
                              <p:par>
                                <p:cTn id="13" presetID="63" presetClass="path" presetSubtype="0" accel="50000" decel="50000" fill="hold" nodeType="withEffect">
                                  <p:stCondLst>
                                    <p:cond delay="1000"/>
                                  </p:stCondLst>
                                  <p:childTnLst>
                                    <p:animMotion origin="layout" path="M 0 2.96296E-6 L 0.34809 -0.00463 " pathEditMode="relative" rAng="0" ptsTypes="AA">
                                      <p:cBhvr>
                                        <p:cTn id="14" dur="3000" fill="hold"/>
                                        <p:tgtEl>
                                          <p:spTgt spid="18"/>
                                        </p:tgtEl>
                                        <p:attrNameLst>
                                          <p:attrName>ppt_x</p:attrName>
                                          <p:attrName>ppt_y</p:attrName>
                                        </p:attrNameLst>
                                      </p:cBhvr>
                                      <p:rCtr x="17396" y="-231"/>
                                    </p:animMotion>
                                  </p:childTnLst>
                                </p:cTn>
                              </p:par>
                              <p:par>
                                <p:cTn id="15" presetID="63" presetClass="path" presetSubtype="0" accel="50000" decel="50000" fill="hold" nodeType="withEffect">
                                  <p:stCondLst>
                                    <p:cond delay="1250"/>
                                  </p:stCondLst>
                                  <p:childTnLst>
                                    <p:animMotion origin="layout" path="M 2.77556E-17 -1.11111E-6 L 0.34219 -0.0037 " pathEditMode="relative" rAng="0" ptsTypes="AA">
                                      <p:cBhvr>
                                        <p:cTn id="16" dur="3000" fill="hold"/>
                                        <p:tgtEl>
                                          <p:spTgt spid="16"/>
                                        </p:tgtEl>
                                        <p:attrNameLst>
                                          <p:attrName>ppt_x</p:attrName>
                                          <p:attrName>ppt_y</p:attrName>
                                        </p:attrNameLst>
                                      </p:cBhvr>
                                      <p:rCtr x="17101"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C751F5A-589A-44B0-B22A-A658AF5E923B}"/>
              </a:ext>
            </a:extLst>
          </p:cNvPr>
          <p:cNvSpPr/>
          <p:nvPr/>
        </p:nvSpPr>
        <p:spPr>
          <a:xfrm>
            <a:off x="1156333" y="3362438"/>
            <a:ext cx="2636046" cy="369332"/>
          </a:xfrm>
          <a:prstGeom prst="rect">
            <a:avLst/>
          </a:prstGeom>
          <a:solidFill>
            <a:schemeClr val="accent6">
              <a:lumMod val="20000"/>
              <a:lumOff val="80000"/>
            </a:schemeClr>
          </a:solidFill>
          <a:ln>
            <a:noFill/>
          </a:ln>
          <a:effectLst>
            <a:glow rad="101600">
              <a:schemeClr val="accent3">
                <a:satMod val="175000"/>
                <a:alpha val="40000"/>
              </a:schemeClr>
            </a:glow>
          </a:effectLst>
        </p:spPr>
        <p:txBody>
          <a:bodyPr wrap="square">
            <a:spAutoFit/>
          </a:bodyPr>
          <a:lstStyle/>
          <a:p>
            <a:pPr algn="ctr"/>
            <a:r>
              <a:rPr lang="en-US" altLang="zh-CN" b="1" dirty="0"/>
              <a:t>Financial Fraud Detection</a:t>
            </a:r>
            <a:endParaRPr lang="zh-CN" altLang="en-US" b="1" dirty="0"/>
          </a:p>
        </p:txBody>
      </p:sp>
      <p:sp>
        <p:nvSpPr>
          <p:cNvPr id="10" name="矩形 9">
            <a:extLst>
              <a:ext uri="{FF2B5EF4-FFF2-40B4-BE49-F238E27FC236}">
                <a16:creationId xmlns:a16="http://schemas.microsoft.com/office/drawing/2014/main" id="{E7EC0167-8ACA-41B0-8F55-CE6F85B56745}"/>
              </a:ext>
            </a:extLst>
          </p:cNvPr>
          <p:cNvSpPr/>
          <p:nvPr/>
        </p:nvSpPr>
        <p:spPr>
          <a:xfrm>
            <a:off x="4881094" y="3363657"/>
            <a:ext cx="2615217" cy="369332"/>
          </a:xfrm>
          <a:prstGeom prst="rect">
            <a:avLst/>
          </a:prstGeom>
          <a:solidFill>
            <a:schemeClr val="accent6">
              <a:lumMod val="20000"/>
              <a:lumOff val="80000"/>
            </a:schemeClr>
          </a:solidFill>
          <a:ln>
            <a:noFill/>
          </a:ln>
          <a:effectLst>
            <a:glow rad="101600">
              <a:schemeClr val="accent3">
                <a:satMod val="175000"/>
                <a:alpha val="40000"/>
              </a:schemeClr>
            </a:glow>
          </a:effectLst>
        </p:spPr>
        <p:txBody>
          <a:bodyPr wrap="square">
            <a:spAutoFit/>
          </a:bodyPr>
          <a:lstStyle/>
          <a:p>
            <a:pPr algn="ctr"/>
            <a:r>
              <a:rPr lang="en-US" altLang="zh-CN" b="1" dirty="0"/>
              <a:t>Community Discovery</a:t>
            </a:r>
            <a:endParaRPr lang="zh-CN" altLang="en-US" b="1" dirty="0"/>
          </a:p>
        </p:txBody>
      </p:sp>
      <p:sp>
        <p:nvSpPr>
          <p:cNvPr id="12" name="矩形 11">
            <a:extLst>
              <a:ext uri="{FF2B5EF4-FFF2-40B4-BE49-F238E27FC236}">
                <a16:creationId xmlns:a16="http://schemas.microsoft.com/office/drawing/2014/main" id="{0A0AED77-4738-43B6-B37E-E09856004AF0}"/>
              </a:ext>
            </a:extLst>
          </p:cNvPr>
          <p:cNvSpPr/>
          <p:nvPr/>
        </p:nvSpPr>
        <p:spPr>
          <a:xfrm>
            <a:off x="8589711" y="3362438"/>
            <a:ext cx="2626678" cy="369332"/>
          </a:xfrm>
          <a:prstGeom prst="rect">
            <a:avLst/>
          </a:prstGeom>
          <a:solidFill>
            <a:schemeClr val="accent6">
              <a:lumMod val="20000"/>
              <a:lumOff val="80000"/>
            </a:schemeClr>
          </a:solidFill>
          <a:ln>
            <a:noFill/>
          </a:ln>
          <a:effectLst>
            <a:glow rad="101600">
              <a:schemeClr val="accent3">
                <a:satMod val="175000"/>
                <a:alpha val="40000"/>
              </a:schemeClr>
            </a:glow>
          </a:effectLst>
        </p:spPr>
        <p:txBody>
          <a:bodyPr wrap="square">
            <a:spAutoFit/>
          </a:bodyPr>
          <a:lstStyle/>
          <a:p>
            <a:pPr algn="ctr"/>
            <a:r>
              <a:rPr lang="en-US" altLang="zh-CN" b="1" dirty="0"/>
              <a:t>Recommended System</a:t>
            </a:r>
            <a:endParaRPr lang="zh-CN" altLang="en-US" b="1" dirty="0"/>
          </a:p>
        </p:txBody>
      </p:sp>
      <p:sp>
        <p:nvSpPr>
          <p:cNvPr id="14" name="矩形 13">
            <a:extLst>
              <a:ext uri="{FF2B5EF4-FFF2-40B4-BE49-F238E27FC236}">
                <a16:creationId xmlns:a16="http://schemas.microsoft.com/office/drawing/2014/main" id="{108F5F06-EFA8-4440-AD35-F1E4FA07552C}"/>
              </a:ext>
            </a:extLst>
          </p:cNvPr>
          <p:cNvSpPr/>
          <p:nvPr/>
        </p:nvSpPr>
        <p:spPr>
          <a:xfrm>
            <a:off x="1040464" y="6121919"/>
            <a:ext cx="2642398" cy="369332"/>
          </a:xfrm>
          <a:prstGeom prst="rect">
            <a:avLst/>
          </a:prstGeom>
          <a:solidFill>
            <a:schemeClr val="accent6">
              <a:lumMod val="20000"/>
              <a:lumOff val="80000"/>
            </a:schemeClr>
          </a:solidFill>
          <a:ln>
            <a:noFill/>
          </a:ln>
          <a:effectLst>
            <a:glow rad="101600">
              <a:schemeClr val="accent3">
                <a:satMod val="175000"/>
                <a:alpha val="40000"/>
              </a:schemeClr>
            </a:glow>
          </a:effectLst>
        </p:spPr>
        <p:txBody>
          <a:bodyPr wrap="square">
            <a:spAutoFit/>
          </a:bodyPr>
          <a:lstStyle/>
          <a:p>
            <a:pPr algn="ctr"/>
            <a:r>
              <a:rPr lang="en-US" altLang="zh-CN" b="1" dirty="0"/>
              <a:t>Social Network Analysis</a:t>
            </a:r>
            <a:endParaRPr lang="zh-CN" altLang="en-US" b="1" dirty="0"/>
          </a:p>
        </p:txBody>
      </p:sp>
      <p:sp>
        <p:nvSpPr>
          <p:cNvPr id="16" name="矩形 15">
            <a:extLst>
              <a:ext uri="{FF2B5EF4-FFF2-40B4-BE49-F238E27FC236}">
                <a16:creationId xmlns:a16="http://schemas.microsoft.com/office/drawing/2014/main" id="{DFF0326B-E292-44E0-8443-D16DE458FEC3}"/>
              </a:ext>
            </a:extLst>
          </p:cNvPr>
          <p:cNvSpPr/>
          <p:nvPr/>
        </p:nvSpPr>
        <p:spPr>
          <a:xfrm>
            <a:off x="5051329" y="6121919"/>
            <a:ext cx="2632504" cy="369332"/>
          </a:xfrm>
          <a:prstGeom prst="rect">
            <a:avLst/>
          </a:prstGeom>
          <a:solidFill>
            <a:schemeClr val="accent6">
              <a:lumMod val="20000"/>
              <a:lumOff val="80000"/>
            </a:schemeClr>
          </a:solidFill>
          <a:ln>
            <a:noFill/>
          </a:ln>
          <a:effectLst>
            <a:glow rad="101600">
              <a:schemeClr val="accent3">
                <a:satMod val="175000"/>
                <a:alpha val="40000"/>
              </a:schemeClr>
            </a:glow>
          </a:effectLst>
        </p:spPr>
        <p:txBody>
          <a:bodyPr wrap="square">
            <a:spAutoFit/>
          </a:bodyPr>
          <a:lstStyle/>
          <a:p>
            <a:pPr algn="ctr"/>
            <a:r>
              <a:rPr lang="en-US" altLang="zh-CN" b="1" dirty="0"/>
              <a:t>World Airline </a:t>
            </a:r>
            <a:r>
              <a:rPr lang="en-US" altLang="zh-CN" b="1" dirty="0" err="1"/>
              <a:t>Routemap</a:t>
            </a:r>
            <a:endParaRPr lang="zh-CN" altLang="en-US" b="1" dirty="0"/>
          </a:p>
        </p:txBody>
      </p:sp>
      <p:sp>
        <p:nvSpPr>
          <p:cNvPr id="18" name="矩形 17">
            <a:extLst>
              <a:ext uri="{FF2B5EF4-FFF2-40B4-BE49-F238E27FC236}">
                <a16:creationId xmlns:a16="http://schemas.microsoft.com/office/drawing/2014/main" id="{E5BE4894-9CD4-4474-9F28-8E5485196A7B}"/>
              </a:ext>
            </a:extLst>
          </p:cNvPr>
          <p:cNvSpPr/>
          <p:nvPr/>
        </p:nvSpPr>
        <p:spPr>
          <a:xfrm>
            <a:off x="8580385" y="6121919"/>
            <a:ext cx="2645330" cy="369332"/>
          </a:xfrm>
          <a:prstGeom prst="rect">
            <a:avLst/>
          </a:prstGeom>
          <a:solidFill>
            <a:schemeClr val="accent6">
              <a:lumMod val="20000"/>
              <a:lumOff val="80000"/>
            </a:schemeClr>
          </a:solidFill>
          <a:ln>
            <a:noFill/>
          </a:ln>
          <a:effectLst>
            <a:glow rad="101600">
              <a:schemeClr val="accent3">
                <a:satMod val="175000"/>
                <a:alpha val="40000"/>
              </a:schemeClr>
            </a:glow>
          </a:effectLst>
        </p:spPr>
        <p:txBody>
          <a:bodyPr wrap="square">
            <a:spAutoFit/>
          </a:bodyPr>
          <a:lstStyle/>
          <a:p>
            <a:pPr algn="ctr"/>
            <a:r>
              <a:rPr lang="en-US" altLang="zh-CN" b="1" dirty="0"/>
              <a:t>Spam Detection</a:t>
            </a:r>
            <a:endParaRPr lang="zh-CN" altLang="en-US" b="1" dirty="0"/>
          </a:p>
        </p:txBody>
      </p:sp>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11407882"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Ubiquitous Applications of Triangle Counting</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302C8907-E292-6A2E-3E4B-BF559449804C}"/>
              </a:ext>
            </a:extLst>
          </p:cNvPr>
          <p:cNvSpPr>
            <a:spLocks noGrp="1"/>
          </p:cNvSpPr>
          <p:nvPr>
            <p:ph type="sldNum" sz="quarter" idx="12"/>
          </p:nvPr>
        </p:nvSpPr>
        <p:spPr/>
        <p:txBody>
          <a:bodyPr/>
          <a:lstStyle/>
          <a:p>
            <a:fld id="{88C18B20-99F9-4866-84D4-802F7B8C14EF}" type="slidenum">
              <a:rPr lang="zh-CN" altLang="en-US" smtClean="0"/>
              <a:t>5</a:t>
            </a:fld>
            <a:endParaRPr lang="zh-CN" altLang="en-US" dirty="0"/>
          </a:p>
        </p:txBody>
      </p:sp>
      <p:pic>
        <p:nvPicPr>
          <p:cNvPr id="20" name="Picture 19" descr="A diagram of a person riding a bike&#10;&#10;Description automatically generated">
            <a:extLst>
              <a:ext uri="{FF2B5EF4-FFF2-40B4-BE49-F238E27FC236}">
                <a16:creationId xmlns:a16="http://schemas.microsoft.com/office/drawing/2014/main" id="{7E811FE6-C0BE-BB34-4A6C-E640C21C28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5309" y="1283686"/>
            <a:ext cx="3315482" cy="1871434"/>
          </a:xfrm>
          <a:prstGeom prst="rect">
            <a:avLst/>
          </a:prstGeom>
          <a:ln>
            <a:solidFill>
              <a:srgbClr val="002060"/>
            </a:solidFill>
          </a:ln>
        </p:spPr>
      </p:pic>
      <p:pic>
        <p:nvPicPr>
          <p:cNvPr id="6" name="Picture 5" descr="A diagram of a network of different types of banking&#10;&#10;Description automatically generated with medium confidence">
            <a:extLst>
              <a:ext uri="{FF2B5EF4-FFF2-40B4-BE49-F238E27FC236}">
                <a16:creationId xmlns:a16="http://schemas.microsoft.com/office/drawing/2014/main" id="{E5367C83-15F8-B6DE-1BE5-94DD7FC396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615" y="1283686"/>
            <a:ext cx="3315482" cy="1871434"/>
          </a:xfrm>
          <a:prstGeom prst="rect">
            <a:avLst/>
          </a:prstGeom>
          <a:ln>
            <a:solidFill>
              <a:srgbClr val="002060"/>
            </a:solidFill>
          </a:ln>
        </p:spPr>
      </p:pic>
      <p:pic>
        <p:nvPicPr>
          <p:cNvPr id="19" name="Picture 18">
            <a:extLst>
              <a:ext uri="{FF2B5EF4-FFF2-40B4-BE49-F238E27FC236}">
                <a16:creationId xmlns:a16="http://schemas.microsoft.com/office/drawing/2014/main" id="{4ACDB6D4-44FD-BE47-1D29-E85405883C44}"/>
              </a:ext>
            </a:extLst>
          </p:cNvPr>
          <p:cNvPicPr>
            <a:picLocks noChangeAspect="1"/>
          </p:cNvPicPr>
          <p:nvPr/>
        </p:nvPicPr>
        <p:blipFill>
          <a:blip r:embed="rId5"/>
          <a:stretch>
            <a:fillRect/>
          </a:stretch>
        </p:blipFill>
        <p:spPr>
          <a:xfrm>
            <a:off x="4534729" y="1294212"/>
            <a:ext cx="3307948" cy="1871434"/>
          </a:xfrm>
          <a:prstGeom prst="rect">
            <a:avLst/>
          </a:prstGeom>
          <a:ln>
            <a:solidFill>
              <a:srgbClr val="002060"/>
            </a:solidFill>
          </a:ln>
        </p:spPr>
      </p:pic>
      <p:pic>
        <p:nvPicPr>
          <p:cNvPr id="22" name="Picture 21" descr="A group of people connected to each other&#10;&#10;Description automatically generated">
            <a:extLst>
              <a:ext uri="{FF2B5EF4-FFF2-40B4-BE49-F238E27FC236}">
                <a16:creationId xmlns:a16="http://schemas.microsoft.com/office/drawing/2014/main" id="{4CA06C72-1384-6F48-E49C-1E14C9245A1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6615" y="4119904"/>
            <a:ext cx="3315482" cy="1860908"/>
          </a:xfrm>
          <a:prstGeom prst="rect">
            <a:avLst/>
          </a:prstGeom>
          <a:ln>
            <a:solidFill>
              <a:srgbClr val="002060"/>
            </a:solidFill>
          </a:ln>
        </p:spPr>
      </p:pic>
      <p:pic>
        <p:nvPicPr>
          <p:cNvPr id="26" name="Picture 25" descr="A map of the world&#10;&#10;Description automatically generated">
            <a:extLst>
              <a:ext uri="{FF2B5EF4-FFF2-40B4-BE49-F238E27FC236}">
                <a16:creationId xmlns:a16="http://schemas.microsoft.com/office/drawing/2014/main" id="{F3C632A7-6717-CAC1-3A4E-1E4CC72FEC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34729" y="4119904"/>
            <a:ext cx="3315482" cy="1860908"/>
          </a:xfrm>
          <a:prstGeom prst="rect">
            <a:avLst/>
          </a:prstGeom>
          <a:ln>
            <a:solidFill>
              <a:srgbClr val="002060"/>
            </a:solidFill>
          </a:ln>
        </p:spPr>
      </p:pic>
      <p:pic>
        <p:nvPicPr>
          <p:cNvPr id="28" name="Picture 27" descr="A computer screen with a computer and a mail&#10;&#10;Description automatically generated with medium confidence">
            <a:extLst>
              <a:ext uri="{FF2B5EF4-FFF2-40B4-BE49-F238E27FC236}">
                <a16:creationId xmlns:a16="http://schemas.microsoft.com/office/drawing/2014/main" id="{E7FB9755-95FA-DB5C-1790-81A84BC5CC5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45309" y="4119904"/>
            <a:ext cx="3315482" cy="1860908"/>
          </a:xfrm>
          <a:prstGeom prst="rect">
            <a:avLst/>
          </a:prstGeom>
          <a:ln>
            <a:solidFill>
              <a:srgbClr val="002060"/>
            </a:solidFill>
          </a:ln>
        </p:spPr>
      </p:pic>
    </p:spTree>
    <p:extLst>
      <p:ext uri="{BB962C8B-B14F-4D97-AF65-F5344CB8AC3E}">
        <p14:creationId xmlns:p14="http://schemas.microsoft.com/office/powerpoint/2010/main" val="2426225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Challenges in Streaming Graphs</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6</a:t>
            </a:fld>
            <a:endParaRPr lang="zh-CN" altLang="en-US"/>
          </a:p>
        </p:txBody>
      </p:sp>
      <p:sp>
        <p:nvSpPr>
          <p:cNvPr id="8" name="TextBox 7">
            <a:extLst>
              <a:ext uri="{FF2B5EF4-FFF2-40B4-BE49-F238E27FC236}">
                <a16:creationId xmlns:a16="http://schemas.microsoft.com/office/drawing/2014/main" id="{FC0E9D64-5C5B-4158-5892-D99B6C82E319}"/>
              </a:ext>
            </a:extLst>
          </p:cNvPr>
          <p:cNvSpPr txBox="1"/>
          <p:nvPr/>
        </p:nvSpPr>
        <p:spPr>
          <a:xfrm>
            <a:off x="1634818" y="1469067"/>
            <a:ext cx="8846164" cy="1200329"/>
          </a:xfrm>
          <a:prstGeom prst="rect">
            <a:avLst/>
          </a:prstGeom>
          <a:noFill/>
        </p:spPr>
        <p:txBody>
          <a:bodyPr wrap="square">
            <a:spAutoFit/>
          </a:bodyPr>
          <a:lstStyle/>
          <a:p>
            <a:pPr marL="342900" indent="-342900">
              <a:buFont typeface="Wingdings" panose="05000000000000000000" pitchFamily="2" charset="2"/>
              <a:buChar char="§"/>
            </a:pPr>
            <a:r>
              <a:rPr lang="en-US" sz="2400" dirty="0">
                <a:latin typeface="Calibri" panose="020F0502020204030204" pitchFamily="34" charset="0"/>
                <a:cs typeface="Calibri" panose="020F0502020204030204" pitchFamily="34" charset="0"/>
              </a:rPr>
              <a:t>Real-world graphs are vast in scale, and continually expanding </a:t>
            </a:r>
          </a:p>
          <a:p>
            <a:pPr marL="342900" indent="-342900">
              <a:buFont typeface="Wingdings" panose="05000000000000000000" pitchFamily="2" charset="2"/>
              <a:buChar char="§"/>
            </a:pPr>
            <a:r>
              <a:rPr lang="en-US" sz="2400" dirty="0">
                <a:latin typeface="Calibri" panose="020F0502020204030204" pitchFamily="34" charset="0"/>
                <a:cs typeface="Calibri" panose="020F0502020204030204" pitchFamily="34" charset="0"/>
              </a:rPr>
              <a:t>Lack of prior knowledge over evolving graph streams</a:t>
            </a:r>
          </a:p>
          <a:p>
            <a:pPr marL="342900" indent="-342900">
              <a:buFont typeface="Wingdings" panose="05000000000000000000" pitchFamily="2" charset="2"/>
              <a:buChar char="§"/>
            </a:pPr>
            <a:r>
              <a:rPr lang="en-US" sz="2400" dirty="0">
                <a:latin typeface="Calibri" panose="020F0502020204030204" pitchFamily="34" charset="0"/>
                <a:cs typeface="Calibri" panose="020F0502020204030204" pitchFamily="34" charset="0"/>
              </a:rPr>
              <a:t>Constrained primary memory capacity for real-time analysis</a:t>
            </a:r>
          </a:p>
        </p:txBody>
      </p:sp>
      <p:pic>
        <p:nvPicPr>
          <p:cNvPr id="11" name="Picture 10" descr="A green and yellow train&#10;&#10;Description automatically generated">
            <a:extLst>
              <a:ext uri="{FF2B5EF4-FFF2-40B4-BE49-F238E27FC236}">
                <a16:creationId xmlns:a16="http://schemas.microsoft.com/office/drawing/2014/main" id="{D23897BB-1800-970A-B858-C5C770B10989}"/>
              </a:ext>
            </a:extLst>
          </p:cNvPr>
          <p:cNvPicPr>
            <a:picLocks noChangeAspect="1"/>
          </p:cNvPicPr>
          <p:nvPr/>
        </p:nvPicPr>
        <p:blipFill rotWithShape="1">
          <a:blip r:embed="rId3">
            <a:extLst>
              <a:ext uri="{28A0092B-C50C-407E-A947-70E740481C1C}">
                <a14:useLocalDpi xmlns:a14="http://schemas.microsoft.com/office/drawing/2010/main" val="0"/>
              </a:ext>
            </a:extLst>
          </a:blip>
          <a:srcRect t="26643" b="29672"/>
          <a:stretch/>
        </p:blipFill>
        <p:spPr>
          <a:xfrm>
            <a:off x="7338735" y="-1311502"/>
            <a:ext cx="4094006" cy="894225"/>
          </a:xfrm>
          <a:prstGeom prst="rect">
            <a:avLst/>
          </a:prstGeom>
        </p:spPr>
      </p:pic>
      <p:sp>
        <p:nvSpPr>
          <p:cNvPr id="13" name="TextBox 12">
            <a:extLst>
              <a:ext uri="{FF2B5EF4-FFF2-40B4-BE49-F238E27FC236}">
                <a16:creationId xmlns:a16="http://schemas.microsoft.com/office/drawing/2014/main" id="{95472131-72DC-B910-6F88-428E11499C94}"/>
              </a:ext>
            </a:extLst>
          </p:cNvPr>
          <p:cNvSpPr txBox="1"/>
          <p:nvPr/>
        </p:nvSpPr>
        <p:spPr>
          <a:xfrm>
            <a:off x="2440940" y="3812339"/>
            <a:ext cx="7233920" cy="646331"/>
          </a:xfrm>
          <a:prstGeom prst="rect">
            <a:avLst/>
          </a:prstGeom>
          <a:solidFill>
            <a:schemeClr val="accent2">
              <a:lumMod val="60000"/>
              <a:lumOff val="40000"/>
            </a:schemeClr>
          </a:solidFill>
          <a:effectLst>
            <a:glow rad="101600">
              <a:schemeClr val="accent2">
                <a:satMod val="175000"/>
                <a:alpha val="40000"/>
              </a:schemeClr>
            </a:glow>
          </a:effectLst>
        </p:spPr>
        <p:txBody>
          <a:bodyPr wrap="square">
            <a:spAutoFit/>
          </a:bodyPr>
          <a:lstStyle/>
          <a:p>
            <a:r>
              <a:rPr lang="en-US" dirty="0"/>
              <a:t>Given these challenges, exact counts of global and local triangles by storing the entire graph streams in memory becomes practically impossible. </a:t>
            </a:r>
          </a:p>
        </p:txBody>
      </p:sp>
      <p:sp>
        <p:nvSpPr>
          <p:cNvPr id="15" name="TextBox 14">
            <a:extLst>
              <a:ext uri="{FF2B5EF4-FFF2-40B4-BE49-F238E27FC236}">
                <a16:creationId xmlns:a16="http://schemas.microsoft.com/office/drawing/2014/main" id="{84E23069-44B9-539A-32DA-B9B5595602C4}"/>
              </a:ext>
            </a:extLst>
          </p:cNvPr>
          <p:cNvSpPr txBox="1"/>
          <p:nvPr/>
        </p:nvSpPr>
        <p:spPr>
          <a:xfrm>
            <a:off x="2115820" y="5639773"/>
            <a:ext cx="7960360" cy="646331"/>
          </a:xfrm>
          <a:prstGeom prst="rect">
            <a:avLst/>
          </a:prstGeom>
          <a:solidFill>
            <a:schemeClr val="accent6">
              <a:lumMod val="60000"/>
              <a:lumOff val="40000"/>
            </a:schemeClr>
          </a:solidFill>
          <a:effectLst>
            <a:glow rad="101600">
              <a:schemeClr val="accent6">
                <a:satMod val="175000"/>
                <a:alpha val="40000"/>
              </a:schemeClr>
            </a:glow>
          </a:effectLst>
        </p:spPr>
        <p:txBody>
          <a:bodyPr wrap="square">
            <a:spAutoFit/>
          </a:bodyPr>
          <a:lstStyle/>
          <a:p>
            <a:r>
              <a:rPr lang="en-US" dirty="0"/>
              <a:t>Current research has focused on streaming algorithms that employ sampling approaches for obtaining approximate triangle counts.</a:t>
            </a:r>
          </a:p>
        </p:txBody>
      </p:sp>
      <p:sp>
        <p:nvSpPr>
          <p:cNvPr id="17" name="Arrow: Down 16">
            <a:extLst>
              <a:ext uri="{FF2B5EF4-FFF2-40B4-BE49-F238E27FC236}">
                <a16:creationId xmlns:a16="http://schemas.microsoft.com/office/drawing/2014/main" id="{13AFE559-E174-5B9E-41D4-764D13958956}"/>
              </a:ext>
            </a:extLst>
          </p:cNvPr>
          <p:cNvSpPr/>
          <p:nvPr/>
        </p:nvSpPr>
        <p:spPr>
          <a:xfrm>
            <a:off x="5778500" y="2855128"/>
            <a:ext cx="558800" cy="809639"/>
          </a:xfrm>
          <a:prstGeom prst="down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360D49E7-29DD-B6B6-EAB7-CB9F254F66DF}"/>
              </a:ext>
            </a:extLst>
          </p:cNvPr>
          <p:cNvSpPr/>
          <p:nvPr/>
        </p:nvSpPr>
        <p:spPr>
          <a:xfrm>
            <a:off x="5778500" y="4644402"/>
            <a:ext cx="558800" cy="809639"/>
          </a:xfrm>
          <a:prstGeom prst="down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0245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7"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7"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Streaming Algorithms</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7</a:t>
            </a:fld>
            <a:endParaRPr lang="zh-CN" altLang="en-US"/>
          </a:p>
        </p:txBody>
      </p:sp>
      <p:sp>
        <p:nvSpPr>
          <p:cNvPr id="6" name="TextBox 5">
            <a:extLst>
              <a:ext uri="{FF2B5EF4-FFF2-40B4-BE49-F238E27FC236}">
                <a16:creationId xmlns:a16="http://schemas.microsoft.com/office/drawing/2014/main" id="{DCE25ED4-88C0-67AA-F645-1E1A32CCC248}"/>
              </a:ext>
            </a:extLst>
          </p:cNvPr>
          <p:cNvSpPr txBox="1"/>
          <p:nvPr/>
        </p:nvSpPr>
        <p:spPr>
          <a:xfrm>
            <a:off x="1296760" y="1495732"/>
            <a:ext cx="7655635" cy="4401205"/>
          </a:xfrm>
          <a:prstGeom prst="rect">
            <a:avLst/>
          </a:prstGeom>
          <a:noFill/>
        </p:spPr>
        <p:txBody>
          <a:bodyPr wrap="square">
            <a:spAutoFit/>
          </a:bodyPr>
          <a:lstStyle/>
          <a:p>
            <a:r>
              <a:rPr lang="en-US" altLang="zh-CN" sz="2000" b="1" dirty="0">
                <a:latin typeface="Calibri" panose="020F0502020204030204" pitchFamily="34" charset="0"/>
                <a:cs typeface="Calibri" panose="020F0502020204030204" pitchFamily="34" charset="0"/>
              </a:rPr>
              <a:t>Sampling Methods</a:t>
            </a:r>
          </a:p>
          <a:p>
            <a:pPr marL="342900" indent="-342900">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Reservoir-based sampling employs a fixed-size storage budget to store sampled edges for triangle counting</a:t>
            </a:r>
          </a:p>
          <a:p>
            <a:pPr marL="342900" indent="-342900">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Bernoulli-based sampling: sample every edge with a same probability</a:t>
            </a:r>
          </a:p>
          <a:p>
            <a:endParaRPr lang="en-US" altLang="zh-CN" sz="2000" dirty="0">
              <a:latin typeface="Calibri" panose="020F0502020204030204" pitchFamily="34" charset="0"/>
              <a:cs typeface="Calibri" panose="020F0502020204030204" pitchFamily="34" charset="0"/>
            </a:endParaRPr>
          </a:p>
          <a:p>
            <a:r>
              <a:rPr lang="en-US" altLang="zh-CN" sz="2000" b="1" dirty="0">
                <a:latin typeface="Calibri" panose="020F0502020204030204" pitchFamily="34" charset="0"/>
                <a:cs typeface="Calibri" panose="020F0502020204030204" pitchFamily="34" charset="0"/>
              </a:rPr>
              <a:t>Resource Utilization</a:t>
            </a:r>
          </a:p>
          <a:p>
            <a:pPr marL="342900" indent="-342900">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Single-machine streaming algorithms</a:t>
            </a:r>
          </a:p>
          <a:p>
            <a:pPr marL="342900" indent="-342900">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Multi-machine distributed streaming algorithms</a:t>
            </a:r>
          </a:p>
          <a:p>
            <a:endParaRPr lang="en-US" altLang="zh-CN" sz="2000" dirty="0">
              <a:latin typeface="Calibri" panose="020F0502020204030204" pitchFamily="34" charset="0"/>
              <a:cs typeface="Calibri" panose="020F0502020204030204" pitchFamily="34" charset="0"/>
            </a:endParaRPr>
          </a:p>
          <a:p>
            <a:r>
              <a:rPr lang="en-US" altLang="zh-CN" sz="2000" b="1" dirty="0">
                <a:latin typeface="Calibri" panose="020F0502020204030204" pitchFamily="34" charset="0"/>
                <a:cs typeface="Calibri" panose="020F0502020204030204" pitchFamily="34" charset="0"/>
              </a:rPr>
              <a:t>Processing Capability</a:t>
            </a:r>
          </a:p>
          <a:p>
            <a:pPr marL="342900" indent="-342900">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Handle insertion-Only edge streams</a:t>
            </a:r>
          </a:p>
          <a:p>
            <a:pPr marL="342900" indent="-342900">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Handle fully dynamic streams</a:t>
            </a:r>
          </a:p>
          <a:p>
            <a:endParaRPr lang="en-US" altLang="zh-C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4690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4" y="206375"/>
            <a:ext cx="11163633"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Comparative Analysis of Current Research</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8</a:t>
            </a:fld>
            <a:endParaRPr lang="zh-CN" altLang="en-US"/>
          </a:p>
        </p:txBody>
      </p:sp>
      <p:sp>
        <p:nvSpPr>
          <p:cNvPr id="9" name="TextBox 8">
            <a:extLst>
              <a:ext uri="{FF2B5EF4-FFF2-40B4-BE49-F238E27FC236}">
                <a16:creationId xmlns:a16="http://schemas.microsoft.com/office/drawing/2014/main" id="{29D8472D-7A4A-B77A-D717-7C3D962B4ABB}"/>
              </a:ext>
            </a:extLst>
          </p:cNvPr>
          <p:cNvSpPr txBox="1"/>
          <p:nvPr/>
        </p:nvSpPr>
        <p:spPr>
          <a:xfrm>
            <a:off x="1031117" y="3588079"/>
            <a:ext cx="10129765" cy="1015663"/>
          </a:xfrm>
          <a:prstGeom prst="rect">
            <a:avLst/>
          </a:prstGeom>
          <a:noFill/>
        </p:spPr>
        <p:txBody>
          <a:bodyPr wrap="square">
            <a:spAutoFit/>
          </a:bodyPr>
          <a:lstStyle/>
          <a:p>
            <a:pPr marL="342900" indent="-342900">
              <a:buFont typeface="Courier New" panose="02070309020205020404" pitchFamily="49" charset="0"/>
              <a:buChar char="o"/>
            </a:pPr>
            <a:r>
              <a:rPr lang="en-US" altLang="zh-CN" sz="2000" u="sng" dirty="0">
                <a:solidFill>
                  <a:srgbClr val="00B0F0"/>
                </a:solidFill>
                <a:latin typeface="Calibri" panose="020F0502020204030204" pitchFamily="34" charset="0"/>
                <a:cs typeface="Calibri" panose="020F0502020204030204" pitchFamily="34" charset="0"/>
              </a:rPr>
              <a:t>Single-machine streaming algorithms</a:t>
            </a:r>
            <a:r>
              <a:rPr lang="en-US" altLang="zh-CN" sz="2000" dirty="0">
                <a:solidFill>
                  <a:srgbClr val="00B0F0"/>
                </a:solidFill>
                <a:latin typeface="Calibri" panose="020F0502020204030204" pitchFamily="34" charset="0"/>
                <a:cs typeface="Calibri" panose="020F0502020204030204" pitchFamily="34" charset="0"/>
              </a:rPr>
              <a:t>, such as Reservoir-based sampling methods and Bernoulli-based sampling ones, operate solely on a single machine by employing various sampling techniques to approximate triangle counts.</a:t>
            </a:r>
          </a:p>
        </p:txBody>
      </p:sp>
      <p:pic>
        <p:nvPicPr>
          <p:cNvPr id="12" name="Picture 11">
            <a:extLst>
              <a:ext uri="{FF2B5EF4-FFF2-40B4-BE49-F238E27FC236}">
                <a16:creationId xmlns:a16="http://schemas.microsoft.com/office/drawing/2014/main" id="{1999E7B0-FB94-CF59-5725-1B9FEA337170}"/>
              </a:ext>
            </a:extLst>
          </p:cNvPr>
          <p:cNvPicPr>
            <a:picLocks noChangeAspect="1"/>
          </p:cNvPicPr>
          <p:nvPr/>
        </p:nvPicPr>
        <p:blipFill>
          <a:blip r:embed="rId3"/>
          <a:stretch>
            <a:fillRect/>
          </a:stretch>
        </p:blipFill>
        <p:spPr>
          <a:xfrm>
            <a:off x="1560599" y="1052399"/>
            <a:ext cx="9070802" cy="2376601"/>
          </a:xfrm>
          <a:prstGeom prst="rect">
            <a:avLst/>
          </a:prstGeom>
        </p:spPr>
      </p:pic>
      <p:sp>
        <p:nvSpPr>
          <p:cNvPr id="4" name="Rectangle 3">
            <a:extLst>
              <a:ext uri="{FF2B5EF4-FFF2-40B4-BE49-F238E27FC236}">
                <a16:creationId xmlns:a16="http://schemas.microsoft.com/office/drawing/2014/main" id="{DFAB24A1-85CC-7D86-9575-9F88BCAC44C3}"/>
              </a:ext>
            </a:extLst>
          </p:cNvPr>
          <p:cNvSpPr/>
          <p:nvPr/>
        </p:nvSpPr>
        <p:spPr>
          <a:xfrm>
            <a:off x="3956858" y="1036319"/>
            <a:ext cx="4447309" cy="2455025"/>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6" name="Rectangle 5">
            <a:extLst>
              <a:ext uri="{FF2B5EF4-FFF2-40B4-BE49-F238E27FC236}">
                <a16:creationId xmlns:a16="http://schemas.microsoft.com/office/drawing/2014/main" id="{F6D6D5DB-7DFC-E495-BA14-6C598A21269C}"/>
              </a:ext>
            </a:extLst>
          </p:cNvPr>
          <p:cNvSpPr/>
          <p:nvPr/>
        </p:nvSpPr>
        <p:spPr>
          <a:xfrm>
            <a:off x="8535496" y="1036319"/>
            <a:ext cx="982287" cy="2455025"/>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64CD5AB-318B-5F88-1101-9BD8B69FA7C5}"/>
              </a:ext>
            </a:extLst>
          </p:cNvPr>
          <p:cNvSpPr/>
          <p:nvPr/>
        </p:nvSpPr>
        <p:spPr>
          <a:xfrm>
            <a:off x="9651595" y="1036318"/>
            <a:ext cx="982287" cy="24550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E2BE3E6-EE5B-C6BD-79FD-42BECB8AD4E2}"/>
              </a:ext>
            </a:extLst>
          </p:cNvPr>
          <p:cNvSpPr txBox="1"/>
          <p:nvPr/>
        </p:nvSpPr>
        <p:spPr>
          <a:xfrm>
            <a:off x="1031116" y="4603742"/>
            <a:ext cx="10129765" cy="1015663"/>
          </a:xfrm>
          <a:prstGeom prst="rect">
            <a:avLst/>
          </a:prstGeom>
          <a:noFill/>
        </p:spPr>
        <p:txBody>
          <a:bodyPr wrap="square">
            <a:spAutoFit/>
          </a:bodyPr>
          <a:lstStyle/>
          <a:p>
            <a:pPr marL="342900" indent="-342900">
              <a:buFont typeface="Courier New" panose="02070309020205020404" pitchFamily="49" charset="0"/>
              <a:buChar char="o"/>
            </a:pPr>
            <a:r>
              <a:rPr lang="en-US" altLang="zh-CN" sz="2000" dirty="0">
                <a:solidFill>
                  <a:srgbClr val="00B050"/>
                </a:solidFill>
                <a:latin typeface="Calibri" panose="020F0502020204030204" pitchFamily="34" charset="0"/>
                <a:cs typeface="Calibri" panose="020F0502020204030204" pitchFamily="34" charset="0"/>
              </a:rPr>
              <a:t>However, </a:t>
            </a:r>
            <a:r>
              <a:rPr lang="en-US" altLang="zh-CN" sz="2000" u="sng" dirty="0">
                <a:solidFill>
                  <a:srgbClr val="00B050"/>
                </a:solidFill>
                <a:latin typeface="Calibri" panose="020F0502020204030204" pitchFamily="34" charset="0"/>
                <a:cs typeface="Calibri" panose="020F0502020204030204" pitchFamily="34" charset="0"/>
              </a:rPr>
              <a:t>existing distributed streaming algorithms </a:t>
            </a:r>
            <a:r>
              <a:rPr lang="en-US" altLang="zh-CN" sz="2000" dirty="0">
                <a:solidFill>
                  <a:srgbClr val="00B050"/>
                </a:solidFill>
                <a:latin typeface="Calibri" panose="020F0502020204030204" pitchFamily="34" charset="0"/>
                <a:cs typeface="Calibri" panose="020F0502020204030204" pitchFamily="34" charset="0"/>
              </a:rPr>
              <a:t>are limited to handling edge insertions and require prior knowledge of the entire graph stream size to set appropriate parameters for accurate estimation.</a:t>
            </a:r>
          </a:p>
        </p:txBody>
      </p:sp>
      <p:sp>
        <p:nvSpPr>
          <p:cNvPr id="13" name="TextBox 12">
            <a:extLst>
              <a:ext uri="{FF2B5EF4-FFF2-40B4-BE49-F238E27FC236}">
                <a16:creationId xmlns:a16="http://schemas.microsoft.com/office/drawing/2014/main" id="{DE18C2C8-7AB5-F9C4-762B-713997CA9789}"/>
              </a:ext>
            </a:extLst>
          </p:cNvPr>
          <p:cNvSpPr txBox="1"/>
          <p:nvPr/>
        </p:nvSpPr>
        <p:spPr>
          <a:xfrm>
            <a:off x="1031115" y="5619405"/>
            <a:ext cx="10129765" cy="1015663"/>
          </a:xfrm>
          <a:prstGeom prst="rect">
            <a:avLst/>
          </a:prstGeom>
          <a:noFill/>
        </p:spPr>
        <p:txBody>
          <a:bodyPr wrap="square">
            <a:spAutoFit/>
          </a:bodyPr>
          <a:lstStyle/>
          <a:p>
            <a:pPr marL="342900" indent="-342900">
              <a:buFont typeface="Courier New" panose="02070309020205020404" pitchFamily="49" charset="0"/>
              <a:buChar char="o"/>
            </a:pPr>
            <a:r>
              <a:rPr lang="en-US" altLang="zh-CN" sz="2000" dirty="0">
                <a:solidFill>
                  <a:srgbClr val="FF0000"/>
                </a:solidFill>
                <a:latin typeface="Calibri" panose="020F0502020204030204" pitchFamily="34" charset="0"/>
                <a:cs typeface="Calibri" panose="020F0502020204030204" pitchFamily="34" charset="0"/>
              </a:rPr>
              <a:t>Our proposed </a:t>
            </a:r>
            <a:r>
              <a:rPr lang="en-US" altLang="zh-CN" sz="2000" u="sng" dirty="0">
                <a:solidFill>
                  <a:srgbClr val="FF0000"/>
                </a:solidFill>
                <a:latin typeface="Calibri" panose="020F0502020204030204" pitchFamily="34" charset="0"/>
                <a:cs typeface="Calibri" panose="020F0502020204030204" pitchFamily="34" charset="0"/>
              </a:rPr>
              <a:t>DTC-family</a:t>
            </a:r>
            <a:r>
              <a:rPr lang="en-US" altLang="zh-CN" sz="2000" dirty="0">
                <a:solidFill>
                  <a:srgbClr val="FF0000"/>
                </a:solidFill>
                <a:latin typeface="Calibri" panose="020F0502020204030204" pitchFamily="34" charset="0"/>
                <a:cs typeface="Calibri" panose="020F0502020204030204" pitchFamily="34" charset="0"/>
              </a:rPr>
              <a:t>, a suite of streaming algorithms designed for counting global and local triangles in fully dynamic graph streams, encompassing both edge insertions and deletions.</a:t>
            </a:r>
          </a:p>
        </p:txBody>
      </p:sp>
    </p:spTree>
    <p:extLst>
      <p:ext uri="{BB962C8B-B14F-4D97-AF65-F5344CB8AC3E}">
        <p14:creationId xmlns:p14="http://schemas.microsoft.com/office/powerpoint/2010/main" val="110902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7"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Outline</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9</a:t>
            </a:fld>
            <a:endParaRPr lang="zh-CN" altLang="en-US"/>
          </a:p>
        </p:txBody>
      </p:sp>
      <p:sp>
        <p:nvSpPr>
          <p:cNvPr id="6" name="Freeform: Shape 5">
            <a:extLst>
              <a:ext uri="{FF2B5EF4-FFF2-40B4-BE49-F238E27FC236}">
                <a16:creationId xmlns:a16="http://schemas.microsoft.com/office/drawing/2014/main" id="{24C6E462-CBE0-A8F7-D52F-A36EC8EA204B}"/>
              </a:ext>
            </a:extLst>
          </p:cNvPr>
          <p:cNvSpPr/>
          <p:nvPr/>
        </p:nvSpPr>
        <p:spPr>
          <a:xfrm>
            <a:off x="3051679" y="1583731"/>
            <a:ext cx="6012441" cy="815490"/>
          </a:xfrm>
          <a:custGeom>
            <a:avLst/>
            <a:gdLst>
              <a:gd name="connsiteX0" fmla="*/ 0 w 6012441"/>
              <a:gd name="connsiteY0" fmla="*/ 135918 h 815490"/>
              <a:gd name="connsiteX1" fmla="*/ 135918 w 6012441"/>
              <a:gd name="connsiteY1" fmla="*/ 0 h 815490"/>
              <a:gd name="connsiteX2" fmla="*/ 5876523 w 6012441"/>
              <a:gd name="connsiteY2" fmla="*/ 0 h 815490"/>
              <a:gd name="connsiteX3" fmla="*/ 6012441 w 6012441"/>
              <a:gd name="connsiteY3" fmla="*/ 135918 h 815490"/>
              <a:gd name="connsiteX4" fmla="*/ 6012441 w 6012441"/>
              <a:gd name="connsiteY4" fmla="*/ 679572 h 815490"/>
              <a:gd name="connsiteX5" fmla="*/ 5876523 w 6012441"/>
              <a:gd name="connsiteY5" fmla="*/ 815490 h 815490"/>
              <a:gd name="connsiteX6" fmla="*/ 135918 w 6012441"/>
              <a:gd name="connsiteY6" fmla="*/ 815490 h 815490"/>
              <a:gd name="connsiteX7" fmla="*/ 0 w 6012441"/>
              <a:gd name="connsiteY7" fmla="*/ 679572 h 815490"/>
              <a:gd name="connsiteX8" fmla="*/ 0 w 6012441"/>
              <a:gd name="connsiteY8" fmla="*/ 135918 h 8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2441" h="815490">
                <a:moveTo>
                  <a:pt x="0" y="135918"/>
                </a:moveTo>
                <a:cubicBezTo>
                  <a:pt x="0" y="60853"/>
                  <a:pt x="60853" y="0"/>
                  <a:pt x="135918" y="0"/>
                </a:cubicBezTo>
                <a:lnTo>
                  <a:pt x="5876523" y="0"/>
                </a:lnTo>
                <a:cubicBezTo>
                  <a:pt x="5951588" y="0"/>
                  <a:pt x="6012441" y="60853"/>
                  <a:pt x="6012441" y="135918"/>
                </a:cubicBezTo>
                <a:lnTo>
                  <a:pt x="6012441" y="679572"/>
                </a:lnTo>
                <a:cubicBezTo>
                  <a:pt x="6012441" y="754637"/>
                  <a:pt x="5951588" y="815490"/>
                  <a:pt x="5876523" y="815490"/>
                </a:cubicBezTo>
                <a:lnTo>
                  <a:pt x="135918" y="815490"/>
                </a:lnTo>
                <a:cubicBezTo>
                  <a:pt x="60853" y="815490"/>
                  <a:pt x="0" y="754637"/>
                  <a:pt x="0" y="679572"/>
                </a:cubicBezTo>
                <a:lnTo>
                  <a:pt x="0" y="135918"/>
                </a:lnTo>
                <a:close/>
              </a:path>
            </a:pathLst>
          </a:custGeom>
          <a:gradFill rotWithShape="1">
            <a:gsLst>
              <a:gs pos="0">
                <a:srgbClr val="4472C4">
                  <a:shade val="50000"/>
                  <a:hueOff val="0"/>
                  <a:satOff val="0"/>
                  <a:lumOff val="0"/>
                  <a:alphaOff val="0"/>
                  <a:satMod val="103000"/>
                  <a:lumMod val="102000"/>
                  <a:tint val="94000"/>
                </a:srgbClr>
              </a:gs>
              <a:gs pos="50000">
                <a:srgbClr val="4472C4">
                  <a:shade val="50000"/>
                  <a:hueOff val="0"/>
                  <a:satOff val="0"/>
                  <a:lumOff val="0"/>
                  <a:alphaOff val="0"/>
                  <a:satMod val="110000"/>
                  <a:lumMod val="100000"/>
                  <a:shade val="100000"/>
                </a:srgbClr>
              </a:gs>
              <a:gs pos="100000">
                <a:srgbClr val="4472C4">
                  <a:shade val="50000"/>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169349" tIns="169349" rIns="169349" bIns="169349" numCol="1" spcCol="1270" anchor="ctr" anchorCtr="0">
            <a:noAutofit/>
          </a:bodyPr>
          <a:lstStyle/>
          <a:p>
            <a:pPr marL="0" marR="0" lvl="0" indent="0" defTabSz="1511300" eaLnBrk="1" fontAlgn="auto" latinLnBrk="0" hangingPunct="1">
              <a:lnSpc>
                <a:spcPct val="90000"/>
              </a:lnSpc>
              <a:spcBef>
                <a:spcPct val="0"/>
              </a:spcBef>
              <a:spcAft>
                <a:spcPct val="3500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Maiandra GD" panose="020E0502030308020204" pitchFamily="34" charset="0"/>
              </a:rPr>
              <a:t>Background and Related Work </a:t>
            </a:r>
          </a:p>
        </p:txBody>
      </p:sp>
      <p:sp>
        <p:nvSpPr>
          <p:cNvPr id="8" name="Freeform: Shape 7">
            <a:extLst>
              <a:ext uri="{FF2B5EF4-FFF2-40B4-BE49-F238E27FC236}">
                <a16:creationId xmlns:a16="http://schemas.microsoft.com/office/drawing/2014/main" id="{A7BC5A78-36F1-F9B5-49B6-6A6102AE5BFE}"/>
              </a:ext>
            </a:extLst>
          </p:cNvPr>
          <p:cNvSpPr/>
          <p:nvPr/>
        </p:nvSpPr>
        <p:spPr>
          <a:xfrm>
            <a:off x="3051677" y="4548826"/>
            <a:ext cx="6012441" cy="815490"/>
          </a:xfrm>
          <a:custGeom>
            <a:avLst/>
            <a:gdLst>
              <a:gd name="connsiteX0" fmla="*/ 0 w 6012441"/>
              <a:gd name="connsiteY0" fmla="*/ 135918 h 815490"/>
              <a:gd name="connsiteX1" fmla="*/ 135918 w 6012441"/>
              <a:gd name="connsiteY1" fmla="*/ 0 h 815490"/>
              <a:gd name="connsiteX2" fmla="*/ 5876523 w 6012441"/>
              <a:gd name="connsiteY2" fmla="*/ 0 h 815490"/>
              <a:gd name="connsiteX3" fmla="*/ 6012441 w 6012441"/>
              <a:gd name="connsiteY3" fmla="*/ 135918 h 815490"/>
              <a:gd name="connsiteX4" fmla="*/ 6012441 w 6012441"/>
              <a:gd name="connsiteY4" fmla="*/ 679572 h 815490"/>
              <a:gd name="connsiteX5" fmla="*/ 5876523 w 6012441"/>
              <a:gd name="connsiteY5" fmla="*/ 815490 h 815490"/>
              <a:gd name="connsiteX6" fmla="*/ 135918 w 6012441"/>
              <a:gd name="connsiteY6" fmla="*/ 815490 h 815490"/>
              <a:gd name="connsiteX7" fmla="*/ 0 w 6012441"/>
              <a:gd name="connsiteY7" fmla="*/ 679572 h 815490"/>
              <a:gd name="connsiteX8" fmla="*/ 0 w 6012441"/>
              <a:gd name="connsiteY8" fmla="*/ 135918 h 8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2441" h="815490">
                <a:moveTo>
                  <a:pt x="0" y="135918"/>
                </a:moveTo>
                <a:cubicBezTo>
                  <a:pt x="0" y="60853"/>
                  <a:pt x="60853" y="0"/>
                  <a:pt x="135918" y="0"/>
                </a:cubicBezTo>
                <a:lnTo>
                  <a:pt x="5876523" y="0"/>
                </a:lnTo>
                <a:cubicBezTo>
                  <a:pt x="5951588" y="0"/>
                  <a:pt x="6012441" y="60853"/>
                  <a:pt x="6012441" y="135918"/>
                </a:cubicBezTo>
                <a:lnTo>
                  <a:pt x="6012441" y="679572"/>
                </a:lnTo>
                <a:cubicBezTo>
                  <a:pt x="6012441" y="754637"/>
                  <a:pt x="5951588" y="815490"/>
                  <a:pt x="5876523" y="815490"/>
                </a:cubicBezTo>
                <a:lnTo>
                  <a:pt x="135918" y="815490"/>
                </a:lnTo>
                <a:cubicBezTo>
                  <a:pt x="60853" y="815490"/>
                  <a:pt x="0" y="754637"/>
                  <a:pt x="0" y="679572"/>
                </a:cubicBezTo>
                <a:lnTo>
                  <a:pt x="0" y="135918"/>
                </a:lnTo>
                <a:close/>
              </a:path>
            </a:pathLst>
          </a:custGeom>
          <a:gradFill rotWithShape="1">
            <a:gsLst>
              <a:gs pos="0">
                <a:srgbClr val="4472C4">
                  <a:shade val="50000"/>
                  <a:hueOff val="0"/>
                  <a:satOff val="0"/>
                  <a:lumOff val="0"/>
                  <a:alphaOff val="0"/>
                  <a:satMod val="103000"/>
                  <a:lumMod val="102000"/>
                  <a:tint val="94000"/>
                </a:srgbClr>
              </a:gs>
              <a:gs pos="50000">
                <a:srgbClr val="4472C4">
                  <a:shade val="50000"/>
                  <a:hueOff val="0"/>
                  <a:satOff val="0"/>
                  <a:lumOff val="0"/>
                  <a:alphaOff val="0"/>
                  <a:satMod val="110000"/>
                  <a:lumMod val="100000"/>
                  <a:shade val="100000"/>
                </a:srgbClr>
              </a:gs>
              <a:gs pos="100000">
                <a:srgbClr val="4472C4">
                  <a:shade val="50000"/>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169349" tIns="169349" rIns="169349" bIns="169349" numCol="1" spcCol="1270" anchor="ctr" anchorCtr="0">
            <a:noAutofit/>
          </a:bodyPr>
          <a:lstStyle/>
          <a:p>
            <a:pPr defTabSz="1511300">
              <a:lnSpc>
                <a:spcPct val="90000"/>
              </a:lnSpc>
              <a:spcBef>
                <a:spcPct val="0"/>
              </a:spcBef>
              <a:spcAft>
                <a:spcPct val="35000"/>
              </a:spcAft>
            </a:pPr>
            <a:r>
              <a:rPr lang="en-US" sz="3200" kern="0" dirty="0">
                <a:solidFill>
                  <a:prstClr val="white"/>
                </a:solidFill>
                <a:latin typeface="Maiandra GD" panose="020E0502030308020204" pitchFamily="34" charset="0"/>
              </a:rPr>
              <a:t>Experiments and Conclusion</a:t>
            </a:r>
            <a:r>
              <a:rPr lang="en-US" altLang="zh-CN" sz="3200" kern="0" dirty="0">
                <a:solidFill>
                  <a:prstClr val="white"/>
                </a:solidFill>
                <a:latin typeface="Maiandra GD" panose="020E0502030308020204" pitchFamily="34" charset="0"/>
              </a:rPr>
              <a:t>s</a:t>
            </a:r>
            <a:endParaRPr lang="en-US" sz="3200" kern="0" dirty="0">
              <a:solidFill>
                <a:prstClr val="white"/>
              </a:solidFill>
              <a:latin typeface="Maiandra GD" panose="020E0502030308020204" pitchFamily="34" charset="0"/>
            </a:endParaRPr>
          </a:p>
        </p:txBody>
      </p:sp>
      <p:sp>
        <p:nvSpPr>
          <p:cNvPr id="17" name="Freeform: Shape 16">
            <a:extLst>
              <a:ext uri="{FF2B5EF4-FFF2-40B4-BE49-F238E27FC236}">
                <a16:creationId xmlns:a16="http://schemas.microsoft.com/office/drawing/2014/main" id="{8FDB8730-7EDF-883D-7A75-CB90B609F541}"/>
              </a:ext>
            </a:extLst>
          </p:cNvPr>
          <p:cNvSpPr/>
          <p:nvPr/>
        </p:nvSpPr>
        <p:spPr>
          <a:xfrm>
            <a:off x="3051677" y="3066278"/>
            <a:ext cx="6012441" cy="815490"/>
          </a:xfrm>
          <a:custGeom>
            <a:avLst/>
            <a:gdLst>
              <a:gd name="connsiteX0" fmla="*/ 0 w 6012441"/>
              <a:gd name="connsiteY0" fmla="*/ 135918 h 815490"/>
              <a:gd name="connsiteX1" fmla="*/ 135918 w 6012441"/>
              <a:gd name="connsiteY1" fmla="*/ 0 h 815490"/>
              <a:gd name="connsiteX2" fmla="*/ 5876523 w 6012441"/>
              <a:gd name="connsiteY2" fmla="*/ 0 h 815490"/>
              <a:gd name="connsiteX3" fmla="*/ 6012441 w 6012441"/>
              <a:gd name="connsiteY3" fmla="*/ 135918 h 815490"/>
              <a:gd name="connsiteX4" fmla="*/ 6012441 w 6012441"/>
              <a:gd name="connsiteY4" fmla="*/ 679572 h 815490"/>
              <a:gd name="connsiteX5" fmla="*/ 5876523 w 6012441"/>
              <a:gd name="connsiteY5" fmla="*/ 815490 h 815490"/>
              <a:gd name="connsiteX6" fmla="*/ 135918 w 6012441"/>
              <a:gd name="connsiteY6" fmla="*/ 815490 h 815490"/>
              <a:gd name="connsiteX7" fmla="*/ 0 w 6012441"/>
              <a:gd name="connsiteY7" fmla="*/ 679572 h 815490"/>
              <a:gd name="connsiteX8" fmla="*/ 0 w 6012441"/>
              <a:gd name="connsiteY8" fmla="*/ 135918 h 8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2441" h="815490">
                <a:moveTo>
                  <a:pt x="0" y="135918"/>
                </a:moveTo>
                <a:cubicBezTo>
                  <a:pt x="0" y="60853"/>
                  <a:pt x="60853" y="0"/>
                  <a:pt x="135918" y="0"/>
                </a:cubicBezTo>
                <a:lnTo>
                  <a:pt x="5876523" y="0"/>
                </a:lnTo>
                <a:cubicBezTo>
                  <a:pt x="5951588" y="0"/>
                  <a:pt x="6012441" y="60853"/>
                  <a:pt x="6012441" y="135918"/>
                </a:cubicBezTo>
                <a:lnTo>
                  <a:pt x="6012441" y="679572"/>
                </a:lnTo>
                <a:cubicBezTo>
                  <a:pt x="6012441" y="754637"/>
                  <a:pt x="5951588" y="815490"/>
                  <a:pt x="5876523" y="815490"/>
                </a:cubicBezTo>
                <a:lnTo>
                  <a:pt x="135918" y="815490"/>
                </a:lnTo>
                <a:cubicBezTo>
                  <a:pt x="60853" y="815490"/>
                  <a:pt x="0" y="754637"/>
                  <a:pt x="0" y="679572"/>
                </a:cubicBezTo>
                <a:lnTo>
                  <a:pt x="0" y="135918"/>
                </a:lnTo>
                <a:close/>
              </a:path>
            </a:pathLst>
          </a:custGeom>
          <a:gradFill rotWithShape="1">
            <a:gsLst>
              <a:gs pos="0">
                <a:srgbClr val="4472C4">
                  <a:shade val="50000"/>
                  <a:hueOff val="0"/>
                  <a:satOff val="0"/>
                  <a:lumOff val="0"/>
                  <a:alphaOff val="0"/>
                  <a:satMod val="103000"/>
                  <a:lumMod val="102000"/>
                  <a:tint val="94000"/>
                </a:srgbClr>
              </a:gs>
              <a:gs pos="50000">
                <a:srgbClr val="4472C4">
                  <a:shade val="50000"/>
                  <a:hueOff val="0"/>
                  <a:satOff val="0"/>
                  <a:lumOff val="0"/>
                  <a:alphaOff val="0"/>
                  <a:satMod val="110000"/>
                  <a:lumMod val="100000"/>
                  <a:shade val="100000"/>
                </a:srgbClr>
              </a:gs>
              <a:gs pos="100000">
                <a:srgbClr val="4472C4">
                  <a:shade val="50000"/>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169349" tIns="169349" rIns="169349" bIns="169349" numCol="1" spcCol="1270" anchor="ctr" anchorCtr="0">
            <a:noAutofit/>
          </a:bodyPr>
          <a:lstStyle/>
          <a:p>
            <a:pPr defTabSz="1511300">
              <a:lnSpc>
                <a:spcPct val="90000"/>
              </a:lnSpc>
              <a:spcBef>
                <a:spcPct val="0"/>
              </a:spcBef>
              <a:spcAft>
                <a:spcPct val="35000"/>
              </a:spcAft>
            </a:pPr>
            <a:r>
              <a:rPr lang="en-US" sz="3200" kern="0" dirty="0">
                <a:solidFill>
                  <a:srgbClr val="FFFF00"/>
                </a:solidFill>
                <a:latin typeface="Maiandra GD" panose="020E0502030308020204" pitchFamily="34" charset="0"/>
              </a:rPr>
              <a:t>Proposed </a:t>
            </a:r>
            <a:r>
              <a:rPr lang="en-US" altLang="zh-CN" sz="3200" kern="0" dirty="0">
                <a:solidFill>
                  <a:srgbClr val="FFFF00"/>
                </a:solidFill>
                <a:latin typeface="Maiandra GD" panose="020E0502030308020204" pitchFamily="34" charset="0"/>
              </a:rPr>
              <a:t>Solution</a:t>
            </a:r>
            <a:endParaRPr lang="en-US" sz="3200" kern="0" dirty="0">
              <a:solidFill>
                <a:srgbClr val="FFFF00"/>
              </a:solidFill>
              <a:latin typeface="Maiandra GD" panose="020E0502030308020204" pitchFamily="34" charset="0"/>
            </a:endParaRPr>
          </a:p>
        </p:txBody>
      </p:sp>
      <p:pic>
        <p:nvPicPr>
          <p:cNvPr id="7" name="Picture 6" descr="A graphic of a beaker and a pencil&#10;&#10;Description automatically generated">
            <a:extLst>
              <a:ext uri="{FF2B5EF4-FFF2-40B4-BE49-F238E27FC236}">
                <a16:creationId xmlns:a16="http://schemas.microsoft.com/office/drawing/2014/main" id="{EBF8CDC1-68F7-5ECC-3AF4-CF02A977B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1520" y="4555540"/>
            <a:ext cx="815490" cy="815490"/>
          </a:xfrm>
          <a:prstGeom prst="rect">
            <a:avLst/>
          </a:prstGeom>
        </p:spPr>
      </p:pic>
      <p:pic>
        <p:nvPicPr>
          <p:cNvPr id="21" name="Picture 20" descr="A drawing of a diamond and a pen&#10;&#10;Description automatically generated">
            <a:extLst>
              <a:ext uri="{FF2B5EF4-FFF2-40B4-BE49-F238E27FC236}">
                <a16:creationId xmlns:a16="http://schemas.microsoft.com/office/drawing/2014/main" id="{73BC744D-7F46-FCF0-2F72-E983CD2763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1520" y="3103492"/>
            <a:ext cx="815490" cy="815490"/>
          </a:xfrm>
          <a:prstGeom prst="rect">
            <a:avLst/>
          </a:prstGeom>
        </p:spPr>
      </p:pic>
      <p:pic>
        <p:nvPicPr>
          <p:cNvPr id="23" name="Picture 22" descr="A stack of books on a table&#10;&#10;Description automatically generated">
            <a:extLst>
              <a:ext uri="{FF2B5EF4-FFF2-40B4-BE49-F238E27FC236}">
                <a16:creationId xmlns:a16="http://schemas.microsoft.com/office/drawing/2014/main" id="{3D3F97D2-FF83-5DF2-9AA2-31F2C0257F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3027" y="1668444"/>
            <a:ext cx="829945" cy="828324"/>
          </a:xfrm>
          <a:prstGeom prst="rect">
            <a:avLst/>
          </a:prstGeom>
        </p:spPr>
      </p:pic>
    </p:spTree>
    <p:extLst>
      <p:ext uri="{BB962C8B-B14F-4D97-AF65-F5344CB8AC3E}">
        <p14:creationId xmlns:p14="http://schemas.microsoft.com/office/powerpoint/2010/main" val="1236881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11855295"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Architecture of Distributed Streaming Algorithms </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10</a:t>
            </a:fld>
            <a:endParaRPr lang="zh-CN" altLang="en-US"/>
          </a:p>
        </p:txBody>
      </p:sp>
      <p:sp>
        <p:nvSpPr>
          <p:cNvPr id="4" name="Rectangle 3">
            <a:extLst>
              <a:ext uri="{FF2B5EF4-FFF2-40B4-BE49-F238E27FC236}">
                <a16:creationId xmlns:a16="http://schemas.microsoft.com/office/drawing/2014/main" id="{79BFAD83-65B4-A2E3-497E-7F41F7569E79}"/>
              </a:ext>
            </a:extLst>
          </p:cNvPr>
          <p:cNvSpPr/>
          <p:nvPr/>
        </p:nvSpPr>
        <p:spPr>
          <a:xfrm>
            <a:off x="6953998" y="1532784"/>
            <a:ext cx="3668701" cy="44196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4241EAC-9186-5367-6164-E982ABB0B048}"/>
              </a:ext>
            </a:extLst>
          </p:cNvPr>
          <p:cNvSpPr txBox="1"/>
          <p:nvPr/>
        </p:nvSpPr>
        <p:spPr>
          <a:xfrm>
            <a:off x="456219" y="1571202"/>
            <a:ext cx="4301762" cy="4708981"/>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Input</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Real-world source of graph streams, such as social network, traffic network, e-commerce</a:t>
            </a:r>
          </a:p>
          <a:p>
            <a:endParaRPr lang="en-US" sz="2000" dirty="0">
              <a:latin typeface="Calibri" panose="020F0502020204030204" pitchFamily="34" charset="0"/>
              <a:cs typeface="Calibri" panose="020F0502020204030204" pitchFamily="34" charset="0"/>
            </a:endParaRPr>
          </a:p>
          <a:p>
            <a:r>
              <a:rPr lang="en-US" altLang="zh-CN" sz="2000" b="1" dirty="0">
                <a:latin typeface="Calibri" panose="020F0502020204030204" pitchFamily="34" charset="0"/>
                <a:cs typeface="Calibri" panose="020F0502020204030204" pitchFamily="34" charset="0"/>
              </a:rPr>
              <a:t>Master-Workers-Aggregator (MWA)</a:t>
            </a:r>
            <a:endParaRPr lang="zh-CN" altLang="en-US" sz="2000" b="1" dirty="0">
              <a:latin typeface="Calibri" panose="020F0502020204030204" pitchFamily="34" charset="0"/>
              <a:cs typeface="Calibri" panose="020F0502020204030204" pitchFamily="34" charset="0"/>
            </a:endParaRP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Master: load balancing and edge distribution</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Worker: streaming algorithm for triangle counting </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Aggregator:  aggregate the results from all workers</a:t>
            </a:r>
          </a:p>
          <a:p>
            <a:endParaRPr lang="en-US" sz="2000" dirty="0">
              <a:latin typeface="Calibri" panose="020F0502020204030204" pitchFamily="34" charset="0"/>
              <a:cs typeface="Calibri" panose="020F0502020204030204" pitchFamily="34" charset="0"/>
            </a:endParaRPr>
          </a:p>
          <a:p>
            <a:r>
              <a:rPr lang="en-US" sz="2000" b="1" dirty="0">
                <a:latin typeface="Calibri" panose="020F0502020204030204" pitchFamily="34" charset="0"/>
                <a:cs typeface="Calibri" panose="020F0502020204030204" pitchFamily="34" charset="0"/>
              </a:rPr>
              <a:t>Output</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results of global and local counts</a:t>
            </a:r>
          </a:p>
        </p:txBody>
      </p:sp>
      <p:cxnSp>
        <p:nvCxnSpPr>
          <p:cNvPr id="11" name="Straight Arrow Connector 10">
            <a:extLst>
              <a:ext uri="{FF2B5EF4-FFF2-40B4-BE49-F238E27FC236}">
                <a16:creationId xmlns:a16="http://schemas.microsoft.com/office/drawing/2014/main" id="{C66A88EC-DCDF-74F7-8A25-845B231FFA02}"/>
              </a:ext>
            </a:extLst>
          </p:cNvPr>
          <p:cNvCxnSpPr>
            <a:cxnSpLocks/>
          </p:cNvCxnSpPr>
          <p:nvPr/>
        </p:nvCxnSpPr>
        <p:spPr>
          <a:xfrm>
            <a:off x="4404732" y="3603202"/>
            <a:ext cx="2549266" cy="139382"/>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026" name="Picture 2">
            <a:extLst>
              <a:ext uri="{FF2B5EF4-FFF2-40B4-BE49-F238E27FC236}">
                <a16:creationId xmlns:a16="http://schemas.microsoft.com/office/drawing/2014/main" id="{BFD02050-E4F5-8F24-F531-7060AD510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2950" y="1650568"/>
            <a:ext cx="6780651" cy="4184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75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754C9D-2E13-F4EC-0EA4-D9D0673D0470}"/>
              </a:ext>
            </a:extLst>
          </p:cNvPr>
          <p:cNvSpPr/>
          <p:nvPr/>
        </p:nvSpPr>
        <p:spPr>
          <a:xfrm>
            <a:off x="6095999" y="811033"/>
            <a:ext cx="781879" cy="2902226"/>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AA168C0-FA76-A7B0-4663-505D89381EEC}"/>
              </a:ext>
            </a:extLst>
          </p:cNvPr>
          <p:cNvSpPr/>
          <p:nvPr/>
        </p:nvSpPr>
        <p:spPr>
          <a:xfrm>
            <a:off x="7293692" y="1676896"/>
            <a:ext cx="937548" cy="1179449"/>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B3D6532-F427-32F6-B8B6-8F7F180E78BC}"/>
              </a:ext>
            </a:extLst>
          </p:cNvPr>
          <p:cNvSpPr/>
          <p:nvPr/>
        </p:nvSpPr>
        <p:spPr>
          <a:xfrm>
            <a:off x="3633552" y="1654233"/>
            <a:ext cx="2102230" cy="1179449"/>
          </a:xfrm>
          <a:prstGeom prst="rect">
            <a:avLst/>
          </a:prstGeom>
          <a:solidFill>
            <a:schemeClr val="accent5">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Proposed DTC-family</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11</a:t>
            </a:fld>
            <a:endParaRPr lang="zh-CN" altLang="en-US"/>
          </a:p>
        </p:txBody>
      </p:sp>
      <p:pic>
        <p:nvPicPr>
          <p:cNvPr id="34" name="Picture 33">
            <a:extLst>
              <a:ext uri="{FF2B5EF4-FFF2-40B4-BE49-F238E27FC236}">
                <a16:creationId xmlns:a16="http://schemas.microsoft.com/office/drawing/2014/main" id="{9856F468-B38C-954D-7F38-015EF23EE84E}"/>
              </a:ext>
            </a:extLst>
          </p:cNvPr>
          <p:cNvPicPr>
            <a:picLocks noChangeAspect="1"/>
          </p:cNvPicPr>
          <p:nvPr/>
        </p:nvPicPr>
        <p:blipFill rotWithShape="1">
          <a:blip r:embed="rId3"/>
          <a:srcRect l="3909"/>
          <a:stretch/>
        </p:blipFill>
        <p:spPr>
          <a:xfrm>
            <a:off x="183336" y="1356903"/>
            <a:ext cx="3203630" cy="1841595"/>
          </a:xfrm>
          <a:prstGeom prst="rect">
            <a:avLst/>
          </a:prstGeom>
        </p:spPr>
      </p:pic>
      <p:pic>
        <p:nvPicPr>
          <p:cNvPr id="40" name="Picture 39">
            <a:extLst>
              <a:ext uri="{FF2B5EF4-FFF2-40B4-BE49-F238E27FC236}">
                <a16:creationId xmlns:a16="http://schemas.microsoft.com/office/drawing/2014/main" id="{6214ABEA-080A-0A28-02B1-ECBF7C709ED3}"/>
              </a:ext>
            </a:extLst>
          </p:cNvPr>
          <p:cNvPicPr>
            <a:picLocks noChangeAspect="1"/>
          </p:cNvPicPr>
          <p:nvPr/>
        </p:nvPicPr>
        <p:blipFill rotWithShape="1">
          <a:blip r:embed="rId4"/>
          <a:srcRect l="4943" r="10917"/>
          <a:stretch/>
        </p:blipFill>
        <p:spPr>
          <a:xfrm>
            <a:off x="8787003" y="1365472"/>
            <a:ext cx="3136456" cy="1492327"/>
          </a:xfrm>
          <a:prstGeom prst="rect">
            <a:avLst/>
          </a:prstGeom>
        </p:spPr>
      </p:pic>
      <p:pic>
        <p:nvPicPr>
          <p:cNvPr id="10242" name="Picture 2">
            <a:extLst>
              <a:ext uri="{FF2B5EF4-FFF2-40B4-BE49-F238E27FC236}">
                <a16:creationId xmlns:a16="http://schemas.microsoft.com/office/drawing/2014/main" id="{17D7742B-E240-B761-6D1C-AB8DF38C47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2780" y="868969"/>
            <a:ext cx="4259232" cy="2744668"/>
          </a:xfrm>
          <a:prstGeom prst="rect">
            <a:avLst/>
          </a:prstGeom>
          <a:noFill/>
          <a:extLst>
            <a:ext uri="{909E8E84-426E-40DD-AFC4-6F175D3DCCD1}">
              <a14:hiddenFill xmlns:a14="http://schemas.microsoft.com/office/drawing/2010/main">
                <a:solidFill>
                  <a:srgbClr val="FFFFFF"/>
                </a:solidFill>
              </a14:hiddenFill>
            </a:ext>
          </a:extLst>
        </p:spPr>
      </p:pic>
      <p:sp>
        <p:nvSpPr>
          <p:cNvPr id="6" name="Arrow: Left 5">
            <a:extLst>
              <a:ext uri="{FF2B5EF4-FFF2-40B4-BE49-F238E27FC236}">
                <a16:creationId xmlns:a16="http://schemas.microsoft.com/office/drawing/2014/main" id="{574694A1-0D47-DF15-23E2-2B1B2528432D}"/>
              </a:ext>
            </a:extLst>
          </p:cNvPr>
          <p:cNvSpPr/>
          <p:nvPr/>
        </p:nvSpPr>
        <p:spPr>
          <a:xfrm>
            <a:off x="3223710" y="2069067"/>
            <a:ext cx="349135" cy="307571"/>
          </a:xfrm>
          <a:prstGeom prst="leftArrow">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Left 6">
            <a:extLst>
              <a:ext uri="{FF2B5EF4-FFF2-40B4-BE49-F238E27FC236}">
                <a16:creationId xmlns:a16="http://schemas.microsoft.com/office/drawing/2014/main" id="{448EC66F-3412-3956-C88A-77E0EAAD35B4}"/>
              </a:ext>
            </a:extLst>
          </p:cNvPr>
          <p:cNvSpPr/>
          <p:nvPr/>
        </p:nvSpPr>
        <p:spPr>
          <a:xfrm rot="10800000">
            <a:off x="8388978" y="2111636"/>
            <a:ext cx="349135" cy="307571"/>
          </a:xfrm>
          <a:prstGeom prst="leftArrow">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Left 9">
            <a:extLst>
              <a:ext uri="{FF2B5EF4-FFF2-40B4-BE49-F238E27FC236}">
                <a16:creationId xmlns:a16="http://schemas.microsoft.com/office/drawing/2014/main" id="{4F952653-C9D4-FC3C-23A6-439F74E1520F}"/>
              </a:ext>
            </a:extLst>
          </p:cNvPr>
          <p:cNvSpPr/>
          <p:nvPr/>
        </p:nvSpPr>
        <p:spPr>
          <a:xfrm rot="19114652">
            <a:off x="5168803" y="3958941"/>
            <a:ext cx="867294" cy="393827"/>
          </a:xfrm>
          <a:prstGeom prst="leftArrow">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Left 10">
            <a:extLst>
              <a:ext uri="{FF2B5EF4-FFF2-40B4-BE49-F238E27FC236}">
                <a16:creationId xmlns:a16="http://schemas.microsoft.com/office/drawing/2014/main" id="{F59BC020-83F3-BE16-84EB-7DBB9F59F141}"/>
              </a:ext>
            </a:extLst>
          </p:cNvPr>
          <p:cNvSpPr/>
          <p:nvPr/>
        </p:nvSpPr>
        <p:spPr>
          <a:xfrm rot="2485348" flipH="1">
            <a:off x="6899682" y="4008840"/>
            <a:ext cx="867294" cy="393827"/>
          </a:xfrm>
          <a:prstGeom prst="leftArrow">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C32509E-C0C7-408B-E087-8300FFF662DA}"/>
              </a:ext>
            </a:extLst>
          </p:cNvPr>
          <p:cNvSpPr txBox="1"/>
          <p:nvPr/>
        </p:nvSpPr>
        <p:spPr>
          <a:xfrm>
            <a:off x="413468" y="4525331"/>
            <a:ext cx="5794249" cy="1938992"/>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Distributed Triangle Counting with Adaptive Resampling (DTC-AR)</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achieves high accuracy by an adaptive sampling ratio method</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eliminates the need for prior knowledge about the graph streams</a:t>
            </a:r>
          </a:p>
        </p:txBody>
      </p:sp>
      <p:sp>
        <p:nvSpPr>
          <p:cNvPr id="14" name="TextBox 13">
            <a:extLst>
              <a:ext uri="{FF2B5EF4-FFF2-40B4-BE49-F238E27FC236}">
                <a16:creationId xmlns:a16="http://schemas.microsoft.com/office/drawing/2014/main" id="{2085DD7D-06E8-4367-2F95-14D7B10D7E27}"/>
              </a:ext>
            </a:extLst>
          </p:cNvPr>
          <p:cNvSpPr txBox="1"/>
          <p:nvPr/>
        </p:nvSpPr>
        <p:spPr>
          <a:xfrm>
            <a:off x="6412124" y="4600116"/>
            <a:ext cx="4842810" cy="1323439"/>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Distributed Triangle Counting in Fully Dynamic Graph Streams (DTC-FD)</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considering edge insertions and deletions across multiple machines</a:t>
            </a:r>
          </a:p>
        </p:txBody>
      </p:sp>
    </p:spTree>
    <p:extLst>
      <p:ext uri="{BB962C8B-B14F-4D97-AF65-F5344CB8AC3E}">
        <p14:creationId xmlns:p14="http://schemas.microsoft.com/office/powerpoint/2010/main" val="1152536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1000"/>
                                        <p:tgtEl>
                                          <p:spTgt spid="34"/>
                                        </p:tgtEl>
                                      </p:cBhvr>
                                    </p:animEffect>
                                    <p:anim calcmode="lin" valueType="num">
                                      <p:cBhvr>
                                        <p:cTn id="18" dur="1000" fill="hold"/>
                                        <p:tgtEl>
                                          <p:spTgt spid="34"/>
                                        </p:tgtEl>
                                        <p:attrNameLst>
                                          <p:attrName>ppt_x</p:attrName>
                                        </p:attrNameLst>
                                      </p:cBhvr>
                                      <p:tavLst>
                                        <p:tav tm="0">
                                          <p:val>
                                            <p:strVal val="#ppt_x"/>
                                          </p:val>
                                        </p:tav>
                                        <p:tav tm="100000">
                                          <p:val>
                                            <p:strVal val="#ppt_x"/>
                                          </p:val>
                                        </p:tav>
                                      </p:tavLst>
                                    </p:anim>
                                    <p:anim calcmode="lin" valueType="num">
                                      <p:cBhvr>
                                        <p:cTn id="1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7" presetClass="entr" presetSubtype="0" fill="hold"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1000"/>
                                        <p:tgtEl>
                                          <p:spTgt spid="40"/>
                                        </p:tgtEl>
                                      </p:cBhvr>
                                    </p:animEffect>
                                    <p:anim calcmode="lin" valueType="num">
                                      <p:cBhvr>
                                        <p:cTn id="35" dur="1000" fill="hold"/>
                                        <p:tgtEl>
                                          <p:spTgt spid="40"/>
                                        </p:tgtEl>
                                        <p:attrNameLst>
                                          <p:attrName>ppt_x</p:attrName>
                                        </p:attrNameLst>
                                      </p:cBhvr>
                                      <p:tavLst>
                                        <p:tav tm="0">
                                          <p:val>
                                            <p:strVal val="#ppt_x"/>
                                          </p:val>
                                        </p:tav>
                                        <p:tav tm="100000">
                                          <p:val>
                                            <p:strVal val="#ppt_x"/>
                                          </p:val>
                                        </p:tav>
                                      </p:tavLst>
                                    </p:anim>
                                    <p:anim calcmode="lin" valueType="num">
                                      <p:cBhvr>
                                        <p:cTn id="36"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7"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anim calcmode="lin" valueType="num">
                                      <p:cBhvr>
                                        <p:cTn id="47" dur="1000" fill="hold"/>
                                        <p:tgtEl>
                                          <p:spTgt spid="14"/>
                                        </p:tgtEl>
                                        <p:attrNameLst>
                                          <p:attrName>ppt_x</p:attrName>
                                        </p:attrNameLst>
                                      </p:cBhvr>
                                      <p:tavLst>
                                        <p:tav tm="0">
                                          <p:val>
                                            <p:strVal val="#ppt_x"/>
                                          </p:val>
                                        </p:tav>
                                        <p:tav tm="100000">
                                          <p:val>
                                            <p:strVal val="#ppt_x"/>
                                          </p:val>
                                        </p:tav>
                                      </p:tavLst>
                                    </p:anim>
                                    <p:anim calcmode="lin" valueType="num">
                                      <p:cBhvr>
                                        <p:cTn id="48" dur="1000" fill="hold"/>
                                        <p:tgtEl>
                                          <p:spTgt spid="14"/>
                                        </p:tgtEl>
                                        <p:attrNameLst>
                                          <p:attrName>ppt_y</p:attrName>
                                        </p:attrNameLst>
                                      </p:cBhvr>
                                      <p:tavLst>
                                        <p:tav tm="0">
                                          <p:val>
                                            <p:strVal val="#ppt_y-.1"/>
                                          </p:val>
                                        </p:tav>
                                        <p:tav tm="100000">
                                          <p:val>
                                            <p:strVal val="#ppt_y"/>
                                          </p:val>
                                        </p:tav>
                                      </p:tavLst>
                                    </p:anim>
                                  </p:childTnLst>
                                </p:cTn>
                              </p:par>
                              <p:par>
                                <p:cTn id="49" presetID="47"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1000"/>
                                        <p:tgtEl>
                                          <p:spTgt spid="9"/>
                                        </p:tgtEl>
                                      </p:cBhvr>
                                    </p:animEffect>
                                    <p:anim calcmode="lin" valueType="num">
                                      <p:cBhvr>
                                        <p:cTn id="52" dur="1000" fill="hold"/>
                                        <p:tgtEl>
                                          <p:spTgt spid="9"/>
                                        </p:tgtEl>
                                        <p:attrNameLst>
                                          <p:attrName>ppt_x</p:attrName>
                                        </p:attrNameLst>
                                      </p:cBhvr>
                                      <p:tavLst>
                                        <p:tav tm="0">
                                          <p:val>
                                            <p:strVal val="#ppt_x"/>
                                          </p:val>
                                        </p:tav>
                                        <p:tav tm="100000">
                                          <p:val>
                                            <p:strVal val="#ppt_x"/>
                                          </p:val>
                                        </p:tav>
                                      </p:tavLst>
                                    </p:anim>
                                    <p:anim calcmode="lin" valueType="num">
                                      <p:cBhvr>
                                        <p:cTn id="53" dur="1000" fill="hold"/>
                                        <p:tgtEl>
                                          <p:spTgt spid="9"/>
                                        </p:tgtEl>
                                        <p:attrNameLst>
                                          <p:attrName>ppt_y</p:attrName>
                                        </p:attrNameLst>
                                      </p:cBhvr>
                                      <p:tavLst>
                                        <p:tav tm="0">
                                          <p:val>
                                            <p:strVal val="#ppt_y-.1"/>
                                          </p:val>
                                        </p:tav>
                                        <p:tav tm="100000">
                                          <p:val>
                                            <p:strVal val="#ppt_y"/>
                                          </p:val>
                                        </p:tav>
                                      </p:tavLst>
                                    </p:anim>
                                  </p:childTnLst>
                                </p:cTn>
                              </p:par>
                              <p:par>
                                <p:cTn id="54" presetID="47" presetClass="entr" presetSubtype="0" fill="hold" grpId="0" nodeType="with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par>
                                <p:cTn id="59" presetID="47" presetClass="entr" presetSubtype="0" fill="hold" grpId="0" nodeType="with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1000"/>
                                        <p:tgtEl>
                                          <p:spTgt spid="11"/>
                                        </p:tgtEl>
                                      </p:cBhvr>
                                    </p:animEffect>
                                    <p:anim calcmode="lin" valueType="num">
                                      <p:cBhvr>
                                        <p:cTn id="62" dur="1000" fill="hold"/>
                                        <p:tgtEl>
                                          <p:spTgt spid="11"/>
                                        </p:tgtEl>
                                        <p:attrNameLst>
                                          <p:attrName>ppt_x</p:attrName>
                                        </p:attrNameLst>
                                      </p:cBhvr>
                                      <p:tavLst>
                                        <p:tav tm="0">
                                          <p:val>
                                            <p:strVal val="#ppt_x"/>
                                          </p:val>
                                        </p:tav>
                                        <p:tav tm="100000">
                                          <p:val>
                                            <p:strVal val="#ppt_x"/>
                                          </p:val>
                                        </p:tav>
                                      </p:tavLst>
                                    </p:anim>
                                    <p:anim calcmode="lin" valueType="num">
                                      <p:cBhvr>
                                        <p:cTn id="6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4" grpId="0" animBg="1"/>
      <p:bldP spid="6" grpId="0" animBg="1"/>
      <p:bldP spid="7" grpId="0" animBg="1"/>
      <p:bldP spid="10" grpId="0" animBg="1"/>
      <p:bldP spid="11" grpId="0" animBg="1"/>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Proposed DTC-AR</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12</a:t>
            </a:fld>
            <a:endParaRPr lang="zh-CN" altLang="en-US"/>
          </a:p>
        </p:txBody>
      </p:sp>
      <p:pic>
        <p:nvPicPr>
          <p:cNvPr id="4" name="Picture 3">
            <a:extLst>
              <a:ext uri="{FF2B5EF4-FFF2-40B4-BE49-F238E27FC236}">
                <a16:creationId xmlns:a16="http://schemas.microsoft.com/office/drawing/2014/main" id="{7E56927E-102A-454B-729D-733234EAED24}"/>
              </a:ext>
            </a:extLst>
          </p:cNvPr>
          <p:cNvPicPr>
            <a:picLocks noChangeAspect="1"/>
          </p:cNvPicPr>
          <p:nvPr/>
        </p:nvPicPr>
        <p:blipFill rotWithShape="1">
          <a:blip r:embed="rId3"/>
          <a:srcRect l="4840"/>
          <a:stretch/>
        </p:blipFill>
        <p:spPr>
          <a:xfrm>
            <a:off x="7541290" y="857204"/>
            <a:ext cx="3529080" cy="4838949"/>
          </a:xfrm>
          <a:prstGeom prst="rect">
            <a:avLst/>
          </a:prstGeom>
          <a:ln>
            <a:solidFill>
              <a:schemeClr val="tx1"/>
            </a:solidFill>
          </a:ln>
        </p:spPr>
      </p:pic>
      <p:sp>
        <p:nvSpPr>
          <p:cNvPr id="36" name="TextBox 35">
            <a:extLst>
              <a:ext uri="{FF2B5EF4-FFF2-40B4-BE49-F238E27FC236}">
                <a16:creationId xmlns:a16="http://schemas.microsoft.com/office/drawing/2014/main" id="{8823D2BB-2119-5781-D0B1-83381AB024F5}"/>
              </a:ext>
            </a:extLst>
          </p:cNvPr>
          <p:cNvSpPr txBox="1"/>
          <p:nvPr/>
        </p:nvSpPr>
        <p:spPr>
          <a:xfrm>
            <a:off x="1121630" y="1329067"/>
            <a:ext cx="5794249" cy="2246769"/>
          </a:xfrm>
          <a:prstGeom prst="rect">
            <a:avLst/>
          </a:prstGeom>
          <a:noFill/>
        </p:spPr>
        <p:txBody>
          <a:bodyPr wrap="square">
            <a:spAutoFit/>
          </a:bodyPr>
          <a:lstStyle/>
          <a:p>
            <a:pPr marL="0" indent="0">
              <a:buNone/>
            </a:pPr>
            <a:r>
              <a:rPr lang="en-US" altLang="en-US" sz="2000" b="1" dirty="0">
                <a:latin typeface="Calibri" panose="020F0502020204030204" pitchFamily="34" charset="0"/>
                <a:cs typeface="Calibri" panose="020F0502020204030204" pitchFamily="34" charset="0"/>
              </a:rPr>
              <a:t>Distributed Triangle Counting with Adaptive Resampling (DTC-AR)</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Incremental sample maintenance</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Preserve Sampling Fairness</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Efficient Resource Utilization</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Avoid external storage access</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Single-pass streaming algorithm</a:t>
            </a:r>
          </a:p>
        </p:txBody>
      </p:sp>
      <p:pic>
        <p:nvPicPr>
          <p:cNvPr id="38" name="Picture 37">
            <a:extLst>
              <a:ext uri="{FF2B5EF4-FFF2-40B4-BE49-F238E27FC236}">
                <a16:creationId xmlns:a16="http://schemas.microsoft.com/office/drawing/2014/main" id="{DF6F3281-5E58-99F9-0ABC-2460B75AE320}"/>
              </a:ext>
            </a:extLst>
          </p:cNvPr>
          <p:cNvPicPr>
            <a:picLocks noChangeAspect="1"/>
          </p:cNvPicPr>
          <p:nvPr/>
        </p:nvPicPr>
        <p:blipFill>
          <a:blip r:embed="rId4"/>
          <a:stretch>
            <a:fillRect/>
          </a:stretch>
        </p:blipFill>
        <p:spPr>
          <a:xfrm>
            <a:off x="4542950" y="4905735"/>
            <a:ext cx="2523307" cy="1078616"/>
          </a:xfrm>
          <a:prstGeom prst="rect">
            <a:avLst/>
          </a:prstGeom>
          <a:ln>
            <a:solidFill>
              <a:schemeClr val="tx1"/>
            </a:solidFill>
          </a:ln>
        </p:spPr>
      </p:pic>
      <p:pic>
        <p:nvPicPr>
          <p:cNvPr id="6148" name="Picture 4">
            <a:extLst>
              <a:ext uri="{FF2B5EF4-FFF2-40B4-BE49-F238E27FC236}">
                <a16:creationId xmlns:a16="http://schemas.microsoft.com/office/drawing/2014/main" id="{946D8619-DECF-71EE-EE4C-DAEF5FF4B9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6790" y="3868583"/>
            <a:ext cx="2998644" cy="2636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6782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Proposed DTC-FD</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13</a:t>
            </a:fld>
            <a:endParaRPr lang="zh-CN" altLang="en-US"/>
          </a:p>
        </p:txBody>
      </p:sp>
      <p:sp>
        <p:nvSpPr>
          <p:cNvPr id="7" name="TextBox 6">
            <a:extLst>
              <a:ext uri="{FF2B5EF4-FFF2-40B4-BE49-F238E27FC236}">
                <a16:creationId xmlns:a16="http://schemas.microsoft.com/office/drawing/2014/main" id="{F395B80D-9C57-E0FC-85FC-F41A29B62D1A}"/>
              </a:ext>
            </a:extLst>
          </p:cNvPr>
          <p:cNvSpPr txBox="1"/>
          <p:nvPr/>
        </p:nvSpPr>
        <p:spPr>
          <a:xfrm>
            <a:off x="631839" y="1363698"/>
            <a:ext cx="6121299" cy="1938992"/>
          </a:xfrm>
          <a:prstGeom prst="rect">
            <a:avLst/>
          </a:prstGeom>
          <a:noFill/>
        </p:spPr>
        <p:txBody>
          <a:bodyPr wrap="square">
            <a:spAutoFit/>
          </a:bodyPr>
          <a:lstStyle/>
          <a:p>
            <a:pPr marL="0" indent="0">
              <a:buNone/>
            </a:pPr>
            <a:r>
              <a:rPr lang="en-US" altLang="en-US" sz="2000" b="1" dirty="0">
                <a:latin typeface="Calibri" panose="020F0502020204030204" pitchFamily="34" charset="0"/>
                <a:cs typeface="Calibri" panose="020F0502020204030204" pitchFamily="34" charset="0"/>
              </a:rPr>
              <a:t>Distributed Triangle Counting in Fully Dynamic Graph Streams (DTC-FD)</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Support fully dynamic graph streams using future edge insertions to compensate for previous deletions</a:t>
            </a:r>
          </a:p>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Single-pass streaming algorithm</a:t>
            </a:r>
          </a:p>
          <a:p>
            <a:pPr marL="342900" indent="-342900">
              <a:buFont typeface="Courier New" panose="02070309020205020404" pitchFamily="49" charset="0"/>
              <a:buChar char="o"/>
            </a:pPr>
            <a:endParaRPr lang="en-US" sz="2000"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C7215DAE-FDA1-2CA5-B145-BCE8E276344F}"/>
              </a:ext>
            </a:extLst>
          </p:cNvPr>
          <p:cNvPicPr>
            <a:picLocks noChangeAspect="1"/>
          </p:cNvPicPr>
          <p:nvPr/>
        </p:nvPicPr>
        <p:blipFill>
          <a:blip r:embed="rId3"/>
          <a:stretch>
            <a:fillRect/>
          </a:stretch>
        </p:blipFill>
        <p:spPr>
          <a:xfrm>
            <a:off x="7735006" y="442509"/>
            <a:ext cx="3730812" cy="5656747"/>
          </a:xfrm>
          <a:prstGeom prst="rect">
            <a:avLst/>
          </a:prstGeom>
          <a:ln>
            <a:solidFill>
              <a:schemeClr val="tx1"/>
            </a:solidFill>
          </a:ln>
        </p:spPr>
      </p:pic>
      <p:pic>
        <p:nvPicPr>
          <p:cNvPr id="11" name="Picture 10">
            <a:extLst>
              <a:ext uri="{FF2B5EF4-FFF2-40B4-BE49-F238E27FC236}">
                <a16:creationId xmlns:a16="http://schemas.microsoft.com/office/drawing/2014/main" id="{029E3FB6-1DC6-68E8-B9EF-8A9E649B0D36}"/>
              </a:ext>
            </a:extLst>
          </p:cNvPr>
          <p:cNvPicPr>
            <a:picLocks noChangeAspect="1"/>
          </p:cNvPicPr>
          <p:nvPr/>
        </p:nvPicPr>
        <p:blipFill>
          <a:blip r:embed="rId4"/>
          <a:stretch>
            <a:fillRect/>
          </a:stretch>
        </p:blipFill>
        <p:spPr>
          <a:xfrm>
            <a:off x="1403276" y="5667646"/>
            <a:ext cx="4654624" cy="863221"/>
          </a:xfrm>
          <a:prstGeom prst="rect">
            <a:avLst/>
          </a:prstGeom>
          <a:ln>
            <a:solidFill>
              <a:schemeClr val="tx1"/>
            </a:solidFill>
          </a:ln>
        </p:spPr>
      </p:pic>
      <p:pic>
        <p:nvPicPr>
          <p:cNvPr id="15364" name="Picture 4">
            <a:extLst>
              <a:ext uri="{FF2B5EF4-FFF2-40B4-BE49-F238E27FC236}">
                <a16:creationId xmlns:a16="http://schemas.microsoft.com/office/drawing/2014/main" id="{7FED0E4E-B003-9C2F-C6BE-14EF13A3BC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708" y="3906951"/>
            <a:ext cx="5697370" cy="1442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02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Outline</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14</a:t>
            </a:fld>
            <a:endParaRPr lang="zh-CN" altLang="en-US"/>
          </a:p>
        </p:txBody>
      </p:sp>
      <p:sp>
        <p:nvSpPr>
          <p:cNvPr id="6" name="Freeform: Shape 5">
            <a:extLst>
              <a:ext uri="{FF2B5EF4-FFF2-40B4-BE49-F238E27FC236}">
                <a16:creationId xmlns:a16="http://schemas.microsoft.com/office/drawing/2014/main" id="{24C6E462-CBE0-A8F7-D52F-A36EC8EA204B}"/>
              </a:ext>
            </a:extLst>
          </p:cNvPr>
          <p:cNvSpPr/>
          <p:nvPr/>
        </p:nvSpPr>
        <p:spPr>
          <a:xfrm>
            <a:off x="3051679" y="1583731"/>
            <a:ext cx="6012441" cy="815490"/>
          </a:xfrm>
          <a:custGeom>
            <a:avLst/>
            <a:gdLst>
              <a:gd name="connsiteX0" fmla="*/ 0 w 6012441"/>
              <a:gd name="connsiteY0" fmla="*/ 135918 h 815490"/>
              <a:gd name="connsiteX1" fmla="*/ 135918 w 6012441"/>
              <a:gd name="connsiteY1" fmla="*/ 0 h 815490"/>
              <a:gd name="connsiteX2" fmla="*/ 5876523 w 6012441"/>
              <a:gd name="connsiteY2" fmla="*/ 0 h 815490"/>
              <a:gd name="connsiteX3" fmla="*/ 6012441 w 6012441"/>
              <a:gd name="connsiteY3" fmla="*/ 135918 h 815490"/>
              <a:gd name="connsiteX4" fmla="*/ 6012441 w 6012441"/>
              <a:gd name="connsiteY4" fmla="*/ 679572 h 815490"/>
              <a:gd name="connsiteX5" fmla="*/ 5876523 w 6012441"/>
              <a:gd name="connsiteY5" fmla="*/ 815490 h 815490"/>
              <a:gd name="connsiteX6" fmla="*/ 135918 w 6012441"/>
              <a:gd name="connsiteY6" fmla="*/ 815490 h 815490"/>
              <a:gd name="connsiteX7" fmla="*/ 0 w 6012441"/>
              <a:gd name="connsiteY7" fmla="*/ 679572 h 815490"/>
              <a:gd name="connsiteX8" fmla="*/ 0 w 6012441"/>
              <a:gd name="connsiteY8" fmla="*/ 135918 h 8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2441" h="815490">
                <a:moveTo>
                  <a:pt x="0" y="135918"/>
                </a:moveTo>
                <a:cubicBezTo>
                  <a:pt x="0" y="60853"/>
                  <a:pt x="60853" y="0"/>
                  <a:pt x="135918" y="0"/>
                </a:cubicBezTo>
                <a:lnTo>
                  <a:pt x="5876523" y="0"/>
                </a:lnTo>
                <a:cubicBezTo>
                  <a:pt x="5951588" y="0"/>
                  <a:pt x="6012441" y="60853"/>
                  <a:pt x="6012441" y="135918"/>
                </a:cubicBezTo>
                <a:lnTo>
                  <a:pt x="6012441" y="679572"/>
                </a:lnTo>
                <a:cubicBezTo>
                  <a:pt x="6012441" y="754637"/>
                  <a:pt x="5951588" y="815490"/>
                  <a:pt x="5876523" y="815490"/>
                </a:cubicBezTo>
                <a:lnTo>
                  <a:pt x="135918" y="815490"/>
                </a:lnTo>
                <a:cubicBezTo>
                  <a:pt x="60853" y="815490"/>
                  <a:pt x="0" y="754637"/>
                  <a:pt x="0" y="679572"/>
                </a:cubicBezTo>
                <a:lnTo>
                  <a:pt x="0" y="135918"/>
                </a:lnTo>
                <a:close/>
              </a:path>
            </a:pathLst>
          </a:custGeom>
          <a:gradFill rotWithShape="1">
            <a:gsLst>
              <a:gs pos="0">
                <a:srgbClr val="4472C4">
                  <a:shade val="50000"/>
                  <a:hueOff val="0"/>
                  <a:satOff val="0"/>
                  <a:lumOff val="0"/>
                  <a:alphaOff val="0"/>
                  <a:satMod val="103000"/>
                  <a:lumMod val="102000"/>
                  <a:tint val="94000"/>
                </a:srgbClr>
              </a:gs>
              <a:gs pos="50000">
                <a:srgbClr val="4472C4">
                  <a:shade val="50000"/>
                  <a:hueOff val="0"/>
                  <a:satOff val="0"/>
                  <a:lumOff val="0"/>
                  <a:alphaOff val="0"/>
                  <a:satMod val="110000"/>
                  <a:lumMod val="100000"/>
                  <a:shade val="100000"/>
                </a:srgbClr>
              </a:gs>
              <a:gs pos="100000">
                <a:srgbClr val="4472C4">
                  <a:shade val="50000"/>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169349" tIns="169349" rIns="169349" bIns="169349" numCol="1" spcCol="1270" anchor="ctr" anchorCtr="0">
            <a:noAutofit/>
          </a:bodyPr>
          <a:lstStyle/>
          <a:p>
            <a:pPr marL="0" marR="0" lvl="0" indent="0" defTabSz="1511300" eaLnBrk="1" fontAlgn="auto" latinLnBrk="0" hangingPunct="1">
              <a:lnSpc>
                <a:spcPct val="90000"/>
              </a:lnSpc>
              <a:spcBef>
                <a:spcPct val="0"/>
              </a:spcBef>
              <a:spcAft>
                <a:spcPct val="3500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Maiandra GD" panose="020E0502030308020204" pitchFamily="34" charset="0"/>
              </a:rPr>
              <a:t>Background and Related Work </a:t>
            </a:r>
          </a:p>
        </p:txBody>
      </p:sp>
      <p:sp>
        <p:nvSpPr>
          <p:cNvPr id="8" name="Freeform: Shape 7">
            <a:extLst>
              <a:ext uri="{FF2B5EF4-FFF2-40B4-BE49-F238E27FC236}">
                <a16:creationId xmlns:a16="http://schemas.microsoft.com/office/drawing/2014/main" id="{A7BC5A78-36F1-F9B5-49B6-6A6102AE5BFE}"/>
              </a:ext>
            </a:extLst>
          </p:cNvPr>
          <p:cNvSpPr/>
          <p:nvPr/>
        </p:nvSpPr>
        <p:spPr>
          <a:xfrm>
            <a:off x="3051677" y="4548826"/>
            <a:ext cx="6012441" cy="815490"/>
          </a:xfrm>
          <a:custGeom>
            <a:avLst/>
            <a:gdLst>
              <a:gd name="connsiteX0" fmla="*/ 0 w 6012441"/>
              <a:gd name="connsiteY0" fmla="*/ 135918 h 815490"/>
              <a:gd name="connsiteX1" fmla="*/ 135918 w 6012441"/>
              <a:gd name="connsiteY1" fmla="*/ 0 h 815490"/>
              <a:gd name="connsiteX2" fmla="*/ 5876523 w 6012441"/>
              <a:gd name="connsiteY2" fmla="*/ 0 h 815490"/>
              <a:gd name="connsiteX3" fmla="*/ 6012441 w 6012441"/>
              <a:gd name="connsiteY3" fmla="*/ 135918 h 815490"/>
              <a:gd name="connsiteX4" fmla="*/ 6012441 w 6012441"/>
              <a:gd name="connsiteY4" fmla="*/ 679572 h 815490"/>
              <a:gd name="connsiteX5" fmla="*/ 5876523 w 6012441"/>
              <a:gd name="connsiteY5" fmla="*/ 815490 h 815490"/>
              <a:gd name="connsiteX6" fmla="*/ 135918 w 6012441"/>
              <a:gd name="connsiteY6" fmla="*/ 815490 h 815490"/>
              <a:gd name="connsiteX7" fmla="*/ 0 w 6012441"/>
              <a:gd name="connsiteY7" fmla="*/ 679572 h 815490"/>
              <a:gd name="connsiteX8" fmla="*/ 0 w 6012441"/>
              <a:gd name="connsiteY8" fmla="*/ 135918 h 8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2441" h="815490">
                <a:moveTo>
                  <a:pt x="0" y="135918"/>
                </a:moveTo>
                <a:cubicBezTo>
                  <a:pt x="0" y="60853"/>
                  <a:pt x="60853" y="0"/>
                  <a:pt x="135918" y="0"/>
                </a:cubicBezTo>
                <a:lnTo>
                  <a:pt x="5876523" y="0"/>
                </a:lnTo>
                <a:cubicBezTo>
                  <a:pt x="5951588" y="0"/>
                  <a:pt x="6012441" y="60853"/>
                  <a:pt x="6012441" y="135918"/>
                </a:cubicBezTo>
                <a:lnTo>
                  <a:pt x="6012441" y="679572"/>
                </a:lnTo>
                <a:cubicBezTo>
                  <a:pt x="6012441" y="754637"/>
                  <a:pt x="5951588" y="815490"/>
                  <a:pt x="5876523" y="815490"/>
                </a:cubicBezTo>
                <a:lnTo>
                  <a:pt x="135918" y="815490"/>
                </a:lnTo>
                <a:cubicBezTo>
                  <a:pt x="60853" y="815490"/>
                  <a:pt x="0" y="754637"/>
                  <a:pt x="0" y="679572"/>
                </a:cubicBezTo>
                <a:lnTo>
                  <a:pt x="0" y="135918"/>
                </a:lnTo>
                <a:close/>
              </a:path>
            </a:pathLst>
          </a:custGeom>
          <a:gradFill rotWithShape="1">
            <a:gsLst>
              <a:gs pos="0">
                <a:srgbClr val="4472C4">
                  <a:shade val="50000"/>
                  <a:hueOff val="0"/>
                  <a:satOff val="0"/>
                  <a:lumOff val="0"/>
                  <a:alphaOff val="0"/>
                  <a:satMod val="103000"/>
                  <a:lumMod val="102000"/>
                  <a:tint val="94000"/>
                </a:srgbClr>
              </a:gs>
              <a:gs pos="50000">
                <a:srgbClr val="4472C4">
                  <a:shade val="50000"/>
                  <a:hueOff val="0"/>
                  <a:satOff val="0"/>
                  <a:lumOff val="0"/>
                  <a:alphaOff val="0"/>
                  <a:satMod val="110000"/>
                  <a:lumMod val="100000"/>
                  <a:shade val="100000"/>
                </a:srgbClr>
              </a:gs>
              <a:gs pos="100000">
                <a:srgbClr val="4472C4">
                  <a:shade val="50000"/>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169349" tIns="169349" rIns="169349" bIns="169349" numCol="1" spcCol="1270" anchor="ctr" anchorCtr="0">
            <a:noAutofit/>
          </a:bodyPr>
          <a:lstStyle/>
          <a:p>
            <a:pPr defTabSz="1511300">
              <a:lnSpc>
                <a:spcPct val="90000"/>
              </a:lnSpc>
              <a:spcBef>
                <a:spcPct val="0"/>
              </a:spcBef>
              <a:spcAft>
                <a:spcPct val="35000"/>
              </a:spcAft>
            </a:pPr>
            <a:r>
              <a:rPr lang="en-US" sz="3200" kern="0" dirty="0">
                <a:solidFill>
                  <a:srgbClr val="FFFF00"/>
                </a:solidFill>
                <a:latin typeface="Maiandra GD" panose="020E0502030308020204" pitchFamily="34" charset="0"/>
              </a:rPr>
              <a:t>Experiments and Conclusion</a:t>
            </a:r>
            <a:r>
              <a:rPr lang="en-US" altLang="zh-CN" sz="3200" kern="0" dirty="0">
                <a:solidFill>
                  <a:srgbClr val="FFFF00"/>
                </a:solidFill>
                <a:latin typeface="Maiandra GD" panose="020E0502030308020204" pitchFamily="34" charset="0"/>
              </a:rPr>
              <a:t>s</a:t>
            </a:r>
            <a:endParaRPr lang="en-US" sz="3200" kern="0" dirty="0">
              <a:solidFill>
                <a:srgbClr val="FFFF00"/>
              </a:solidFill>
              <a:latin typeface="Maiandra GD" panose="020E0502030308020204" pitchFamily="34" charset="0"/>
            </a:endParaRPr>
          </a:p>
        </p:txBody>
      </p:sp>
      <p:sp>
        <p:nvSpPr>
          <p:cNvPr id="17" name="Freeform: Shape 16">
            <a:extLst>
              <a:ext uri="{FF2B5EF4-FFF2-40B4-BE49-F238E27FC236}">
                <a16:creationId xmlns:a16="http://schemas.microsoft.com/office/drawing/2014/main" id="{8FDB8730-7EDF-883D-7A75-CB90B609F541}"/>
              </a:ext>
            </a:extLst>
          </p:cNvPr>
          <p:cNvSpPr/>
          <p:nvPr/>
        </p:nvSpPr>
        <p:spPr>
          <a:xfrm>
            <a:off x="3051677" y="3066278"/>
            <a:ext cx="6012441" cy="815490"/>
          </a:xfrm>
          <a:custGeom>
            <a:avLst/>
            <a:gdLst>
              <a:gd name="connsiteX0" fmla="*/ 0 w 6012441"/>
              <a:gd name="connsiteY0" fmla="*/ 135918 h 815490"/>
              <a:gd name="connsiteX1" fmla="*/ 135918 w 6012441"/>
              <a:gd name="connsiteY1" fmla="*/ 0 h 815490"/>
              <a:gd name="connsiteX2" fmla="*/ 5876523 w 6012441"/>
              <a:gd name="connsiteY2" fmla="*/ 0 h 815490"/>
              <a:gd name="connsiteX3" fmla="*/ 6012441 w 6012441"/>
              <a:gd name="connsiteY3" fmla="*/ 135918 h 815490"/>
              <a:gd name="connsiteX4" fmla="*/ 6012441 w 6012441"/>
              <a:gd name="connsiteY4" fmla="*/ 679572 h 815490"/>
              <a:gd name="connsiteX5" fmla="*/ 5876523 w 6012441"/>
              <a:gd name="connsiteY5" fmla="*/ 815490 h 815490"/>
              <a:gd name="connsiteX6" fmla="*/ 135918 w 6012441"/>
              <a:gd name="connsiteY6" fmla="*/ 815490 h 815490"/>
              <a:gd name="connsiteX7" fmla="*/ 0 w 6012441"/>
              <a:gd name="connsiteY7" fmla="*/ 679572 h 815490"/>
              <a:gd name="connsiteX8" fmla="*/ 0 w 6012441"/>
              <a:gd name="connsiteY8" fmla="*/ 135918 h 815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2441" h="815490">
                <a:moveTo>
                  <a:pt x="0" y="135918"/>
                </a:moveTo>
                <a:cubicBezTo>
                  <a:pt x="0" y="60853"/>
                  <a:pt x="60853" y="0"/>
                  <a:pt x="135918" y="0"/>
                </a:cubicBezTo>
                <a:lnTo>
                  <a:pt x="5876523" y="0"/>
                </a:lnTo>
                <a:cubicBezTo>
                  <a:pt x="5951588" y="0"/>
                  <a:pt x="6012441" y="60853"/>
                  <a:pt x="6012441" y="135918"/>
                </a:cubicBezTo>
                <a:lnTo>
                  <a:pt x="6012441" y="679572"/>
                </a:lnTo>
                <a:cubicBezTo>
                  <a:pt x="6012441" y="754637"/>
                  <a:pt x="5951588" y="815490"/>
                  <a:pt x="5876523" y="815490"/>
                </a:cubicBezTo>
                <a:lnTo>
                  <a:pt x="135918" y="815490"/>
                </a:lnTo>
                <a:cubicBezTo>
                  <a:pt x="60853" y="815490"/>
                  <a:pt x="0" y="754637"/>
                  <a:pt x="0" y="679572"/>
                </a:cubicBezTo>
                <a:lnTo>
                  <a:pt x="0" y="135918"/>
                </a:lnTo>
                <a:close/>
              </a:path>
            </a:pathLst>
          </a:custGeom>
          <a:gradFill rotWithShape="1">
            <a:gsLst>
              <a:gs pos="0">
                <a:srgbClr val="4472C4">
                  <a:shade val="50000"/>
                  <a:hueOff val="0"/>
                  <a:satOff val="0"/>
                  <a:lumOff val="0"/>
                  <a:alphaOff val="0"/>
                  <a:satMod val="103000"/>
                  <a:lumMod val="102000"/>
                  <a:tint val="94000"/>
                </a:srgbClr>
              </a:gs>
              <a:gs pos="50000">
                <a:srgbClr val="4472C4">
                  <a:shade val="50000"/>
                  <a:hueOff val="0"/>
                  <a:satOff val="0"/>
                  <a:lumOff val="0"/>
                  <a:alphaOff val="0"/>
                  <a:satMod val="110000"/>
                  <a:lumMod val="100000"/>
                  <a:shade val="100000"/>
                </a:srgbClr>
              </a:gs>
              <a:gs pos="100000">
                <a:srgbClr val="4472C4">
                  <a:shade val="50000"/>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169349" tIns="169349" rIns="169349" bIns="169349" numCol="1" spcCol="1270" anchor="ctr" anchorCtr="0">
            <a:noAutofit/>
          </a:bodyPr>
          <a:lstStyle/>
          <a:p>
            <a:pPr defTabSz="1511300">
              <a:lnSpc>
                <a:spcPct val="90000"/>
              </a:lnSpc>
              <a:spcBef>
                <a:spcPct val="0"/>
              </a:spcBef>
              <a:spcAft>
                <a:spcPct val="35000"/>
              </a:spcAft>
            </a:pPr>
            <a:r>
              <a:rPr lang="en-US" sz="3200" kern="0" dirty="0">
                <a:solidFill>
                  <a:schemeClr val="bg1"/>
                </a:solidFill>
                <a:latin typeface="Maiandra GD" panose="020E0502030308020204" pitchFamily="34" charset="0"/>
              </a:rPr>
              <a:t>Proposed </a:t>
            </a:r>
            <a:r>
              <a:rPr lang="en-US" altLang="zh-CN" sz="3200" kern="0" dirty="0">
                <a:solidFill>
                  <a:schemeClr val="bg1"/>
                </a:solidFill>
                <a:latin typeface="Maiandra GD" panose="020E0502030308020204" pitchFamily="34" charset="0"/>
              </a:rPr>
              <a:t>Solution</a:t>
            </a:r>
            <a:endParaRPr lang="en-US" sz="3200" kern="0" dirty="0">
              <a:solidFill>
                <a:schemeClr val="bg1"/>
              </a:solidFill>
              <a:latin typeface="Maiandra GD" panose="020E0502030308020204" pitchFamily="34" charset="0"/>
            </a:endParaRPr>
          </a:p>
        </p:txBody>
      </p:sp>
      <p:pic>
        <p:nvPicPr>
          <p:cNvPr id="7" name="Picture 6" descr="A graphic of a beaker and a pencil&#10;&#10;Description automatically generated">
            <a:extLst>
              <a:ext uri="{FF2B5EF4-FFF2-40B4-BE49-F238E27FC236}">
                <a16:creationId xmlns:a16="http://schemas.microsoft.com/office/drawing/2014/main" id="{EBF8CDC1-68F7-5ECC-3AF4-CF02A977B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1520" y="4555540"/>
            <a:ext cx="815490" cy="815490"/>
          </a:xfrm>
          <a:prstGeom prst="rect">
            <a:avLst/>
          </a:prstGeom>
        </p:spPr>
      </p:pic>
      <p:pic>
        <p:nvPicPr>
          <p:cNvPr id="21" name="Picture 20" descr="A drawing of a diamond and a pen&#10;&#10;Description automatically generated">
            <a:extLst>
              <a:ext uri="{FF2B5EF4-FFF2-40B4-BE49-F238E27FC236}">
                <a16:creationId xmlns:a16="http://schemas.microsoft.com/office/drawing/2014/main" id="{73BC744D-7F46-FCF0-2F72-E983CD2763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1520" y="3103492"/>
            <a:ext cx="815490" cy="815490"/>
          </a:xfrm>
          <a:prstGeom prst="rect">
            <a:avLst/>
          </a:prstGeom>
        </p:spPr>
      </p:pic>
      <p:pic>
        <p:nvPicPr>
          <p:cNvPr id="23" name="Picture 22" descr="A stack of books on a table&#10;&#10;Description automatically generated">
            <a:extLst>
              <a:ext uri="{FF2B5EF4-FFF2-40B4-BE49-F238E27FC236}">
                <a16:creationId xmlns:a16="http://schemas.microsoft.com/office/drawing/2014/main" id="{3D3F97D2-FF83-5DF2-9AA2-31F2C0257F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3027" y="1668444"/>
            <a:ext cx="829945" cy="828324"/>
          </a:xfrm>
          <a:prstGeom prst="rect">
            <a:avLst/>
          </a:prstGeom>
        </p:spPr>
      </p:pic>
    </p:spTree>
    <p:extLst>
      <p:ext uri="{BB962C8B-B14F-4D97-AF65-F5344CB8AC3E}">
        <p14:creationId xmlns:p14="http://schemas.microsoft.com/office/powerpoint/2010/main" val="987032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Evaluation Setup</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15</a:t>
            </a:fld>
            <a:endParaRPr lang="zh-CN" altLang="en-US" dirty="0"/>
          </a:p>
        </p:txBody>
      </p:sp>
      <p:sp>
        <p:nvSpPr>
          <p:cNvPr id="6" name="内容占位符 2">
            <a:extLst>
              <a:ext uri="{FF2B5EF4-FFF2-40B4-BE49-F238E27FC236}">
                <a16:creationId xmlns:a16="http://schemas.microsoft.com/office/drawing/2014/main" id="{08892CB7-BB40-0FFC-DF03-F29EB9725A23}"/>
              </a:ext>
            </a:extLst>
          </p:cNvPr>
          <p:cNvSpPr>
            <a:spLocks noGrp="1"/>
          </p:cNvSpPr>
          <p:nvPr>
            <p:ph idx="1"/>
          </p:nvPr>
        </p:nvSpPr>
        <p:spPr>
          <a:xfrm>
            <a:off x="696021" y="1143307"/>
            <a:ext cx="5735700" cy="3055582"/>
          </a:xfrm>
        </p:spPr>
        <p:txBody>
          <a:bodyPr>
            <a:normAutofit fontScale="85000" lnSpcReduction="20000"/>
          </a:bodyPr>
          <a:lstStyle/>
          <a:p>
            <a:r>
              <a:rPr lang="en-US" altLang="zh-CN" b="1" dirty="0">
                <a:latin typeface="Calibri" panose="020F0502020204030204" pitchFamily="34" charset="0"/>
                <a:cs typeface="Calibri" panose="020F0502020204030204" pitchFamily="34" charset="0"/>
              </a:rPr>
              <a:t>Platforms</a:t>
            </a:r>
          </a:p>
          <a:p>
            <a:pPr lvl="1"/>
            <a:r>
              <a:rPr lang="en-US" altLang="zh-CN" dirty="0">
                <a:latin typeface="Calibri" panose="020F0502020204030204" pitchFamily="34" charset="0"/>
                <a:cs typeface="Calibri" panose="020F0502020204030204" pitchFamily="34" charset="0"/>
              </a:rPr>
              <a:t>A server with Intel Xeon Gold 6148 CPU @2.40GHz</a:t>
            </a:r>
          </a:p>
          <a:p>
            <a:pPr lvl="1"/>
            <a:r>
              <a:rPr lang="en-US" altLang="zh-CN" dirty="0">
                <a:latin typeface="Calibri" panose="020F0502020204030204" pitchFamily="34" charset="0"/>
                <a:cs typeface="Calibri" panose="020F0502020204030204" pitchFamily="34" charset="0"/>
              </a:rPr>
              <a:t>Using C++ and MPICH implement distributing algorithms</a:t>
            </a:r>
          </a:p>
          <a:p>
            <a:r>
              <a:rPr lang="en-US" altLang="zh-CN" b="1" dirty="0">
                <a:latin typeface="Calibri" panose="020F0502020204030204" pitchFamily="34" charset="0"/>
                <a:cs typeface="Calibri" panose="020F0502020204030204" pitchFamily="34" charset="0"/>
              </a:rPr>
              <a:t>Datasets</a:t>
            </a:r>
          </a:p>
          <a:p>
            <a:pPr lvl="1"/>
            <a:r>
              <a:rPr lang="en-US" altLang="zh-CN" dirty="0">
                <a:latin typeface="Calibri" panose="020F0502020204030204" pitchFamily="34" charset="0"/>
                <a:cs typeface="Calibri" panose="020F0502020204030204" pitchFamily="34" charset="0"/>
              </a:rPr>
              <a:t>8 real-world graph datasets</a:t>
            </a:r>
          </a:p>
          <a:p>
            <a:pPr lvl="1"/>
            <a:r>
              <a:rPr lang="en-US" altLang="zh-CN" dirty="0">
                <a:latin typeface="Calibri" panose="020F0502020204030204" pitchFamily="34" charset="0"/>
                <a:cs typeface="Calibri" panose="020F0502020204030204" pitchFamily="34" charset="0"/>
              </a:rPr>
              <a:t>Preprocess to remove all parallel, self-loop and directed edges</a:t>
            </a:r>
          </a:p>
          <a:p>
            <a:pPr lvl="1"/>
            <a:r>
              <a:rPr lang="en-US" altLang="zh-CN" dirty="0">
                <a:latin typeface="Calibri" panose="020F0502020204030204" pitchFamily="34" charset="0"/>
                <a:cs typeface="Calibri" panose="020F0502020204030204" pitchFamily="34" charset="0"/>
              </a:rPr>
              <a:t>Produce fully dynamic graph streams by randomly deleting and relocating  </a:t>
            </a:r>
          </a:p>
        </p:txBody>
      </p:sp>
      <p:pic>
        <p:nvPicPr>
          <p:cNvPr id="7" name="Picture 6">
            <a:extLst>
              <a:ext uri="{FF2B5EF4-FFF2-40B4-BE49-F238E27FC236}">
                <a16:creationId xmlns:a16="http://schemas.microsoft.com/office/drawing/2014/main" id="{B6C85FA3-84C9-346B-3475-1620C0A78610}"/>
              </a:ext>
            </a:extLst>
          </p:cNvPr>
          <p:cNvPicPr>
            <a:picLocks noChangeAspect="1"/>
          </p:cNvPicPr>
          <p:nvPr/>
        </p:nvPicPr>
        <p:blipFill>
          <a:blip r:embed="rId3"/>
          <a:stretch>
            <a:fillRect/>
          </a:stretch>
        </p:blipFill>
        <p:spPr>
          <a:xfrm>
            <a:off x="1021981" y="4273563"/>
            <a:ext cx="4975437" cy="1825588"/>
          </a:xfrm>
          <a:prstGeom prst="rect">
            <a:avLst/>
          </a:prstGeom>
        </p:spPr>
      </p:pic>
      <p:pic>
        <p:nvPicPr>
          <p:cNvPr id="9" name="Picture 8">
            <a:extLst>
              <a:ext uri="{FF2B5EF4-FFF2-40B4-BE49-F238E27FC236}">
                <a16:creationId xmlns:a16="http://schemas.microsoft.com/office/drawing/2014/main" id="{C106F00B-03A2-8DA5-3A09-83903F41A7B7}"/>
              </a:ext>
            </a:extLst>
          </p:cNvPr>
          <p:cNvPicPr>
            <a:picLocks noChangeAspect="1"/>
          </p:cNvPicPr>
          <p:nvPr/>
        </p:nvPicPr>
        <p:blipFill>
          <a:blip r:embed="rId4"/>
          <a:stretch>
            <a:fillRect/>
          </a:stretch>
        </p:blipFill>
        <p:spPr>
          <a:xfrm>
            <a:off x="6869292" y="4120146"/>
            <a:ext cx="1962251" cy="692186"/>
          </a:xfrm>
          <a:prstGeom prst="rect">
            <a:avLst/>
          </a:prstGeom>
        </p:spPr>
      </p:pic>
      <p:pic>
        <p:nvPicPr>
          <p:cNvPr id="11" name="Picture 10">
            <a:extLst>
              <a:ext uri="{FF2B5EF4-FFF2-40B4-BE49-F238E27FC236}">
                <a16:creationId xmlns:a16="http://schemas.microsoft.com/office/drawing/2014/main" id="{28831E91-4D95-34F9-298A-7326A51A80C8}"/>
              </a:ext>
            </a:extLst>
          </p:cNvPr>
          <p:cNvPicPr>
            <a:picLocks noChangeAspect="1"/>
          </p:cNvPicPr>
          <p:nvPr/>
        </p:nvPicPr>
        <p:blipFill>
          <a:blip r:embed="rId5"/>
          <a:stretch>
            <a:fillRect/>
          </a:stretch>
        </p:blipFill>
        <p:spPr>
          <a:xfrm>
            <a:off x="8972070" y="4170457"/>
            <a:ext cx="2862010" cy="572402"/>
          </a:xfrm>
          <a:prstGeom prst="rect">
            <a:avLst/>
          </a:prstGeom>
        </p:spPr>
      </p:pic>
      <p:pic>
        <p:nvPicPr>
          <p:cNvPr id="13" name="Picture 12">
            <a:extLst>
              <a:ext uri="{FF2B5EF4-FFF2-40B4-BE49-F238E27FC236}">
                <a16:creationId xmlns:a16="http://schemas.microsoft.com/office/drawing/2014/main" id="{2F394611-F2CE-8071-5330-3F2C30F8DD88}"/>
              </a:ext>
            </a:extLst>
          </p:cNvPr>
          <p:cNvPicPr>
            <a:picLocks noChangeAspect="1"/>
          </p:cNvPicPr>
          <p:nvPr/>
        </p:nvPicPr>
        <p:blipFill>
          <a:blip r:embed="rId6"/>
          <a:stretch>
            <a:fillRect/>
          </a:stretch>
        </p:blipFill>
        <p:spPr>
          <a:xfrm>
            <a:off x="6865520" y="5308430"/>
            <a:ext cx="2114659" cy="654084"/>
          </a:xfrm>
          <a:prstGeom prst="rect">
            <a:avLst/>
          </a:prstGeom>
        </p:spPr>
      </p:pic>
      <p:pic>
        <p:nvPicPr>
          <p:cNvPr id="15" name="Picture 14">
            <a:extLst>
              <a:ext uri="{FF2B5EF4-FFF2-40B4-BE49-F238E27FC236}">
                <a16:creationId xmlns:a16="http://schemas.microsoft.com/office/drawing/2014/main" id="{D1DF8401-7C76-B37C-B7A3-7DBD02856990}"/>
              </a:ext>
            </a:extLst>
          </p:cNvPr>
          <p:cNvPicPr>
            <a:picLocks noChangeAspect="1"/>
          </p:cNvPicPr>
          <p:nvPr/>
        </p:nvPicPr>
        <p:blipFill>
          <a:blip r:embed="rId7"/>
          <a:stretch>
            <a:fillRect/>
          </a:stretch>
        </p:blipFill>
        <p:spPr>
          <a:xfrm>
            <a:off x="9171948" y="5221882"/>
            <a:ext cx="2228965" cy="698536"/>
          </a:xfrm>
          <a:prstGeom prst="rect">
            <a:avLst/>
          </a:prstGeom>
        </p:spPr>
      </p:pic>
      <p:sp>
        <p:nvSpPr>
          <p:cNvPr id="19" name="TextBox 18">
            <a:extLst>
              <a:ext uri="{FF2B5EF4-FFF2-40B4-BE49-F238E27FC236}">
                <a16:creationId xmlns:a16="http://schemas.microsoft.com/office/drawing/2014/main" id="{22A91672-9FEF-62B9-7B0F-1C01B55B0C83}"/>
              </a:ext>
            </a:extLst>
          </p:cNvPr>
          <p:cNvSpPr txBox="1"/>
          <p:nvPr/>
        </p:nvSpPr>
        <p:spPr>
          <a:xfrm>
            <a:off x="8844454" y="5914485"/>
            <a:ext cx="3105807"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Calibri" panose="020F0502020204030204" pitchFamily="34" charset="0"/>
                <a:cs typeface="Calibri" panose="020F0502020204030204" pitchFamily="34" charset="0"/>
              </a:rPr>
              <a:t>Pearson Correlation Coefficient</a:t>
            </a:r>
          </a:p>
        </p:txBody>
      </p:sp>
      <p:sp>
        <p:nvSpPr>
          <p:cNvPr id="20" name="TextBox 19">
            <a:extLst>
              <a:ext uri="{FF2B5EF4-FFF2-40B4-BE49-F238E27FC236}">
                <a16:creationId xmlns:a16="http://schemas.microsoft.com/office/drawing/2014/main" id="{FDBF51EA-FE6F-0DB7-6C18-AD4E697D51C8}"/>
              </a:ext>
            </a:extLst>
          </p:cNvPr>
          <p:cNvSpPr txBox="1"/>
          <p:nvPr/>
        </p:nvSpPr>
        <p:spPr>
          <a:xfrm>
            <a:off x="7010335" y="5875584"/>
            <a:ext cx="179045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Calibri" panose="020F0502020204030204" pitchFamily="34" charset="0"/>
                <a:cs typeface="Calibri" panose="020F0502020204030204" pitchFamily="34" charset="0"/>
              </a:rPr>
              <a:t>Global variance</a:t>
            </a:r>
          </a:p>
        </p:txBody>
      </p:sp>
      <p:sp>
        <p:nvSpPr>
          <p:cNvPr id="22" name="TextBox 21">
            <a:extLst>
              <a:ext uri="{FF2B5EF4-FFF2-40B4-BE49-F238E27FC236}">
                <a16:creationId xmlns:a16="http://schemas.microsoft.com/office/drawing/2014/main" id="{5492BBB7-7878-E73E-3D7C-73E8C31BECEB}"/>
              </a:ext>
            </a:extLst>
          </p:cNvPr>
          <p:cNvSpPr txBox="1"/>
          <p:nvPr/>
        </p:nvSpPr>
        <p:spPr>
          <a:xfrm>
            <a:off x="6901681" y="4836836"/>
            <a:ext cx="19844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Calibri" panose="020F0502020204030204" pitchFamily="34" charset="0"/>
                <a:cs typeface="Calibri" panose="020F0502020204030204" pitchFamily="34" charset="0"/>
              </a:rPr>
              <a:t>Mean Global Error</a:t>
            </a:r>
          </a:p>
        </p:txBody>
      </p:sp>
      <p:sp>
        <p:nvSpPr>
          <p:cNvPr id="24" name="TextBox 23">
            <a:extLst>
              <a:ext uri="{FF2B5EF4-FFF2-40B4-BE49-F238E27FC236}">
                <a16:creationId xmlns:a16="http://schemas.microsoft.com/office/drawing/2014/main" id="{D89EA00A-F839-3437-0D05-D6665FE13328}"/>
              </a:ext>
            </a:extLst>
          </p:cNvPr>
          <p:cNvSpPr txBox="1"/>
          <p:nvPr/>
        </p:nvSpPr>
        <p:spPr>
          <a:xfrm>
            <a:off x="9507845" y="4832927"/>
            <a:ext cx="179046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Calibri" panose="020F0502020204030204" pitchFamily="34" charset="0"/>
                <a:cs typeface="Calibri" panose="020F0502020204030204" pitchFamily="34" charset="0"/>
              </a:rPr>
              <a:t>Mean Local Error</a:t>
            </a:r>
          </a:p>
        </p:txBody>
      </p:sp>
      <p:sp>
        <p:nvSpPr>
          <p:cNvPr id="26" name="Rectangle: Rounded Corners 25">
            <a:extLst>
              <a:ext uri="{FF2B5EF4-FFF2-40B4-BE49-F238E27FC236}">
                <a16:creationId xmlns:a16="http://schemas.microsoft.com/office/drawing/2014/main" id="{14203890-B881-3871-F5AF-AAC749E8C77F}"/>
              </a:ext>
            </a:extLst>
          </p:cNvPr>
          <p:cNvSpPr/>
          <p:nvPr/>
        </p:nvSpPr>
        <p:spPr>
          <a:xfrm>
            <a:off x="6619097" y="3837323"/>
            <a:ext cx="5331164" cy="2519027"/>
          </a:xfrm>
          <a:prstGeom prst="roundRect">
            <a:avLst>
              <a:gd name="adj" fmla="val 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内容占位符 2">
            <a:extLst>
              <a:ext uri="{FF2B5EF4-FFF2-40B4-BE49-F238E27FC236}">
                <a16:creationId xmlns:a16="http://schemas.microsoft.com/office/drawing/2014/main" id="{87E90E94-B561-FF79-6E2D-A212DF5ED45A}"/>
              </a:ext>
            </a:extLst>
          </p:cNvPr>
          <p:cNvSpPr txBox="1">
            <a:spLocks/>
          </p:cNvSpPr>
          <p:nvPr/>
        </p:nvSpPr>
        <p:spPr>
          <a:xfrm>
            <a:off x="6463862" y="1159809"/>
            <a:ext cx="5486400" cy="257991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b="1" dirty="0">
                <a:latin typeface="Calibri" panose="020F0502020204030204" pitchFamily="34" charset="0"/>
                <a:cs typeface="Calibri" panose="020F0502020204030204" pitchFamily="34" charset="0"/>
              </a:rPr>
              <a:t>Implemented algorithms</a:t>
            </a:r>
          </a:p>
          <a:p>
            <a:pPr lvl="1"/>
            <a:r>
              <a:rPr lang="en-US" altLang="zh-CN" dirty="0">
                <a:latin typeface="Calibri" panose="020F0502020204030204" pitchFamily="34" charset="0"/>
                <a:cs typeface="Calibri" panose="020F0502020204030204" pitchFamily="34" charset="0"/>
              </a:rPr>
              <a:t>Single-machine algorithms: TRIEST-IMPR, MASCOT, </a:t>
            </a:r>
            <a:r>
              <a:rPr lang="en-US" altLang="zh-CN" dirty="0" err="1">
                <a:latin typeface="Calibri" panose="020F0502020204030204" pitchFamily="34" charset="0"/>
                <a:cs typeface="Calibri" panose="020F0502020204030204" pitchFamily="34" charset="0"/>
              </a:rPr>
              <a:t>ThinkDAcc</a:t>
            </a:r>
            <a:r>
              <a:rPr lang="en-US" altLang="zh-CN" dirty="0">
                <a:latin typeface="Calibri" panose="020F0502020204030204" pitchFamily="34" charset="0"/>
                <a:cs typeface="Calibri" panose="020F0502020204030204" pitchFamily="34" charset="0"/>
              </a:rPr>
              <a:t>, TRIEST-FD, MASCOT-FD</a:t>
            </a:r>
          </a:p>
          <a:p>
            <a:pPr lvl="1"/>
            <a:r>
              <a:rPr lang="en-US" altLang="zh-CN" dirty="0">
                <a:latin typeface="Calibri" panose="020F0502020204030204" pitchFamily="34" charset="0"/>
                <a:cs typeface="Calibri" panose="020F0502020204030204" pitchFamily="34" charset="0"/>
              </a:rPr>
              <a:t>Distributed algorithms: </a:t>
            </a:r>
            <a:r>
              <a:rPr lang="en-US" altLang="zh-CN" dirty="0" err="1">
                <a:latin typeface="Calibri" panose="020F0502020204030204" pitchFamily="34" charset="0"/>
                <a:cs typeface="Calibri" panose="020F0502020204030204" pitchFamily="34" charset="0"/>
              </a:rPr>
              <a:t>CoCoS</a:t>
            </a:r>
            <a:r>
              <a:rPr lang="en-US" altLang="zh-CN" dirty="0">
                <a:latin typeface="Calibri" panose="020F0502020204030204" pitchFamily="34" charset="0"/>
                <a:cs typeface="Calibri" panose="020F0502020204030204" pitchFamily="34" charset="0"/>
              </a:rPr>
              <a:t>, </a:t>
            </a:r>
            <a:r>
              <a:rPr lang="en-US" altLang="zh-CN" u="sng" dirty="0">
                <a:latin typeface="Calibri" panose="020F0502020204030204" pitchFamily="34" charset="0"/>
                <a:cs typeface="Calibri" panose="020F0502020204030204" pitchFamily="34" charset="0"/>
              </a:rPr>
              <a:t>DTC-AR, DTC-FD</a:t>
            </a:r>
          </a:p>
          <a:p>
            <a:pPr marL="228600" lvl="1">
              <a:spcBef>
                <a:spcPts val="1000"/>
              </a:spcBef>
            </a:pPr>
            <a:r>
              <a:rPr lang="en-US" altLang="zh-CN" sz="2800" b="1" dirty="0">
                <a:latin typeface="Calibri" panose="020F0502020204030204" pitchFamily="34" charset="0"/>
                <a:cs typeface="Calibri" panose="020F0502020204030204" pitchFamily="34" charset="0"/>
              </a:rPr>
              <a:t>Metrics</a:t>
            </a:r>
          </a:p>
          <a:p>
            <a:pPr lvl="1"/>
            <a:r>
              <a:rPr lang="en-US" altLang="zh-CN" dirty="0">
                <a:latin typeface="Calibri" panose="020F0502020204030204" pitchFamily="34" charset="0"/>
                <a:cs typeface="Calibri" panose="020F0502020204030204" pitchFamily="34" charset="0"/>
              </a:rPr>
              <a:t>Evaluate the accuracy and performance over real-world datasets by the following measurable metrics:</a:t>
            </a:r>
          </a:p>
        </p:txBody>
      </p:sp>
      <p:sp>
        <p:nvSpPr>
          <p:cNvPr id="14" name="TextBox 13">
            <a:extLst>
              <a:ext uri="{FF2B5EF4-FFF2-40B4-BE49-F238E27FC236}">
                <a16:creationId xmlns:a16="http://schemas.microsoft.com/office/drawing/2014/main" id="{49E7C92A-B772-80C3-5BAA-551460641401}"/>
              </a:ext>
            </a:extLst>
          </p:cNvPr>
          <p:cNvSpPr txBox="1"/>
          <p:nvPr/>
        </p:nvSpPr>
        <p:spPr>
          <a:xfrm>
            <a:off x="8641362" y="5931301"/>
            <a:ext cx="402021" cy="369332"/>
          </a:xfrm>
          <a:prstGeom prst="rect">
            <a:avLst/>
          </a:prstGeom>
          <a:noFill/>
        </p:spPr>
        <p:txBody>
          <a:bodyPr wrap="square">
            <a:spAutoFit/>
          </a:bodyPr>
          <a:lstStyle/>
          <a:p>
            <a:r>
              <a:rPr lang="en-US" altLang="zh-CN" sz="1800" dirty="0">
                <a:latin typeface="Calibri" panose="020F0502020204030204" pitchFamily="34" charset="0"/>
                <a:cs typeface="Calibri" panose="020F0502020204030204" pitchFamily="34" charset="0"/>
                <a:sym typeface="Wingdings" panose="05000000000000000000" pitchFamily="2" charset="2"/>
              </a:rPr>
              <a:t></a:t>
            </a:r>
            <a:endParaRPr lang="en-US" dirty="0"/>
          </a:p>
        </p:txBody>
      </p:sp>
      <p:sp>
        <p:nvSpPr>
          <p:cNvPr id="17" name="TextBox 16">
            <a:extLst>
              <a:ext uri="{FF2B5EF4-FFF2-40B4-BE49-F238E27FC236}">
                <a16:creationId xmlns:a16="http://schemas.microsoft.com/office/drawing/2014/main" id="{A4EA69D4-FD19-2FEB-56C9-741276102E3D}"/>
              </a:ext>
            </a:extLst>
          </p:cNvPr>
          <p:cNvSpPr txBox="1"/>
          <p:nvPr/>
        </p:nvSpPr>
        <p:spPr>
          <a:xfrm>
            <a:off x="9268807" y="4840458"/>
            <a:ext cx="447809" cy="369332"/>
          </a:xfrm>
          <a:prstGeom prst="rect">
            <a:avLst/>
          </a:prstGeom>
          <a:noFill/>
        </p:spPr>
        <p:txBody>
          <a:bodyPr wrap="square">
            <a:spAutoFit/>
          </a:bodyPr>
          <a:lstStyle/>
          <a:p>
            <a:r>
              <a:rPr lang="en-US" altLang="zh-CN" sz="1800" dirty="0">
                <a:latin typeface="Calibri" panose="020F0502020204030204" pitchFamily="34" charset="0"/>
                <a:cs typeface="Calibri" panose="020F0502020204030204" pitchFamily="34" charset="0"/>
                <a:sym typeface="Wingdings" panose="05000000000000000000" pitchFamily="2" charset="2"/>
              </a:rPr>
              <a:t></a:t>
            </a:r>
            <a:endParaRPr lang="en-US" dirty="0"/>
          </a:p>
        </p:txBody>
      </p:sp>
      <p:sp>
        <p:nvSpPr>
          <p:cNvPr id="21" name="TextBox 20">
            <a:extLst>
              <a:ext uri="{FF2B5EF4-FFF2-40B4-BE49-F238E27FC236}">
                <a16:creationId xmlns:a16="http://schemas.microsoft.com/office/drawing/2014/main" id="{30252D08-EFCA-00ED-E59C-281A8D8F8391}"/>
              </a:ext>
            </a:extLst>
          </p:cNvPr>
          <p:cNvSpPr txBox="1"/>
          <p:nvPr/>
        </p:nvSpPr>
        <p:spPr>
          <a:xfrm>
            <a:off x="6619097" y="4871816"/>
            <a:ext cx="357503" cy="369332"/>
          </a:xfrm>
          <a:prstGeom prst="rect">
            <a:avLst/>
          </a:prstGeom>
          <a:noFill/>
        </p:spPr>
        <p:txBody>
          <a:bodyPr wrap="square">
            <a:spAutoFit/>
          </a:bodyPr>
          <a:lstStyle/>
          <a:p>
            <a:r>
              <a:rPr lang="en-US" altLang="zh-CN" sz="1800" dirty="0">
                <a:latin typeface="Calibri" panose="020F0502020204030204" pitchFamily="34" charset="0"/>
                <a:cs typeface="Calibri" panose="020F0502020204030204" pitchFamily="34" charset="0"/>
                <a:sym typeface="Wingdings" panose="05000000000000000000" pitchFamily="2" charset="2"/>
              </a:rPr>
              <a:t></a:t>
            </a:r>
            <a:endParaRPr lang="en-US" dirty="0"/>
          </a:p>
        </p:txBody>
      </p:sp>
      <p:sp>
        <p:nvSpPr>
          <p:cNvPr id="25" name="TextBox 24">
            <a:extLst>
              <a:ext uri="{FF2B5EF4-FFF2-40B4-BE49-F238E27FC236}">
                <a16:creationId xmlns:a16="http://schemas.microsoft.com/office/drawing/2014/main" id="{F22CBF09-983F-4B00-1372-AB75E1568D71}"/>
              </a:ext>
            </a:extLst>
          </p:cNvPr>
          <p:cNvSpPr txBox="1"/>
          <p:nvPr/>
        </p:nvSpPr>
        <p:spPr>
          <a:xfrm>
            <a:off x="6783764" y="5889499"/>
            <a:ext cx="354096" cy="369332"/>
          </a:xfrm>
          <a:prstGeom prst="rect">
            <a:avLst/>
          </a:prstGeom>
          <a:noFill/>
        </p:spPr>
        <p:txBody>
          <a:bodyPr wrap="square">
            <a:spAutoFit/>
          </a:bodyPr>
          <a:lstStyle/>
          <a:p>
            <a:r>
              <a:rPr lang="en-US" altLang="zh-CN" sz="1800" dirty="0">
                <a:latin typeface="Calibri" panose="020F0502020204030204" pitchFamily="34" charset="0"/>
                <a:cs typeface="Calibri" panose="020F0502020204030204" pitchFamily="34" charset="0"/>
                <a:sym typeface="Wingdings" panose="05000000000000000000" pitchFamily="2" charset="2"/>
              </a:rPr>
              <a:t></a:t>
            </a:r>
            <a:endParaRPr lang="en-US" dirty="0"/>
          </a:p>
        </p:txBody>
      </p:sp>
    </p:spTree>
    <p:extLst>
      <p:ext uri="{BB962C8B-B14F-4D97-AF65-F5344CB8AC3E}">
        <p14:creationId xmlns:p14="http://schemas.microsoft.com/office/powerpoint/2010/main" val="1893689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10356695"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DTC-AR: Accuracy</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16</a:t>
            </a:fld>
            <a:endParaRPr lang="zh-CN" altLang="en-US"/>
          </a:p>
        </p:txBody>
      </p:sp>
      <p:pic>
        <p:nvPicPr>
          <p:cNvPr id="7" name="Picture 6">
            <a:extLst>
              <a:ext uri="{FF2B5EF4-FFF2-40B4-BE49-F238E27FC236}">
                <a16:creationId xmlns:a16="http://schemas.microsoft.com/office/drawing/2014/main" id="{3910CE57-4ABC-0D64-76A1-525F1D0A08D3}"/>
              </a:ext>
            </a:extLst>
          </p:cNvPr>
          <p:cNvPicPr>
            <a:picLocks noChangeAspect="1"/>
          </p:cNvPicPr>
          <p:nvPr/>
        </p:nvPicPr>
        <p:blipFill rotWithShape="1">
          <a:blip r:embed="rId3"/>
          <a:srcRect l="10206"/>
          <a:stretch/>
        </p:blipFill>
        <p:spPr>
          <a:xfrm>
            <a:off x="2354418" y="2422402"/>
            <a:ext cx="1394677" cy="1283644"/>
          </a:xfrm>
          <a:prstGeom prst="rect">
            <a:avLst/>
          </a:prstGeom>
        </p:spPr>
      </p:pic>
      <p:sp>
        <p:nvSpPr>
          <p:cNvPr id="11" name="TextBox 10">
            <a:extLst>
              <a:ext uri="{FF2B5EF4-FFF2-40B4-BE49-F238E27FC236}">
                <a16:creationId xmlns:a16="http://schemas.microsoft.com/office/drawing/2014/main" id="{53C6E4BC-7990-8A8D-DD6D-0C4C8C65E2A3}"/>
              </a:ext>
            </a:extLst>
          </p:cNvPr>
          <p:cNvSpPr txBox="1"/>
          <p:nvPr/>
        </p:nvSpPr>
        <p:spPr>
          <a:xfrm>
            <a:off x="2711148" y="3706045"/>
            <a:ext cx="807831" cy="338554"/>
          </a:xfrm>
          <a:prstGeom prst="rect">
            <a:avLst/>
          </a:prstGeom>
          <a:noFill/>
        </p:spPr>
        <p:txBody>
          <a:bodyPr wrap="square">
            <a:spAutoFit/>
          </a:bodyPr>
          <a:lstStyle/>
          <a:p>
            <a:r>
              <a:rPr lang="en-US" sz="1600" dirty="0"/>
              <a:t>Skitter</a:t>
            </a:r>
          </a:p>
        </p:txBody>
      </p:sp>
      <p:pic>
        <p:nvPicPr>
          <p:cNvPr id="13" name="Picture 12">
            <a:extLst>
              <a:ext uri="{FF2B5EF4-FFF2-40B4-BE49-F238E27FC236}">
                <a16:creationId xmlns:a16="http://schemas.microsoft.com/office/drawing/2014/main" id="{133603BF-762E-59C5-730D-DA0D3946154A}"/>
              </a:ext>
            </a:extLst>
          </p:cNvPr>
          <p:cNvPicPr>
            <a:picLocks noChangeAspect="1"/>
          </p:cNvPicPr>
          <p:nvPr/>
        </p:nvPicPr>
        <p:blipFill rotWithShape="1">
          <a:blip r:embed="rId4"/>
          <a:srcRect l="9731" b="1035"/>
          <a:stretch/>
        </p:blipFill>
        <p:spPr>
          <a:xfrm>
            <a:off x="756429" y="2357290"/>
            <a:ext cx="1486702" cy="1363798"/>
          </a:xfrm>
          <a:prstGeom prst="rect">
            <a:avLst/>
          </a:prstGeom>
        </p:spPr>
      </p:pic>
      <p:sp>
        <p:nvSpPr>
          <p:cNvPr id="15" name="TextBox 14">
            <a:extLst>
              <a:ext uri="{FF2B5EF4-FFF2-40B4-BE49-F238E27FC236}">
                <a16:creationId xmlns:a16="http://schemas.microsoft.com/office/drawing/2014/main" id="{DA19D4FF-6555-3E5A-B7DE-A09562A024F9}"/>
              </a:ext>
            </a:extLst>
          </p:cNvPr>
          <p:cNvSpPr txBox="1"/>
          <p:nvPr/>
        </p:nvSpPr>
        <p:spPr>
          <a:xfrm>
            <a:off x="1117880" y="3706045"/>
            <a:ext cx="931763" cy="338554"/>
          </a:xfrm>
          <a:prstGeom prst="rect">
            <a:avLst/>
          </a:prstGeom>
          <a:noFill/>
        </p:spPr>
        <p:txBody>
          <a:bodyPr wrap="square">
            <a:spAutoFit/>
          </a:bodyPr>
          <a:lstStyle/>
          <a:p>
            <a:r>
              <a:rPr lang="en-US" sz="1600" dirty="0" err="1"/>
              <a:t>Youtube</a:t>
            </a:r>
            <a:endParaRPr lang="en-US" sz="1600" dirty="0"/>
          </a:p>
        </p:txBody>
      </p:sp>
      <p:sp>
        <p:nvSpPr>
          <p:cNvPr id="17" name="TextBox 16">
            <a:extLst>
              <a:ext uri="{FF2B5EF4-FFF2-40B4-BE49-F238E27FC236}">
                <a16:creationId xmlns:a16="http://schemas.microsoft.com/office/drawing/2014/main" id="{66553309-F8AF-814D-3837-9330C6BAEE87}"/>
              </a:ext>
            </a:extLst>
          </p:cNvPr>
          <p:cNvSpPr txBox="1"/>
          <p:nvPr/>
        </p:nvSpPr>
        <p:spPr>
          <a:xfrm>
            <a:off x="4164587" y="3693233"/>
            <a:ext cx="993093" cy="338554"/>
          </a:xfrm>
          <a:prstGeom prst="rect">
            <a:avLst/>
          </a:prstGeom>
          <a:noFill/>
        </p:spPr>
        <p:txBody>
          <a:bodyPr wrap="square">
            <a:spAutoFit/>
          </a:bodyPr>
          <a:lstStyle/>
          <a:p>
            <a:r>
              <a:rPr lang="en-US" sz="1600" dirty="0" err="1"/>
              <a:t>Youtube</a:t>
            </a:r>
            <a:endParaRPr lang="en-US" sz="1600" dirty="0"/>
          </a:p>
        </p:txBody>
      </p:sp>
      <p:pic>
        <p:nvPicPr>
          <p:cNvPr id="19" name="Picture 18">
            <a:extLst>
              <a:ext uri="{FF2B5EF4-FFF2-40B4-BE49-F238E27FC236}">
                <a16:creationId xmlns:a16="http://schemas.microsoft.com/office/drawing/2014/main" id="{918EF7C6-F464-1E35-EB22-12EB9DE54C24}"/>
              </a:ext>
            </a:extLst>
          </p:cNvPr>
          <p:cNvPicPr>
            <a:picLocks noChangeAspect="1"/>
          </p:cNvPicPr>
          <p:nvPr/>
        </p:nvPicPr>
        <p:blipFill rotWithShape="1">
          <a:blip r:embed="rId5"/>
          <a:srcRect l="8719" t="1" b="1352"/>
          <a:stretch/>
        </p:blipFill>
        <p:spPr>
          <a:xfrm>
            <a:off x="3758182" y="2422402"/>
            <a:ext cx="1442729" cy="1298686"/>
          </a:xfrm>
          <a:prstGeom prst="rect">
            <a:avLst/>
          </a:prstGeom>
        </p:spPr>
      </p:pic>
      <p:pic>
        <p:nvPicPr>
          <p:cNvPr id="21" name="Picture 20">
            <a:extLst>
              <a:ext uri="{FF2B5EF4-FFF2-40B4-BE49-F238E27FC236}">
                <a16:creationId xmlns:a16="http://schemas.microsoft.com/office/drawing/2014/main" id="{B46B162F-9F6A-E34C-16B8-30162DB09FDE}"/>
              </a:ext>
            </a:extLst>
          </p:cNvPr>
          <p:cNvPicPr>
            <a:picLocks noChangeAspect="1"/>
          </p:cNvPicPr>
          <p:nvPr/>
        </p:nvPicPr>
        <p:blipFill rotWithShape="1">
          <a:blip r:embed="rId6"/>
          <a:srcRect l="8180"/>
          <a:stretch/>
        </p:blipFill>
        <p:spPr>
          <a:xfrm>
            <a:off x="5308747" y="2422403"/>
            <a:ext cx="1437464" cy="1298686"/>
          </a:xfrm>
          <a:prstGeom prst="rect">
            <a:avLst/>
          </a:prstGeom>
        </p:spPr>
      </p:pic>
      <p:sp>
        <p:nvSpPr>
          <p:cNvPr id="23" name="TextBox 22">
            <a:extLst>
              <a:ext uri="{FF2B5EF4-FFF2-40B4-BE49-F238E27FC236}">
                <a16:creationId xmlns:a16="http://schemas.microsoft.com/office/drawing/2014/main" id="{0E2D8AF6-332E-8B87-D02E-6417C4DBE71F}"/>
              </a:ext>
            </a:extLst>
          </p:cNvPr>
          <p:cNvSpPr txBox="1"/>
          <p:nvPr/>
        </p:nvSpPr>
        <p:spPr>
          <a:xfrm>
            <a:off x="5709352" y="3712208"/>
            <a:ext cx="807831" cy="338554"/>
          </a:xfrm>
          <a:prstGeom prst="rect">
            <a:avLst/>
          </a:prstGeom>
          <a:noFill/>
        </p:spPr>
        <p:txBody>
          <a:bodyPr wrap="square">
            <a:spAutoFit/>
          </a:bodyPr>
          <a:lstStyle/>
          <a:p>
            <a:r>
              <a:rPr lang="en-US" sz="1600" dirty="0"/>
              <a:t>Skitter</a:t>
            </a:r>
          </a:p>
        </p:txBody>
      </p:sp>
      <p:sp>
        <p:nvSpPr>
          <p:cNvPr id="25" name="TextBox 24">
            <a:extLst>
              <a:ext uri="{FF2B5EF4-FFF2-40B4-BE49-F238E27FC236}">
                <a16:creationId xmlns:a16="http://schemas.microsoft.com/office/drawing/2014/main" id="{433395CE-3C07-6BF1-EE4B-F6BB4DC38292}"/>
              </a:ext>
            </a:extLst>
          </p:cNvPr>
          <p:cNvSpPr txBox="1"/>
          <p:nvPr/>
        </p:nvSpPr>
        <p:spPr>
          <a:xfrm>
            <a:off x="1083623" y="6050573"/>
            <a:ext cx="1093702" cy="338554"/>
          </a:xfrm>
          <a:prstGeom prst="rect">
            <a:avLst/>
          </a:prstGeom>
          <a:noFill/>
        </p:spPr>
        <p:txBody>
          <a:bodyPr wrap="square">
            <a:spAutoFit/>
          </a:bodyPr>
          <a:lstStyle/>
          <a:p>
            <a:r>
              <a:rPr lang="en-US" sz="1600" dirty="0" err="1"/>
              <a:t>Youtube</a:t>
            </a:r>
            <a:endParaRPr lang="en-US" sz="1600" dirty="0"/>
          </a:p>
        </p:txBody>
      </p:sp>
      <p:pic>
        <p:nvPicPr>
          <p:cNvPr id="27" name="Picture 26">
            <a:extLst>
              <a:ext uri="{FF2B5EF4-FFF2-40B4-BE49-F238E27FC236}">
                <a16:creationId xmlns:a16="http://schemas.microsoft.com/office/drawing/2014/main" id="{72EFB4E2-9255-0334-C406-0E26D3E51F14}"/>
              </a:ext>
            </a:extLst>
          </p:cNvPr>
          <p:cNvPicPr>
            <a:picLocks noChangeAspect="1"/>
          </p:cNvPicPr>
          <p:nvPr/>
        </p:nvPicPr>
        <p:blipFill rotWithShape="1">
          <a:blip r:embed="rId7"/>
          <a:srcRect l="8979"/>
          <a:stretch/>
        </p:blipFill>
        <p:spPr>
          <a:xfrm>
            <a:off x="748375" y="4708154"/>
            <a:ext cx="1428950" cy="1306898"/>
          </a:xfrm>
          <a:prstGeom prst="rect">
            <a:avLst/>
          </a:prstGeom>
        </p:spPr>
      </p:pic>
      <p:sp>
        <p:nvSpPr>
          <p:cNvPr id="29" name="TextBox 28">
            <a:extLst>
              <a:ext uri="{FF2B5EF4-FFF2-40B4-BE49-F238E27FC236}">
                <a16:creationId xmlns:a16="http://schemas.microsoft.com/office/drawing/2014/main" id="{C02C9617-4917-3902-74D1-F12C54E06F07}"/>
              </a:ext>
            </a:extLst>
          </p:cNvPr>
          <p:cNvSpPr txBox="1"/>
          <p:nvPr/>
        </p:nvSpPr>
        <p:spPr>
          <a:xfrm>
            <a:off x="2657851" y="6050573"/>
            <a:ext cx="813917" cy="338554"/>
          </a:xfrm>
          <a:prstGeom prst="rect">
            <a:avLst/>
          </a:prstGeom>
          <a:noFill/>
        </p:spPr>
        <p:txBody>
          <a:bodyPr wrap="square">
            <a:spAutoFit/>
          </a:bodyPr>
          <a:lstStyle/>
          <a:p>
            <a:r>
              <a:rPr lang="en-US" sz="1600" dirty="0"/>
              <a:t>Skitter</a:t>
            </a:r>
          </a:p>
        </p:txBody>
      </p:sp>
      <p:pic>
        <p:nvPicPr>
          <p:cNvPr id="31" name="Picture 30">
            <a:extLst>
              <a:ext uri="{FF2B5EF4-FFF2-40B4-BE49-F238E27FC236}">
                <a16:creationId xmlns:a16="http://schemas.microsoft.com/office/drawing/2014/main" id="{FF872B4B-6067-C407-F17D-8AD5F57BB4F1}"/>
              </a:ext>
            </a:extLst>
          </p:cNvPr>
          <p:cNvPicPr>
            <a:picLocks noChangeAspect="1"/>
          </p:cNvPicPr>
          <p:nvPr/>
        </p:nvPicPr>
        <p:blipFill rotWithShape="1">
          <a:blip r:embed="rId8"/>
          <a:srcRect l="8983"/>
          <a:stretch/>
        </p:blipFill>
        <p:spPr>
          <a:xfrm>
            <a:off x="2248470" y="4669305"/>
            <a:ext cx="1515083" cy="1384595"/>
          </a:xfrm>
          <a:prstGeom prst="rect">
            <a:avLst/>
          </a:prstGeom>
        </p:spPr>
      </p:pic>
      <p:sp>
        <p:nvSpPr>
          <p:cNvPr id="33" name="TextBox 32">
            <a:extLst>
              <a:ext uri="{FF2B5EF4-FFF2-40B4-BE49-F238E27FC236}">
                <a16:creationId xmlns:a16="http://schemas.microsoft.com/office/drawing/2014/main" id="{51E025B1-A06E-4538-32F4-626C997C1C57}"/>
              </a:ext>
            </a:extLst>
          </p:cNvPr>
          <p:cNvSpPr txBox="1"/>
          <p:nvPr/>
        </p:nvSpPr>
        <p:spPr>
          <a:xfrm>
            <a:off x="5986750" y="6036116"/>
            <a:ext cx="805392" cy="338554"/>
          </a:xfrm>
          <a:prstGeom prst="rect">
            <a:avLst/>
          </a:prstGeom>
          <a:noFill/>
        </p:spPr>
        <p:txBody>
          <a:bodyPr wrap="square">
            <a:spAutoFit/>
          </a:bodyPr>
          <a:lstStyle/>
          <a:p>
            <a:r>
              <a:rPr lang="en-US" sz="1600" dirty="0"/>
              <a:t>Skitter</a:t>
            </a:r>
          </a:p>
        </p:txBody>
      </p:sp>
      <p:pic>
        <p:nvPicPr>
          <p:cNvPr id="35" name="Picture 34">
            <a:extLst>
              <a:ext uri="{FF2B5EF4-FFF2-40B4-BE49-F238E27FC236}">
                <a16:creationId xmlns:a16="http://schemas.microsoft.com/office/drawing/2014/main" id="{13755266-7A68-2C58-EB98-1CBDC1E22892}"/>
              </a:ext>
            </a:extLst>
          </p:cNvPr>
          <p:cNvPicPr>
            <a:picLocks noChangeAspect="1"/>
          </p:cNvPicPr>
          <p:nvPr/>
        </p:nvPicPr>
        <p:blipFill rotWithShape="1">
          <a:blip r:embed="rId9"/>
          <a:srcRect l="12032"/>
          <a:stretch/>
        </p:blipFill>
        <p:spPr>
          <a:xfrm>
            <a:off x="5523735" y="4719372"/>
            <a:ext cx="1431087" cy="1347441"/>
          </a:xfrm>
          <a:prstGeom prst="rect">
            <a:avLst/>
          </a:prstGeom>
        </p:spPr>
      </p:pic>
      <p:sp>
        <p:nvSpPr>
          <p:cNvPr id="37" name="TextBox 36">
            <a:extLst>
              <a:ext uri="{FF2B5EF4-FFF2-40B4-BE49-F238E27FC236}">
                <a16:creationId xmlns:a16="http://schemas.microsoft.com/office/drawing/2014/main" id="{3F892FF4-76D7-51B9-2AED-A768863169AD}"/>
              </a:ext>
            </a:extLst>
          </p:cNvPr>
          <p:cNvSpPr txBox="1"/>
          <p:nvPr/>
        </p:nvSpPr>
        <p:spPr>
          <a:xfrm>
            <a:off x="4134201" y="6050573"/>
            <a:ext cx="1162025" cy="338554"/>
          </a:xfrm>
          <a:prstGeom prst="rect">
            <a:avLst/>
          </a:prstGeom>
          <a:noFill/>
        </p:spPr>
        <p:txBody>
          <a:bodyPr wrap="square">
            <a:spAutoFit/>
          </a:bodyPr>
          <a:lstStyle/>
          <a:p>
            <a:pPr algn="ctr"/>
            <a:r>
              <a:rPr lang="en-US" sz="1600" dirty="0" err="1"/>
              <a:t>Youtube</a:t>
            </a:r>
            <a:endParaRPr lang="en-US" sz="1600" dirty="0"/>
          </a:p>
        </p:txBody>
      </p:sp>
      <p:pic>
        <p:nvPicPr>
          <p:cNvPr id="39" name="Picture 38">
            <a:extLst>
              <a:ext uri="{FF2B5EF4-FFF2-40B4-BE49-F238E27FC236}">
                <a16:creationId xmlns:a16="http://schemas.microsoft.com/office/drawing/2014/main" id="{71AEC50A-41A6-9631-4453-986734581729}"/>
              </a:ext>
            </a:extLst>
          </p:cNvPr>
          <p:cNvPicPr>
            <a:picLocks noChangeAspect="1"/>
          </p:cNvPicPr>
          <p:nvPr/>
        </p:nvPicPr>
        <p:blipFill rotWithShape="1">
          <a:blip r:embed="rId10"/>
          <a:srcRect l="11522"/>
          <a:stretch/>
        </p:blipFill>
        <p:spPr>
          <a:xfrm>
            <a:off x="3895016" y="4725488"/>
            <a:ext cx="1414332" cy="1311920"/>
          </a:xfrm>
          <a:prstGeom prst="rect">
            <a:avLst/>
          </a:prstGeom>
        </p:spPr>
      </p:pic>
      <p:sp>
        <p:nvSpPr>
          <p:cNvPr id="41" name="TextBox 40">
            <a:extLst>
              <a:ext uri="{FF2B5EF4-FFF2-40B4-BE49-F238E27FC236}">
                <a16:creationId xmlns:a16="http://schemas.microsoft.com/office/drawing/2014/main" id="{693D886A-E4E4-BA73-912D-D79FE4525DA5}"/>
              </a:ext>
            </a:extLst>
          </p:cNvPr>
          <p:cNvSpPr txBox="1"/>
          <p:nvPr/>
        </p:nvSpPr>
        <p:spPr>
          <a:xfrm>
            <a:off x="579748" y="1845317"/>
            <a:ext cx="2858460" cy="369332"/>
          </a:xfrm>
          <a:prstGeom prst="rect">
            <a:avLst/>
          </a:prstGeom>
          <a:noFill/>
        </p:spPr>
        <p:txBody>
          <a:bodyPr wrap="square">
            <a:spAutoFit/>
          </a:bodyPr>
          <a:lstStyle/>
          <a:p>
            <a:r>
              <a:rPr lang="en-US" altLang="zh-CN" b="1" dirty="0">
                <a:latin typeface="Calibri" panose="020F0502020204030204" pitchFamily="34" charset="0"/>
                <a:cs typeface="Calibri" panose="020F0502020204030204" pitchFamily="34" charset="0"/>
              </a:rPr>
              <a:t>Global Error </a:t>
            </a:r>
            <a:r>
              <a:rPr lang="en-US" altLang="zh-CN" dirty="0">
                <a:latin typeface="Calibri" panose="020F0502020204030204" pitchFamily="34" charset="0"/>
                <a:cs typeface="Calibri" panose="020F0502020204030204" pitchFamily="34" charset="0"/>
              </a:rPr>
              <a:t>(lower</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is</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better)</a:t>
            </a:r>
            <a:endParaRPr lang="en-US" dirty="0">
              <a:latin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595D6AF7-2923-9CAD-A950-0433785BED2A}"/>
              </a:ext>
            </a:extLst>
          </p:cNvPr>
          <p:cNvSpPr txBox="1"/>
          <p:nvPr/>
        </p:nvSpPr>
        <p:spPr>
          <a:xfrm>
            <a:off x="3766396" y="1861822"/>
            <a:ext cx="3365701" cy="369332"/>
          </a:xfrm>
          <a:prstGeom prst="rect">
            <a:avLst/>
          </a:prstGeom>
          <a:noFill/>
        </p:spPr>
        <p:txBody>
          <a:bodyPr wrap="square">
            <a:spAutoFit/>
          </a:bodyPr>
          <a:lstStyle/>
          <a:p>
            <a:r>
              <a:rPr lang="en-US" altLang="zh-CN" b="1" dirty="0">
                <a:latin typeface="Calibri" panose="020F0502020204030204" pitchFamily="34" charset="0"/>
                <a:cs typeface="Calibri" panose="020F0502020204030204" pitchFamily="34" charset="0"/>
              </a:rPr>
              <a:t>Global Variance </a:t>
            </a:r>
            <a:r>
              <a:rPr lang="en-US" altLang="zh-CN" dirty="0">
                <a:latin typeface="Calibri" panose="020F0502020204030204" pitchFamily="34" charset="0"/>
                <a:cs typeface="Calibri" panose="020F0502020204030204" pitchFamily="34" charset="0"/>
              </a:rPr>
              <a:t>(lower</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is</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better)</a:t>
            </a:r>
            <a:endParaRPr lang="en-US" dirty="0">
              <a:latin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20D751F1-6FE1-610C-E7FB-14BAB1426EE0}"/>
              </a:ext>
            </a:extLst>
          </p:cNvPr>
          <p:cNvSpPr txBox="1"/>
          <p:nvPr/>
        </p:nvSpPr>
        <p:spPr>
          <a:xfrm>
            <a:off x="644087" y="4212845"/>
            <a:ext cx="2858460" cy="369332"/>
          </a:xfrm>
          <a:prstGeom prst="rect">
            <a:avLst/>
          </a:prstGeom>
          <a:noFill/>
        </p:spPr>
        <p:txBody>
          <a:bodyPr wrap="square">
            <a:spAutoFit/>
          </a:bodyPr>
          <a:lstStyle/>
          <a:p>
            <a:r>
              <a:rPr lang="en-US" altLang="zh-CN" b="1" dirty="0">
                <a:latin typeface="Calibri" panose="020F0502020204030204" pitchFamily="34" charset="0"/>
                <a:cs typeface="Calibri" panose="020F0502020204030204" pitchFamily="34" charset="0"/>
              </a:rPr>
              <a:t>Local Error </a:t>
            </a:r>
            <a:r>
              <a:rPr lang="en-US" altLang="zh-CN" dirty="0">
                <a:latin typeface="Calibri" panose="020F0502020204030204" pitchFamily="34" charset="0"/>
                <a:cs typeface="Calibri" panose="020F0502020204030204" pitchFamily="34" charset="0"/>
              </a:rPr>
              <a:t>(lower</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is</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better)</a:t>
            </a:r>
            <a:endParaRPr lang="en-US" dirty="0">
              <a:latin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D62C1886-F77D-3F35-287E-35CFFBB65F68}"/>
              </a:ext>
            </a:extLst>
          </p:cNvPr>
          <p:cNvSpPr txBox="1"/>
          <p:nvPr/>
        </p:nvSpPr>
        <p:spPr>
          <a:xfrm>
            <a:off x="3812338" y="4194678"/>
            <a:ext cx="3662689" cy="369332"/>
          </a:xfrm>
          <a:prstGeom prst="rect">
            <a:avLst/>
          </a:prstGeom>
          <a:noFill/>
        </p:spPr>
        <p:txBody>
          <a:bodyPr wrap="square">
            <a:spAutoFit/>
          </a:bodyPr>
          <a:lstStyle/>
          <a:p>
            <a:r>
              <a:rPr lang="en-US" altLang="zh-CN" b="1" dirty="0">
                <a:latin typeface="Calibri" panose="020F0502020204030204" pitchFamily="34" charset="0"/>
                <a:cs typeface="Calibri" panose="020F0502020204030204" pitchFamily="34" charset="0"/>
              </a:rPr>
              <a:t>Pearson Coefficient </a:t>
            </a:r>
            <a:r>
              <a:rPr lang="en-US" altLang="zh-CN" dirty="0">
                <a:latin typeface="Calibri" panose="020F0502020204030204" pitchFamily="34" charset="0"/>
                <a:cs typeface="Calibri" panose="020F0502020204030204" pitchFamily="34" charset="0"/>
              </a:rPr>
              <a:t>(higher</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is</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better)</a:t>
            </a:r>
            <a:endParaRPr lang="en-US" dirty="0">
              <a:latin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25477F0C-C0F4-0349-D770-A5CFB373F66F}"/>
              </a:ext>
            </a:extLst>
          </p:cNvPr>
          <p:cNvPicPr>
            <a:picLocks noChangeAspect="1"/>
          </p:cNvPicPr>
          <p:nvPr/>
        </p:nvPicPr>
        <p:blipFill>
          <a:blip r:embed="rId11"/>
          <a:stretch>
            <a:fillRect/>
          </a:stretch>
        </p:blipFill>
        <p:spPr>
          <a:xfrm>
            <a:off x="739180" y="1265315"/>
            <a:ext cx="1229383" cy="240807"/>
          </a:xfrm>
          <a:prstGeom prst="rect">
            <a:avLst/>
          </a:prstGeom>
        </p:spPr>
      </p:pic>
      <p:pic>
        <p:nvPicPr>
          <p:cNvPr id="16" name="Picture 15">
            <a:extLst>
              <a:ext uri="{FF2B5EF4-FFF2-40B4-BE49-F238E27FC236}">
                <a16:creationId xmlns:a16="http://schemas.microsoft.com/office/drawing/2014/main" id="{69289AE0-DED1-00E7-370D-37F4E7623D4C}"/>
              </a:ext>
            </a:extLst>
          </p:cNvPr>
          <p:cNvPicPr>
            <a:picLocks noChangeAspect="1"/>
          </p:cNvPicPr>
          <p:nvPr/>
        </p:nvPicPr>
        <p:blipFill>
          <a:blip r:embed="rId12"/>
          <a:stretch>
            <a:fillRect/>
          </a:stretch>
        </p:blipFill>
        <p:spPr>
          <a:xfrm>
            <a:off x="2071949" y="1252021"/>
            <a:ext cx="1089653" cy="240807"/>
          </a:xfrm>
          <a:prstGeom prst="rect">
            <a:avLst/>
          </a:prstGeom>
        </p:spPr>
      </p:pic>
      <p:pic>
        <p:nvPicPr>
          <p:cNvPr id="18" name="Picture 17">
            <a:extLst>
              <a:ext uri="{FF2B5EF4-FFF2-40B4-BE49-F238E27FC236}">
                <a16:creationId xmlns:a16="http://schemas.microsoft.com/office/drawing/2014/main" id="{4C01FA21-E892-E6EA-40EA-718975096C60}"/>
              </a:ext>
            </a:extLst>
          </p:cNvPr>
          <p:cNvPicPr>
            <a:picLocks noChangeAspect="1"/>
          </p:cNvPicPr>
          <p:nvPr/>
        </p:nvPicPr>
        <p:blipFill>
          <a:blip r:embed="rId13"/>
          <a:stretch>
            <a:fillRect/>
          </a:stretch>
        </p:blipFill>
        <p:spPr>
          <a:xfrm>
            <a:off x="3471768" y="1267808"/>
            <a:ext cx="1727006" cy="236491"/>
          </a:xfrm>
          <a:prstGeom prst="rect">
            <a:avLst/>
          </a:prstGeom>
        </p:spPr>
      </p:pic>
      <p:pic>
        <p:nvPicPr>
          <p:cNvPr id="20" name="Picture 19">
            <a:extLst>
              <a:ext uri="{FF2B5EF4-FFF2-40B4-BE49-F238E27FC236}">
                <a16:creationId xmlns:a16="http://schemas.microsoft.com/office/drawing/2014/main" id="{DB612DAA-D2BF-5362-8E51-B5C00787CF4E}"/>
              </a:ext>
            </a:extLst>
          </p:cNvPr>
          <p:cNvPicPr>
            <a:picLocks noChangeAspect="1"/>
          </p:cNvPicPr>
          <p:nvPr/>
        </p:nvPicPr>
        <p:blipFill>
          <a:blip r:embed="rId14"/>
          <a:stretch>
            <a:fillRect/>
          </a:stretch>
        </p:blipFill>
        <p:spPr>
          <a:xfrm>
            <a:off x="5577866" y="1265315"/>
            <a:ext cx="1243784" cy="235633"/>
          </a:xfrm>
          <a:prstGeom prst="rect">
            <a:avLst/>
          </a:prstGeom>
        </p:spPr>
      </p:pic>
      <p:sp>
        <p:nvSpPr>
          <p:cNvPr id="24" name="TextBox 23">
            <a:extLst>
              <a:ext uri="{FF2B5EF4-FFF2-40B4-BE49-F238E27FC236}">
                <a16:creationId xmlns:a16="http://schemas.microsoft.com/office/drawing/2014/main" id="{EC98D00E-4E55-9A67-ACAA-78330360EF63}"/>
              </a:ext>
            </a:extLst>
          </p:cNvPr>
          <p:cNvSpPr txBox="1"/>
          <p:nvPr/>
        </p:nvSpPr>
        <p:spPr>
          <a:xfrm>
            <a:off x="7411784" y="4200322"/>
            <a:ext cx="4377973" cy="1015663"/>
          </a:xfrm>
          <a:prstGeom prst="rect">
            <a:avLst/>
          </a:prstGeom>
          <a:noFill/>
          <a:ln>
            <a:solidFill>
              <a:schemeClr val="tx1"/>
            </a:solidFill>
          </a:ln>
        </p:spPr>
        <p:txBody>
          <a:bodyPr wrap="square">
            <a:spAutoFit/>
          </a:bodyPr>
          <a:lstStyle/>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DTC-AR demonstrates significantly enhanced accuracy and speed compared to others.</a:t>
            </a:r>
          </a:p>
        </p:txBody>
      </p:sp>
      <p:sp>
        <p:nvSpPr>
          <p:cNvPr id="28" name="TextBox 27">
            <a:extLst>
              <a:ext uri="{FF2B5EF4-FFF2-40B4-BE49-F238E27FC236}">
                <a16:creationId xmlns:a16="http://schemas.microsoft.com/office/drawing/2014/main" id="{C806F1E0-D90D-B9CE-E4A0-328A0B0621CA}"/>
              </a:ext>
            </a:extLst>
          </p:cNvPr>
          <p:cNvSpPr txBox="1"/>
          <p:nvPr/>
        </p:nvSpPr>
        <p:spPr>
          <a:xfrm>
            <a:off x="7411784" y="2357290"/>
            <a:ext cx="4304580" cy="1323439"/>
          </a:xfrm>
          <a:prstGeom prst="rect">
            <a:avLst/>
          </a:prstGeom>
          <a:noFill/>
          <a:ln>
            <a:solidFill>
              <a:schemeClr val="tx1"/>
            </a:solidFill>
          </a:ln>
        </p:spPr>
        <p:txBody>
          <a:bodyPr wrap="square">
            <a:spAutoFit/>
          </a:bodyPr>
          <a:lstStyle/>
          <a:p>
            <a:pPr marL="342900" indent="-342900">
              <a:buFont typeface="Courier New" panose="02070309020205020404" pitchFamily="49" charset="0"/>
              <a:buChar char="o"/>
            </a:pPr>
            <a:r>
              <a:rPr lang="en-US" sz="2000" dirty="0">
                <a:latin typeface="Calibri" panose="020F0502020204030204" pitchFamily="34" charset="0"/>
                <a:cs typeface="Calibri" panose="020F0502020204030204" pitchFamily="34" charset="0"/>
              </a:rPr>
              <a:t>Set a large range of variation for the storage budget to simulate the variability in the size of graph streams.</a:t>
            </a:r>
          </a:p>
        </p:txBody>
      </p:sp>
      <p:sp>
        <p:nvSpPr>
          <p:cNvPr id="30" name="Rectangle 29">
            <a:extLst>
              <a:ext uri="{FF2B5EF4-FFF2-40B4-BE49-F238E27FC236}">
                <a16:creationId xmlns:a16="http://schemas.microsoft.com/office/drawing/2014/main" id="{6A547CA1-C7E0-678D-C0AB-174FB1DE88FA}"/>
              </a:ext>
            </a:extLst>
          </p:cNvPr>
          <p:cNvSpPr/>
          <p:nvPr/>
        </p:nvSpPr>
        <p:spPr>
          <a:xfrm>
            <a:off x="579748" y="1164141"/>
            <a:ext cx="6338694" cy="40183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5634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10356695"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DTC-AR: Speed and Scalability</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17</a:t>
            </a:fld>
            <a:endParaRPr lang="zh-CN" altLang="en-US"/>
          </a:p>
        </p:txBody>
      </p:sp>
      <p:pic>
        <p:nvPicPr>
          <p:cNvPr id="8" name="Picture 7">
            <a:extLst>
              <a:ext uri="{FF2B5EF4-FFF2-40B4-BE49-F238E27FC236}">
                <a16:creationId xmlns:a16="http://schemas.microsoft.com/office/drawing/2014/main" id="{0E9BC216-F8BF-8E0E-AE46-EE8650595C91}"/>
              </a:ext>
            </a:extLst>
          </p:cNvPr>
          <p:cNvPicPr>
            <a:picLocks noChangeAspect="1"/>
          </p:cNvPicPr>
          <p:nvPr/>
        </p:nvPicPr>
        <p:blipFill>
          <a:blip r:embed="rId3"/>
          <a:stretch>
            <a:fillRect/>
          </a:stretch>
        </p:blipFill>
        <p:spPr>
          <a:xfrm>
            <a:off x="340078" y="1965025"/>
            <a:ext cx="1792360" cy="1487715"/>
          </a:xfrm>
          <a:prstGeom prst="rect">
            <a:avLst/>
          </a:prstGeom>
        </p:spPr>
      </p:pic>
      <p:pic>
        <p:nvPicPr>
          <p:cNvPr id="14" name="Picture 13">
            <a:extLst>
              <a:ext uri="{FF2B5EF4-FFF2-40B4-BE49-F238E27FC236}">
                <a16:creationId xmlns:a16="http://schemas.microsoft.com/office/drawing/2014/main" id="{93E30606-47CD-D0C6-7B1D-9FE78E386268}"/>
              </a:ext>
            </a:extLst>
          </p:cNvPr>
          <p:cNvPicPr>
            <a:picLocks noChangeAspect="1"/>
          </p:cNvPicPr>
          <p:nvPr/>
        </p:nvPicPr>
        <p:blipFill>
          <a:blip r:embed="rId4"/>
          <a:stretch>
            <a:fillRect/>
          </a:stretch>
        </p:blipFill>
        <p:spPr>
          <a:xfrm>
            <a:off x="2392739" y="1965026"/>
            <a:ext cx="1773748" cy="1495982"/>
          </a:xfrm>
          <a:prstGeom prst="rect">
            <a:avLst/>
          </a:prstGeom>
        </p:spPr>
      </p:pic>
      <p:pic>
        <p:nvPicPr>
          <p:cNvPr id="22" name="Picture 21">
            <a:extLst>
              <a:ext uri="{FF2B5EF4-FFF2-40B4-BE49-F238E27FC236}">
                <a16:creationId xmlns:a16="http://schemas.microsoft.com/office/drawing/2014/main" id="{5FA85184-1E87-ED62-6471-45BA3CBFBD90}"/>
              </a:ext>
            </a:extLst>
          </p:cNvPr>
          <p:cNvPicPr>
            <a:picLocks noChangeAspect="1"/>
          </p:cNvPicPr>
          <p:nvPr/>
        </p:nvPicPr>
        <p:blipFill>
          <a:blip r:embed="rId5"/>
          <a:stretch>
            <a:fillRect/>
          </a:stretch>
        </p:blipFill>
        <p:spPr>
          <a:xfrm>
            <a:off x="4523732" y="1958732"/>
            <a:ext cx="1793104" cy="1487715"/>
          </a:xfrm>
          <a:prstGeom prst="rect">
            <a:avLst/>
          </a:prstGeom>
        </p:spPr>
      </p:pic>
      <p:pic>
        <p:nvPicPr>
          <p:cNvPr id="30" name="Picture 29">
            <a:extLst>
              <a:ext uri="{FF2B5EF4-FFF2-40B4-BE49-F238E27FC236}">
                <a16:creationId xmlns:a16="http://schemas.microsoft.com/office/drawing/2014/main" id="{F723AEB3-810B-956A-B557-45379590F11C}"/>
              </a:ext>
            </a:extLst>
          </p:cNvPr>
          <p:cNvPicPr>
            <a:picLocks noChangeAspect="1"/>
          </p:cNvPicPr>
          <p:nvPr/>
        </p:nvPicPr>
        <p:blipFill>
          <a:blip r:embed="rId6"/>
          <a:stretch>
            <a:fillRect/>
          </a:stretch>
        </p:blipFill>
        <p:spPr>
          <a:xfrm>
            <a:off x="6501443" y="1958732"/>
            <a:ext cx="1800106" cy="1487715"/>
          </a:xfrm>
          <a:prstGeom prst="rect">
            <a:avLst/>
          </a:prstGeom>
        </p:spPr>
      </p:pic>
      <p:sp>
        <p:nvSpPr>
          <p:cNvPr id="48" name="TextBox 47">
            <a:extLst>
              <a:ext uri="{FF2B5EF4-FFF2-40B4-BE49-F238E27FC236}">
                <a16:creationId xmlns:a16="http://schemas.microsoft.com/office/drawing/2014/main" id="{F07BE1FC-9927-02F3-3198-DF84C1CD7F52}"/>
              </a:ext>
            </a:extLst>
          </p:cNvPr>
          <p:cNvSpPr txBox="1"/>
          <p:nvPr/>
        </p:nvSpPr>
        <p:spPr>
          <a:xfrm>
            <a:off x="1131975" y="5869906"/>
            <a:ext cx="1235127" cy="369332"/>
          </a:xfrm>
          <a:prstGeom prst="rect">
            <a:avLst/>
          </a:prstGeom>
          <a:noFill/>
        </p:spPr>
        <p:txBody>
          <a:bodyPr wrap="square">
            <a:spAutoFit/>
          </a:bodyPr>
          <a:lstStyle/>
          <a:p>
            <a:r>
              <a:rPr lang="en-US" dirty="0" err="1"/>
              <a:t>berkStan</a:t>
            </a:r>
            <a:endParaRPr lang="en-US" dirty="0"/>
          </a:p>
        </p:txBody>
      </p:sp>
      <p:sp>
        <p:nvSpPr>
          <p:cNvPr id="50" name="TextBox 49">
            <a:extLst>
              <a:ext uri="{FF2B5EF4-FFF2-40B4-BE49-F238E27FC236}">
                <a16:creationId xmlns:a16="http://schemas.microsoft.com/office/drawing/2014/main" id="{021883BE-D0E8-CFB5-CAD5-5EC175E4E91B}"/>
              </a:ext>
            </a:extLst>
          </p:cNvPr>
          <p:cNvSpPr txBox="1"/>
          <p:nvPr/>
        </p:nvSpPr>
        <p:spPr>
          <a:xfrm>
            <a:off x="3709413" y="5869906"/>
            <a:ext cx="1115483" cy="369332"/>
          </a:xfrm>
          <a:prstGeom prst="rect">
            <a:avLst/>
          </a:prstGeom>
          <a:noFill/>
        </p:spPr>
        <p:txBody>
          <a:bodyPr wrap="square">
            <a:spAutoFit/>
          </a:bodyPr>
          <a:lstStyle/>
          <a:p>
            <a:r>
              <a:rPr lang="en-US" dirty="0" err="1"/>
              <a:t>youtube</a:t>
            </a:r>
            <a:endParaRPr lang="en-US" dirty="0"/>
          </a:p>
        </p:txBody>
      </p:sp>
      <p:pic>
        <p:nvPicPr>
          <p:cNvPr id="52" name="Picture 51">
            <a:extLst>
              <a:ext uri="{FF2B5EF4-FFF2-40B4-BE49-F238E27FC236}">
                <a16:creationId xmlns:a16="http://schemas.microsoft.com/office/drawing/2014/main" id="{2AA6BEE8-9780-2588-FDC9-D481C1E32FB8}"/>
              </a:ext>
            </a:extLst>
          </p:cNvPr>
          <p:cNvPicPr>
            <a:picLocks noChangeAspect="1"/>
          </p:cNvPicPr>
          <p:nvPr/>
        </p:nvPicPr>
        <p:blipFill>
          <a:blip r:embed="rId7"/>
          <a:stretch>
            <a:fillRect/>
          </a:stretch>
        </p:blipFill>
        <p:spPr>
          <a:xfrm>
            <a:off x="577589" y="4268163"/>
            <a:ext cx="1915817" cy="1569245"/>
          </a:xfrm>
          <a:prstGeom prst="rect">
            <a:avLst/>
          </a:prstGeom>
        </p:spPr>
      </p:pic>
      <p:pic>
        <p:nvPicPr>
          <p:cNvPr id="54" name="Picture 53">
            <a:extLst>
              <a:ext uri="{FF2B5EF4-FFF2-40B4-BE49-F238E27FC236}">
                <a16:creationId xmlns:a16="http://schemas.microsoft.com/office/drawing/2014/main" id="{54286CAB-B2F4-777C-59A4-D2A4AC6EDD28}"/>
              </a:ext>
            </a:extLst>
          </p:cNvPr>
          <p:cNvPicPr>
            <a:picLocks noChangeAspect="1"/>
          </p:cNvPicPr>
          <p:nvPr/>
        </p:nvPicPr>
        <p:blipFill>
          <a:blip r:embed="rId8"/>
          <a:stretch>
            <a:fillRect/>
          </a:stretch>
        </p:blipFill>
        <p:spPr>
          <a:xfrm>
            <a:off x="3167040" y="4300661"/>
            <a:ext cx="1847753" cy="1504251"/>
          </a:xfrm>
          <a:prstGeom prst="rect">
            <a:avLst/>
          </a:prstGeom>
        </p:spPr>
      </p:pic>
      <p:pic>
        <p:nvPicPr>
          <p:cNvPr id="6" name="Picture 5">
            <a:extLst>
              <a:ext uri="{FF2B5EF4-FFF2-40B4-BE49-F238E27FC236}">
                <a16:creationId xmlns:a16="http://schemas.microsoft.com/office/drawing/2014/main" id="{594D12E7-057B-A51D-2FF9-478CDC3141F9}"/>
              </a:ext>
            </a:extLst>
          </p:cNvPr>
          <p:cNvPicPr>
            <a:picLocks noChangeAspect="1"/>
          </p:cNvPicPr>
          <p:nvPr/>
        </p:nvPicPr>
        <p:blipFill>
          <a:blip r:embed="rId9"/>
          <a:stretch>
            <a:fillRect/>
          </a:stretch>
        </p:blipFill>
        <p:spPr>
          <a:xfrm>
            <a:off x="633481" y="1251584"/>
            <a:ext cx="1249697" cy="244786"/>
          </a:xfrm>
          <a:prstGeom prst="rect">
            <a:avLst/>
          </a:prstGeom>
        </p:spPr>
      </p:pic>
      <p:pic>
        <p:nvPicPr>
          <p:cNvPr id="7" name="Picture 6">
            <a:extLst>
              <a:ext uri="{FF2B5EF4-FFF2-40B4-BE49-F238E27FC236}">
                <a16:creationId xmlns:a16="http://schemas.microsoft.com/office/drawing/2014/main" id="{623C8664-FDFF-3308-F669-4BD1E48F9F83}"/>
              </a:ext>
            </a:extLst>
          </p:cNvPr>
          <p:cNvPicPr>
            <a:picLocks noChangeAspect="1"/>
          </p:cNvPicPr>
          <p:nvPr/>
        </p:nvPicPr>
        <p:blipFill>
          <a:blip r:embed="rId10"/>
          <a:stretch>
            <a:fillRect/>
          </a:stretch>
        </p:blipFill>
        <p:spPr>
          <a:xfrm>
            <a:off x="2177525" y="1251584"/>
            <a:ext cx="1089653" cy="240807"/>
          </a:xfrm>
          <a:prstGeom prst="rect">
            <a:avLst/>
          </a:prstGeom>
        </p:spPr>
      </p:pic>
      <p:pic>
        <p:nvPicPr>
          <p:cNvPr id="9" name="Picture 8">
            <a:extLst>
              <a:ext uri="{FF2B5EF4-FFF2-40B4-BE49-F238E27FC236}">
                <a16:creationId xmlns:a16="http://schemas.microsoft.com/office/drawing/2014/main" id="{87B620D3-42D5-F9DD-9AC4-E331F5CEB145}"/>
              </a:ext>
            </a:extLst>
          </p:cNvPr>
          <p:cNvPicPr>
            <a:picLocks noChangeAspect="1"/>
          </p:cNvPicPr>
          <p:nvPr/>
        </p:nvPicPr>
        <p:blipFill>
          <a:blip r:embed="rId11"/>
          <a:stretch>
            <a:fillRect/>
          </a:stretch>
        </p:blipFill>
        <p:spPr>
          <a:xfrm>
            <a:off x="3566251" y="1255900"/>
            <a:ext cx="1727006" cy="236491"/>
          </a:xfrm>
          <a:prstGeom prst="rect">
            <a:avLst/>
          </a:prstGeom>
        </p:spPr>
      </p:pic>
      <p:pic>
        <p:nvPicPr>
          <p:cNvPr id="11" name="Picture 10">
            <a:extLst>
              <a:ext uri="{FF2B5EF4-FFF2-40B4-BE49-F238E27FC236}">
                <a16:creationId xmlns:a16="http://schemas.microsoft.com/office/drawing/2014/main" id="{2952C0F2-A35D-AF62-1F44-AB622A7A7BA3}"/>
              </a:ext>
            </a:extLst>
          </p:cNvPr>
          <p:cNvPicPr>
            <a:picLocks noChangeAspect="1"/>
          </p:cNvPicPr>
          <p:nvPr/>
        </p:nvPicPr>
        <p:blipFill>
          <a:blip r:embed="rId12"/>
          <a:stretch>
            <a:fillRect/>
          </a:stretch>
        </p:blipFill>
        <p:spPr>
          <a:xfrm>
            <a:off x="5592330" y="1254170"/>
            <a:ext cx="1243784" cy="235633"/>
          </a:xfrm>
          <a:prstGeom prst="rect">
            <a:avLst/>
          </a:prstGeom>
        </p:spPr>
      </p:pic>
      <p:sp>
        <p:nvSpPr>
          <p:cNvPr id="13" name="TextBox 12">
            <a:extLst>
              <a:ext uri="{FF2B5EF4-FFF2-40B4-BE49-F238E27FC236}">
                <a16:creationId xmlns:a16="http://schemas.microsoft.com/office/drawing/2014/main" id="{3E52FAC7-65ED-6A53-06D6-C52631EFF409}"/>
              </a:ext>
            </a:extLst>
          </p:cNvPr>
          <p:cNvSpPr txBox="1"/>
          <p:nvPr/>
        </p:nvSpPr>
        <p:spPr>
          <a:xfrm>
            <a:off x="5777184" y="4300661"/>
            <a:ext cx="6101542" cy="2031325"/>
          </a:xfrm>
          <a:prstGeom prst="rect">
            <a:avLst/>
          </a:prstGeom>
          <a:noFill/>
          <a:ln>
            <a:solidFill>
              <a:schemeClr val="accent1">
                <a:shade val="15000"/>
              </a:schemeClr>
            </a:solidFill>
          </a:ln>
        </p:spPr>
        <p:txBody>
          <a:bodyPr wrap="square">
            <a:spAutoFit/>
          </a:bodyPr>
          <a:lstStyle/>
          <a:p>
            <a:pPr marL="285750" indent="-285750">
              <a:buFont typeface="Courier New" panose="02070309020205020404" pitchFamily="49" charset="0"/>
              <a:buChar char="o"/>
            </a:pPr>
            <a:r>
              <a:rPr lang="en-US" dirty="0">
                <a:latin typeface="Calibri" panose="020F0502020204030204" pitchFamily="34" charset="0"/>
                <a:cs typeface="Calibri" panose="020F0502020204030204" pitchFamily="34" charset="0"/>
              </a:rPr>
              <a:t>DTC-AR yielded best trade-off between speed and accuracy comparing with TRIEST-IMPR and MASCOT.</a:t>
            </a:r>
          </a:p>
          <a:p>
            <a:pPr marL="285750" indent="-285750">
              <a:buFont typeface="Courier New" panose="02070309020205020404" pitchFamily="49" charset="0"/>
              <a:buChar char="o"/>
            </a:pPr>
            <a:r>
              <a:rPr lang="en-US" dirty="0">
                <a:latin typeface="Calibri" panose="020F0502020204030204" pitchFamily="34" charset="0"/>
                <a:cs typeface="Calibri" panose="020F0502020204030204" pitchFamily="34" charset="0"/>
              </a:rPr>
              <a:t>DTC-AR achieved up to 35.0× more accuracy than </a:t>
            </a:r>
            <a:r>
              <a:rPr lang="en-US" dirty="0" err="1">
                <a:latin typeface="Calibri" panose="020F0502020204030204" pitchFamily="34" charset="0"/>
                <a:cs typeface="Calibri" panose="020F0502020204030204" pitchFamily="34" charset="0"/>
              </a:rPr>
              <a:t>CoCoS</a:t>
            </a:r>
            <a:r>
              <a:rPr lang="en-US" dirty="0">
                <a:latin typeface="Calibri" panose="020F0502020204030204" pitchFamily="34" charset="0"/>
                <a:cs typeface="Calibri" panose="020F0502020204030204" pitchFamily="34" charset="0"/>
              </a:rPr>
              <a:t> in terms of global error, when they consumed similar time. </a:t>
            </a:r>
          </a:p>
          <a:p>
            <a:pPr marL="285750" indent="-285750">
              <a:buFont typeface="Courier New" panose="02070309020205020404" pitchFamily="49" charset="0"/>
              <a:buChar char="o"/>
            </a:pPr>
            <a:r>
              <a:rPr lang="en-US" dirty="0">
                <a:latin typeface="Calibri" panose="020F0502020204030204" pitchFamily="34" charset="0"/>
                <a:cs typeface="Calibri" panose="020F0502020204030204" pitchFamily="34" charset="0"/>
              </a:rPr>
              <a:t>The scalability of DTC-AR is directly proportional to the sampling threshold in graph streams, ensuring efficient performance as the threshold increases.</a:t>
            </a:r>
          </a:p>
        </p:txBody>
      </p:sp>
      <p:sp>
        <p:nvSpPr>
          <p:cNvPr id="17" name="TextBox 16">
            <a:extLst>
              <a:ext uri="{FF2B5EF4-FFF2-40B4-BE49-F238E27FC236}">
                <a16:creationId xmlns:a16="http://schemas.microsoft.com/office/drawing/2014/main" id="{35C91B1F-2EC0-C4EA-C7D5-9CD0E945F0B3}"/>
              </a:ext>
            </a:extLst>
          </p:cNvPr>
          <p:cNvSpPr txBox="1"/>
          <p:nvPr/>
        </p:nvSpPr>
        <p:spPr>
          <a:xfrm>
            <a:off x="8569810" y="1109668"/>
            <a:ext cx="3308916" cy="2585323"/>
          </a:xfrm>
          <a:prstGeom prst="rect">
            <a:avLst/>
          </a:prstGeom>
          <a:noFill/>
          <a:ln>
            <a:solidFill>
              <a:schemeClr val="accent1">
                <a:shade val="15000"/>
              </a:schemeClr>
            </a:solidFill>
          </a:ln>
        </p:spPr>
        <p:txBody>
          <a:bodyPr wrap="square">
            <a:spAutoFit/>
          </a:bodyPr>
          <a:lstStyle/>
          <a:p>
            <a:pPr marL="285750" indent="-285750">
              <a:buFont typeface="Arial" panose="020B0604020202020204" pitchFamily="34" charset="0"/>
              <a:buChar char="•"/>
            </a:pPr>
            <a:r>
              <a:rPr lang="en-US" dirty="0"/>
              <a:t>The number of workers was 10, only stored 0.1% of graph dataset </a:t>
            </a:r>
            <a:r>
              <a:rPr lang="en-US" dirty="0" err="1"/>
              <a:t>Dblp</a:t>
            </a:r>
            <a:r>
              <a:rPr lang="en-US" dirty="0"/>
              <a:t> in distributed settings.</a:t>
            </a:r>
          </a:p>
          <a:p>
            <a:pPr marL="285750" indent="-285750">
              <a:buFont typeface="Arial" panose="020B0604020202020204" pitchFamily="34" charset="0"/>
              <a:buChar char="•"/>
            </a:pPr>
            <a:r>
              <a:rPr lang="en-US" dirty="0"/>
              <a:t>The storage budget of TRIEST-IMPR: 2% to 5% of the number of edges.</a:t>
            </a:r>
          </a:p>
          <a:p>
            <a:pPr marL="285750" indent="-285750">
              <a:buFont typeface="Arial" panose="020B0604020202020204" pitchFamily="34" charset="0"/>
              <a:buChar char="•"/>
            </a:pPr>
            <a:r>
              <a:rPr lang="en-US" dirty="0"/>
              <a:t>The sampling probability of MASCOT is from 2% to 5%.</a:t>
            </a:r>
          </a:p>
        </p:txBody>
      </p:sp>
      <p:sp>
        <p:nvSpPr>
          <p:cNvPr id="19" name="Rectangle 18">
            <a:extLst>
              <a:ext uri="{FF2B5EF4-FFF2-40B4-BE49-F238E27FC236}">
                <a16:creationId xmlns:a16="http://schemas.microsoft.com/office/drawing/2014/main" id="{5E1B8C24-E178-D340-B044-AAB2328FA288}"/>
              </a:ext>
            </a:extLst>
          </p:cNvPr>
          <p:cNvSpPr/>
          <p:nvPr/>
        </p:nvSpPr>
        <p:spPr>
          <a:xfrm>
            <a:off x="579748" y="1164141"/>
            <a:ext cx="6338694" cy="40183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4835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9721695"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DTC-</a:t>
            </a:r>
            <a:r>
              <a:rPr lang="en-US" altLang="zh-CN" sz="4000" dirty="0">
                <a:solidFill>
                  <a:srgbClr val="C00000"/>
                </a:solidFill>
                <a:latin typeface="Maiandra GD" panose="020E0502030308020204" pitchFamily="34" charset="0"/>
              </a:rPr>
              <a:t>FD</a:t>
            </a:r>
            <a:r>
              <a:rPr lang="en-US" sz="4000" dirty="0">
                <a:solidFill>
                  <a:srgbClr val="C00000"/>
                </a:solidFill>
                <a:latin typeface="Maiandra GD" panose="020E0502030308020204" pitchFamily="34" charset="0"/>
              </a:rPr>
              <a:t>: Accuracy</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18</a:t>
            </a:fld>
            <a:endParaRPr lang="zh-CN" altLang="en-US"/>
          </a:p>
        </p:txBody>
      </p:sp>
      <p:pic>
        <p:nvPicPr>
          <p:cNvPr id="6" name="Picture 5">
            <a:extLst>
              <a:ext uri="{FF2B5EF4-FFF2-40B4-BE49-F238E27FC236}">
                <a16:creationId xmlns:a16="http://schemas.microsoft.com/office/drawing/2014/main" id="{6C0A269B-4D27-7F93-B559-4A2F2845C469}"/>
              </a:ext>
            </a:extLst>
          </p:cNvPr>
          <p:cNvPicPr>
            <a:picLocks noChangeAspect="1"/>
          </p:cNvPicPr>
          <p:nvPr/>
        </p:nvPicPr>
        <p:blipFill>
          <a:blip r:embed="rId3"/>
          <a:stretch>
            <a:fillRect/>
          </a:stretch>
        </p:blipFill>
        <p:spPr>
          <a:xfrm>
            <a:off x="358925" y="1505827"/>
            <a:ext cx="3239439" cy="1617114"/>
          </a:xfrm>
          <a:prstGeom prst="rect">
            <a:avLst/>
          </a:prstGeom>
        </p:spPr>
      </p:pic>
      <p:sp>
        <p:nvSpPr>
          <p:cNvPr id="10" name="TextBox 9">
            <a:extLst>
              <a:ext uri="{FF2B5EF4-FFF2-40B4-BE49-F238E27FC236}">
                <a16:creationId xmlns:a16="http://schemas.microsoft.com/office/drawing/2014/main" id="{D2BAD0DF-4A27-ABAB-8A22-366F30062AA4}"/>
              </a:ext>
            </a:extLst>
          </p:cNvPr>
          <p:cNvSpPr txBox="1"/>
          <p:nvPr/>
        </p:nvSpPr>
        <p:spPr>
          <a:xfrm>
            <a:off x="1230263" y="3245097"/>
            <a:ext cx="1321724" cy="369332"/>
          </a:xfrm>
          <a:prstGeom prst="rect">
            <a:avLst/>
          </a:prstGeom>
          <a:noFill/>
        </p:spPr>
        <p:txBody>
          <a:bodyPr wrap="square">
            <a:spAutoFit/>
          </a:bodyPr>
          <a:lstStyle/>
          <a:p>
            <a:r>
              <a:rPr lang="en-US" dirty="0"/>
              <a:t>Global Error</a:t>
            </a:r>
          </a:p>
        </p:txBody>
      </p:sp>
      <p:pic>
        <p:nvPicPr>
          <p:cNvPr id="14" name="Picture 13">
            <a:extLst>
              <a:ext uri="{FF2B5EF4-FFF2-40B4-BE49-F238E27FC236}">
                <a16:creationId xmlns:a16="http://schemas.microsoft.com/office/drawing/2014/main" id="{8BFE20E9-734F-BAC8-B5C4-5668C7026708}"/>
              </a:ext>
            </a:extLst>
          </p:cNvPr>
          <p:cNvPicPr>
            <a:picLocks noChangeAspect="1"/>
          </p:cNvPicPr>
          <p:nvPr/>
        </p:nvPicPr>
        <p:blipFill>
          <a:blip r:embed="rId4"/>
          <a:stretch>
            <a:fillRect/>
          </a:stretch>
        </p:blipFill>
        <p:spPr>
          <a:xfrm>
            <a:off x="3893543" y="1597223"/>
            <a:ext cx="3061913" cy="1617114"/>
          </a:xfrm>
          <a:prstGeom prst="rect">
            <a:avLst/>
          </a:prstGeom>
        </p:spPr>
      </p:pic>
      <p:sp>
        <p:nvSpPr>
          <p:cNvPr id="16" name="TextBox 15">
            <a:extLst>
              <a:ext uri="{FF2B5EF4-FFF2-40B4-BE49-F238E27FC236}">
                <a16:creationId xmlns:a16="http://schemas.microsoft.com/office/drawing/2014/main" id="{322CF02C-22F7-849E-86D3-9E9DA2B9B6C4}"/>
              </a:ext>
            </a:extLst>
          </p:cNvPr>
          <p:cNvSpPr txBox="1"/>
          <p:nvPr/>
        </p:nvSpPr>
        <p:spPr>
          <a:xfrm>
            <a:off x="4471011" y="3249246"/>
            <a:ext cx="1906976" cy="369332"/>
          </a:xfrm>
          <a:prstGeom prst="rect">
            <a:avLst/>
          </a:prstGeom>
          <a:noFill/>
        </p:spPr>
        <p:txBody>
          <a:bodyPr wrap="square">
            <a:spAutoFit/>
          </a:bodyPr>
          <a:lstStyle/>
          <a:p>
            <a:r>
              <a:rPr lang="en-US" dirty="0"/>
              <a:t>Global Variance</a:t>
            </a:r>
          </a:p>
        </p:txBody>
      </p:sp>
      <p:pic>
        <p:nvPicPr>
          <p:cNvPr id="18" name="Picture 17">
            <a:extLst>
              <a:ext uri="{FF2B5EF4-FFF2-40B4-BE49-F238E27FC236}">
                <a16:creationId xmlns:a16="http://schemas.microsoft.com/office/drawing/2014/main" id="{91784300-CC2F-E349-8BA7-A44688E73766}"/>
              </a:ext>
            </a:extLst>
          </p:cNvPr>
          <p:cNvPicPr>
            <a:picLocks noChangeAspect="1"/>
          </p:cNvPicPr>
          <p:nvPr/>
        </p:nvPicPr>
        <p:blipFill>
          <a:blip r:embed="rId5"/>
          <a:stretch>
            <a:fillRect/>
          </a:stretch>
        </p:blipFill>
        <p:spPr>
          <a:xfrm>
            <a:off x="433013" y="4299941"/>
            <a:ext cx="3091261" cy="1618231"/>
          </a:xfrm>
          <a:prstGeom prst="rect">
            <a:avLst/>
          </a:prstGeom>
        </p:spPr>
      </p:pic>
      <p:sp>
        <p:nvSpPr>
          <p:cNvPr id="20" name="TextBox 19">
            <a:extLst>
              <a:ext uri="{FF2B5EF4-FFF2-40B4-BE49-F238E27FC236}">
                <a16:creationId xmlns:a16="http://schemas.microsoft.com/office/drawing/2014/main" id="{A47BC951-FBBC-FF28-9D30-BCA6F98BB87D}"/>
              </a:ext>
            </a:extLst>
          </p:cNvPr>
          <p:cNvSpPr txBox="1"/>
          <p:nvPr/>
        </p:nvSpPr>
        <p:spPr>
          <a:xfrm>
            <a:off x="1230263" y="6038974"/>
            <a:ext cx="1318362" cy="369332"/>
          </a:xfrm>
          <a:prstGeom prst="rect">
            <a:avLst/>
          </a:prstGeom>
          <a:noFill/>
        </p:spPr>
        <p:txBody>
          <a:bodyPr wrap="square">
            <a:spAutoFit/>
          </a:bodyPr>
          <a:lstStyle/>
          <a:p>
            <a:r>
              <a:rPr lang="en-US" dirty="0"/>
              <a:t>Local Error</a:t>
            </a:r>
          </a:p>
        </p:txBody>
      </p:sp>
      <p:pic>
        <p:nvPicPr>
          <p:cNvPr id="22" name="Picture 21">
            <a:extLst>
              <a:ext uri="{FF2B5EF4-FFF2-40B4-BE49-F238E27FC236}">
                <a16:creationId xmlns:a16="http://schemas.microsoft.com/office/drawing/2014/main" id="{D8F8466B-BB7D-F70D-4E47-1AFB4B6991E8}"/>
              </a:ext>
            </a:extLst>
          </p:cNvPr>
          <p:cNvPicPr>
            <a:picLocks noChangeAspect="1"/>
          </p:cNvPicPr>
          <p:nvPr/>
        </p:nvPicPr>
        <p:blipFill>
          <a:blip r:embed="rId6"/>
          <a:stretch>
            <a:fillRect/>
          </a:stretch>
        </p:blipFill>
        <p:spPr>
          <a:xfrm>
            <a:off x="3789662" y="4299942"/>
            <a:ext cx="3075208" cy="1618231"/>
          </a:xfrm>
          <a:prstGeom prst="rect">
            <a:avLst/>
          </a:prstGeom>
        </p:spPr>
      </p:pic>
      <p:sp>
        <p:nvSpPr>
          <p:cNvPr id="24" name="TextBox 23">
            <a:extLst>
              <a:ext uri="{FF2B5EF4-FFF2-40B4-BE49-F238E27FC236}">
                <a16:creationId xmlns:a16="http://schemas.microsoft.com/office/drawing/2014/main" id="{A3A875F8-8103-DD2D-344B-05D700C64B22}"/>
              </a:ext>
            </a:extLst>
          </p:cNvPr>
          <p:cNvSpPr txBox="1"/>
          <p:nvPr/>
        </p:nvSpPr>
        <p:spPr>
          <a:xfrm>
            <a:off x="4177680" y="6038974"/>
            <a:ext cx="2144684" cy="369332"/>
          </a:xfrm>
          <a:prstGeom prst="rect">
            <a:avLst/>
          </a:prstGeom>
          <a:noFill/>
        </p:spPr>
        <p:txBody>
          <a:bodyPr wrap="square">
            <a:spAutoFit/>
          </a:bodyPr>
          <a:lstStyle/>
          <a:p>
            <a:r>
              <a:rPr lang="en-US" dirty="0"/>
              <a:t>Pearson Coefficient</a:t>
            </a:r>
          </a:p>
        </p:txBody>
      </p:sp>
      <p:sp>
        <p:nvSpPr>
          <p:cNvPr id="26" name="TextBox 25">
            <a:extLst>
              <a:ext uri="{FF2B5EF4-FFF2-40B4-BE49-F238E27FC236}">
                <a16:creationId xmlns:a16="http://schemas.microsoft.com/office/drawing/2014/main" id="{4EBD3F81-D1B0-A717-A546-3A707213E4B9}"/>
              </a:ext>
            </a:extLst>
          </p:cNvPr>
          <p:cNvSpPr txBox="1"/>
          <p:nvPr/>
        </p:nvSpPr>
        <p:spPr>
          <a:xfrm>
            <a:off x="7046043" y="2136338"/>
            <a:ext cx="4841496" cy="2862322"/>
          </a:xfrm>
          <a:prstGeom prst="rect">
            <a:avLst/>
          </a:prstGeom>
          <a:noFill/>
          <a:ln>
            <a:solidFill>
              <a:schemeClr val="accent1">
                <a:shade val="15000"/>
              </a:schemeClr>
            </a:solidFill>
          </a:ln>
        </p:spPr>
        <p:txBody>
          <a:bodyPr wrap="square">
            <a:spAutoFit/>
          </a:bodyPr>
          <a:lstStyle/>
          <a:p>
            <a:pPr marL="285750" indent="-285750">
              <a:buFont typeface="Courier New" panose="02070309020205020404" pitchFamily="49" charset="0"/>
              <a:buChar char="o"/>
            </a:pPr>
            <a:r>
              <a:rPr lang="en-US" dirty="0">
                <a:latin typeface="Calibri" panose="020F0502020204030204" pitchFamily="34" charset="0"/>
                <a:cs typeface="Calibri" panose="020F0502020204030204" pitchFamily="34" charset="0"/>
              </a:rPr>
              <a:t>DTC-FD demonstrates significantly higher accuracy compared to MASCOT-FD, achieving up to 32.5× and 19.3× improvement in global error and local error, respectively. </a:t>
            </a:r>
          </a:p>
          <a:p>
            <a:pPr marL="285750" indent="-285750">
              <a:buFont typeface="Courier New" panose="02070309020205020404" pitchFamily="49" charset="0"/>
              <a:buChar char="o"/>
            </a:pPr>
            <a:endParaRPr lang="en-US" dirty="0">
              <a:latin typeface="Calibri" panose="020F0502020204030204" pitchFamily="34" charset="0"/>
              <a:cs typeface="Calibri" panose="020F0502020204030204" pitchFamily="34" charset="0"/>
            </a:endParaRPr>
          </a:p>
          <a:p>
            <a:pPr marL="285750" indent="-285750">
              <a:buFont typeface="Courier New" panose="02070309020205020404" pitchFamily="49" charset="0"/>
              <a:buChar char="o"/>
            </a:pPr>
            <a:endParaRPr lang="en-US" dirty="0">
              <a:latin typeface="Calibri" panose="020F0502020204030204" pitchFamily="34" charset="0"/>
              <a:cs typeface="Calibri" panose="020F0502020204030204" pitchFamily="34" charset="0"/>
            </a:endParaRPr>
          </a:p>
          <a:p>
            <a:pPr marL="285750" indent="-285750">
              <a:buFont typeface="Courier New" panose="02070309020205020404" pitchFamily="49" charset="0"/>
              <a:buChar char="o"/>
            </a:pPr>
            <a:r>
              <a:rPr lang="en-US" dirty="0">
                <a:latin typeface="Calibri" panose="020F0502020204030204" pitchFamily="34" charset="0"/>
                <a:cs typeface="Calibri" panose="020F0502020204030204" pitchFamily="34" charset="0"/>
              </a:rPr>
              <a:t>Additionally, DTC-FD outperforms </a:t>
            </a:r>
            <a:r>
              <a:rPr lang="en-US" dirty="0" err="1">
                <a:latin typeface="Calibri" panose="020F0502020204030204" pitchFamily="34" charset="0"/>
                <a:cs typeface="Calibri" panose="020F0502020204030204" pitchFamily="34" charset="0"/>
              </a:rPr>
              <a:t>ThinkDAcc</a:t>
            </a:r>
            <a:r>
              <a:rPr lang="en-US" dirty="0">
                <a:latin typeface="Calibri" panose="020F0502020204030204" pitchFamily="34" charset="0"/>
                <a:cs typeface="Calibri" panose="020F0502020204030204" pitchFamily="34" charset="0"/>
              </a:rPr>
              <a:t> with up to 109.7× improvement in global variance and 2.6× improvement in the Pearson coefficient.</a:t>
            </a:r>
          </a:p>
        </p:txBody>
      </p:sp>
      <p:pic>
        <p:nvPicPr>
          <p:cNvPr id="4" name="Picture 3">
            <a:extLst>
              <a:ext uri="{FF2B5EF4-FFF2-40B4-BE49-F238E27FC236}">
                <a16:creationId xmlns:a16="http://schemas.microsoft.com/office/drawing/2014/main" id="{13A414D7-3491-6435-325C-0F56A56D6ED3}"/>
              </a:ext>
            </a:extLst>
          </p:cNvPr>
          <p:cNvPicPr>
            <a:picLocks noChangeAspect="1"/>
          </p:cNvPicPr>
          <p:nvPr/>
        </p:nvPicPr>
        <p:blipFill>
          <a:blip r:embed="rId7"/>
          <a:stretch>
            <a:fillRect/>
          </a:stretch>
        </p:blipFill>
        <p:spPr>
          <a:xfrm>
            <a:off x="965300" y="1097581"/>
            <a:ext cx="5648723" cy="300819"/>
          </a:xfrm>
          <a:prstGeom prst="rect">
            <a:avLst/>
          </a:prstGeom>
        </p:spPr>
      </p:pic>
    </p:spTree>
    <p:extLst>
      <p:ext uri="{BB962C8B-B14F-4D97-AF65-F5344CB8AC3E}">
        <p14:creationId xmlns:p14="http://schemas.microsoft.com/office/powerpoint/2010/main" val="2716846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9721695"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DTC-</a:t>
            </a:r>
            <a:r>
              <a:rPr lang="en-US" altLang="zh-CN" sz="4000" dirty="0">
                <a:solidFill>
                  <a:srgbClr val="C00000"/>
                </a:solidFill>
                <a:latin typeface="Maiandra GD" panose="020E0502030308020204" pitchFamily="34" charset="0"/>
              </a:rPr>
              <a:t>FD: Speed and Scalability </a:t>
            </a:r>
            <a:endParaRPr lang="en-US" sz="4000" dirty="0">
              <a:solidFill>
                <a:srgbClr val="C00000"/>
              </a:solidFill>
              <a:latin typeface="Maiandra GD" panose="020E0502030308020204" pitchFamily="34" charset="0"/>
            </a:endParaRP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19</a:t>
            </a:fld>
            <a:endParaRPr lang="zh-CN" altLang="en-US" dirty="0"/>
          </a:p>
        </p:txBody>
      </p:sp>
      <p:sp>
        <p:nvSpPr>
          <p:cNvPr id="7" name="TextBox 6">
            <a:extLst>
              <a:ext uri="{FF2B5EF4-FFF2-40B4-BE49-F238E27FC236}">
                <a16:creationId xmlns:a16="http://schemas.microsoft.com/office/drawing/2014/main" id="{0AD95DD6-E6AD-5411-7AA7-A77BAEF57809}"/>
              </a:ext>
            </a:extLst>
          </p:cNvPr>
          <p:cNvSpPr txBox="1"/>
          <p:nvPr/>
        </p:nvSpPr>
        <p:spPr>
          <a:xfrm>
            <a:off x="1153236" y="3693164"/>
            <a:ext cx="778312" cy="369332"/>
          </a:xfrm>
          <a:prstGeom prst="rect">
            <a:avLst/>
          </a:prstGeom>
          <a:noFill/>
        </p:spPr>
        <p:txBody>
          <a:bodyPr wrap="square">
            <a:spAutoFit/>
          </a:bodyPr>
          <a:lstStyle/>
          <a:p>
            <a:r>
              <a:rPr lang="en-US" dirty="0" err="1"/>
              <a:t>dblp</a:t>
            </a:r>
            <a:endParaRPr lang="en-US" dirty="0"/>
          </a:p>
        </p:txBody>
      </p:sp>
      <p:pic>
        <p:nvPicPr>
          <p:cNvPr id="9" name="Picture 8">
            <a:extLst>
              <a:ext uri="{FF2B5EF4-FFF2-40B4-BE49-F238E27FC236}">
                <a16:creationId xmlns:a16="http://schemas.microsoft.com/office/drawing/2014/main" id="{85D0CB08-CAA6-D183-2F78-6AA0C0AF01AD}"/>
              </a:ext>
            </a:extLst>
          </p:cNvPr>
          <p:cNvPicPr>
            <a:picLocks noChangeAspect="1"/>
          </p:cNvPicPr>
          <p:nvPr/>
        </p:nvPicPr>
        <p:blipFill>
          <a:blip r:embed="rId3"/>
          <a:stretch>
            <a:fillRect/>
          </a:stretch>
        </p:blipFill>
        <p:spPr>
          <a:xfrm>
            <a:off x="564245" y="2319333"/>
            <a:ext cx="1610960" cy="1335335"/>
          </a:xfrm>
          <a:prstGeom prst="rect">
            <a:avLst/>
          </a:prstGeom>
        </p:spPr>
      </p:pic>
      <p:sp>
        <p:nvSpPr>
          <p:cNvPr id="11" name="TextBox 10">
            <a:extLst>
              <a:ext uri="{FF2B5EF4-FFF2-40B4-BE49-F238E27FC236}">
                <a16:creationId xmlns:a16="http://schemas.microsoft.com/office/drawing/2014/main" id="{1B6B7237-6439-DA24-4109-2792E9A77F3F}"/>
              </a:ext>
            </a:extLst>
          </p:cNvPr>
          <p:cNvSpPr txBox="1"/>
          <p:nvPr/>
        </p:nvSpPr>
        <p:spPr>
          <a:xfrm>
            <a:off x="2808404" y="3690232"/>
            <a:ext cx="1336348" cy="369332"/>
          </a:xfrm>
          <a:prstGeom prst="rect">
            <a:avLst/>
          </a:prstGeom>
          <a:noFill/>
        </p:spPr>
        <p:txBody>
          <a:bodyPr wrap="square">
            <a:spAutoFit/>
          </a:bodyPr>
          <a:lstStyle/>
          <a:p>
            <a:r>
              <a:rPr lang="en-US" dirty="0" err="1"/>
              <a:t>notreDame</a:t>
            </a:r>
            <a:endParaRPr lang="en-US" dirty="0"/>
          </a:p>
        </p:txBody>
      </p:sp>
      <p:pic>
        <p:nvPicPr>
          <p:cNvPr id="13" name="Picture 12">
            <a:extLst>
              <a:ext uri="{FF2B5EF4-FFF2-40B4-BE49-F238E27FC236}">
                <a16:creationId xmlns:a16="http://schemas.microsoft.com/office/drawing/2014/main" id="{20B0442F-0501-4334-99A9-62C295884167}"/>
              </a:ext>
            </a:extLst>
          </p:cNvPr>
          <p:cNvPicPr>
            <a:picLocks noChangeAspect="1"/>
          </p:cNvPicPr>
          <p:nvPr/>
        </p:nvPicPr>
        <p:blipFill>
          <a:blip r:embed="rId4"/>
          <a:stretch>
            <a:fillRect/>
          </a:stretch>
        </p:blipFill>
        <p:spPr>
          <a:xfrm>
            <a:off x="2476794" y="2381258"/>
            <a:ext cx="1614473" cy="1335335"/>
          </a:xfrm>
          <a:prstGeom prst="rect">
            <a:avLst/>
          </a:prstGeom>
        </p:spPr>
      </p:pic>
      <p:pic>
        <p:nvPicPr>
          <p:cNvPr id="15" name="Picture 14">
            <a:extLst>
              <a:ext uri="{FF2B5EF4-FFF2-40B4-BE49-F238E27FC236}">
                <a16:creationId xmlns:a16="http://schemas.microsoft.com/office/drawing/2014/main" id="{D68AE7D8-3DE2-4BF2-910F-A5E1FF767EC5}"/>
              </a:ext>
            </a:extLst>
          </p:cNvPr>
          <p:cNvPicPr>
            <a:picLocks noChangeAspect="1"/>
          </p:cNvPicPr>
          <p:nvPr/>
        </p:nvPicPr>
        <p:blipFill>
          <a:blip r:embed="rId5"/>
          <a:stretch>
            <a:fillRect/>
          </a:stretch>
        </p:blipFill>
        <p:spPr>
          <a:xfrm>
            <a:off x="4269842" y="2381258"/>
            <a:ext cx="1611219" cy="1335335"/>
          </a:xfrm>
          <a:prstGeom prst="rect">
            <a:avLst/>
          </a:prstGeom>
        </p:spPr>
      </p:pic>
      <p:sp>
        <p:nvSpPr>
          <p:cNvPr id="17" name="TextBox 16">
            <a:extLst>
              <a:ext uri="{FF2B5EF4-FFF2-40B4-BE49-F238E27FC236}">
                <a16:creationId xmlns:a16="http://schemas.microsoft.com/office/drawing/2014/main" id="{1DDAAC04-BBBF-5CDD-EBE4-979E293D164D}"/>
              </a:ext>
            </a:extLst>
          </p:cNvPr>
          <p:cNvSpPr txBox="1"/>
          <p:nvPr/>
        </p:nvSpPr>
        <p:spPr>
          <a:xfrm>
            <a:off x="4810540" y="3697170"/>
            <a:ext cx="957157" cy="369332"/>
          </a:xfrm>
          <a:prstGeom prst="rect">
            <a:avLst/>
          </a:prstGeom>
          <a:noFill/>
        </p:spPr>
        <p:txBody>
          <a:bodyPr wrap="square">
            <a:spAutoFit/>
          </a:bodyPr>
          <a:lstStyle/>
          <a:p>
            <a:r>
              <a:rPr lang="en-US" dirty="0"/>
              <a:t>amazon</a:t>
            </a:r>
          </a:p>
        </p:txBody>
      </p:sp>
      <p:sp>
        <p:nvSpPr>
          <p:cNvPr id="19" name="TextBox 18">
            <a:extLst>
              <a:ext uri="{FF2B5EF4-FFF2-40B4-BE49-F238E27FC236}">
                <a16:creationId xmlns:a16="http://schemas.microsoft.com/office/drawing/2014/main" id="{3FD93AEC-8704-74D4-9B8B-F288B15C3749}"/>
              </a:ext>
            </a:extLst>
          </p:cNvPr>
          <p:cNvSpPr txBox="1"/>
          <p:nvPr/>
        </p:nvSpPr>
        <p:spPr>
          <a:xfrm>
            <a:off x="6571555" y="3683680"/>
            <a:ext cx="1117176" cy="369332"/>
          </a:xfrm>
          <a:prstGeom prst="rect">
            <a:avLst/>
          </a:prstGeom>
          <a:noFill/>
        </p:spPr>
        <p:txBody>
          <a:bodyPr wrap="square">
            <a:spAutoFit/>
          </a:bodyPr>
          <a:lstStyle/>
          <a:p>
            <a:r>
              <a:rPr lang="en-US" dirty="0" err="1"/>
              <a:t>facebook</a:t>
            </a:r>
            <a:endParaRPr lang="en-US" dirty="0"/>
          </a:p>
        </p:txBody>
      </p:sp>
      <p:pic>
        <p:nvPicPr>
          <p:cNvPr id="21" name="Picture 20">
            <a:extLst>
              <a:ext uri="{FF2B5EF4-FFF2-40B4-BE49-F238E27FC236}">
                <a16:creationId xmlns:a16="http://schemas.microsoft.com/office/drawing/2014/main" id="{CCD5937B-FD24-C40B-3200-1236ADF3EB4E}"/>
              </a:ext>
            </a:extLst>
          </p:cNvPr>
          <p:cNvPicPr>
            <a:picLocks noChangeAspect="1"/>
          </p:cNvPicPr>
          <p:nvPr/>
        </p:nvPicPr>
        <p:blipFill>
          <a:blip r:embed="rId6"/>
          <a:stretch>
            <a:fillRect/>
          </a:stretch>
        </p:blipFill>
        <p:spPr>
          <a:xfrm>
            <a:off x="6040598" y="2319333"/>
            <a:ext cx="1681181" cy="1397259"/>
          </a:xfrm>
          <a:prstGeom prst="rect">
            <a:avLst/>
          </a:prstGeom>
        </p:spPr>
      </p:pic>
      <p:sp>
        <p:nvSpPr>
          <p:cNvPr id="23" name="TextBox 22">
            <a:extLst>
              <a:ext uri="{FF2B5EF4-FFF2-40B4-BE49-F238E27FC236}">
                <a16:creationId xmlns:a16="http://schemas.microsoft.com/office/drawing/2014/main" id="{F6087D0C-9E24-1CE9-36A0-EC8A621AF032}"/>
              </a:ext>
            </a:extLst>
          </p:cNvPr>
          <p:cNvSpPr txBox="1"/>
          <p:nvPr/>
        </p:nvSpPr>
        <p:spPr>
          <a:xfrm>
            <a:off x="1153236" y="6061415"/>
            <a:ext cx="685551" cy="369332"/>
          </a:xfrm>
          <a:prstGeom prst="rect">
            <a:avLst/>
          </a:prstGeom>
          <a:noFill/>
        </p:spPr>
        <p:txBody>
          <a:bodyPr wrap="square">
            <a:spAutoFit/>
          </a:bodyPr>
          <a:lstStyle/>
          <a:p>
            <a:r>
              <a:rPr lang="en-US" dirty="0" err="1"/>
              <a:t>dblp</a:t>
            </a:r>
            <a:endParaRPr lang="en-US" dirty="0"/>
          </a:p>
        </p:txBody>
      </p:sp>
      <p:pic>
        <p:nvPicPr>
          <p:cNvPr id="25" name="Picture 24">
            <a:extLst>
              <a:ext uri="{FF2B5EF4-FFF2-40B4-BE49-F238E27FC236}">
                <a16:creationId xmlns:a16="http://schemas.microsoft.com/office/drawing/2014/main" id="{C6E61737-9122-AEB1-9922-CCC113D89CF2}"/>
              </a:ext>
            </a:extLst>
          </p:cNvPr>
          <p:cNvPicPr>
            <a:picLocks noChangeAspect="1"/>
          </p:cNvPicPr>
          <p:nvPr/>
        </p:nvPicPr>
        <p:blipFill>
          <a:blip r:embed="rId7"/>
          <a:stretch>
            <a:fillRect/>
          </a:stretch>
        </p:blipFill>
        <p:spPr>
          <a:xfrm>
            <a:off x="564245" y="4716661"/>
            <a:ext cx="1584884" cy="1315987"/>
          </a:xfrm>
          <a:prstGeom prst="rect">
            <a:avLst/>
          </a:prstGeom>
        </p:spPr>
      </p:pic>
      <p:sp>
        <p:nvSpPr>
          <p:cNvPr id="27" name="TextBox 26">
            <a:extLst>
              <a:ext uri="{FF2B5EF4-FFF2-40B4-BE49-F238E27FC236}">
                <a16:creationId xmlns:a16="http://schemas.microsoft.com/office/drawing/2014/main" id="{8C9B1DD8-6FD5-A523-ABCB-5A64A3E4ED45}"/>
              </a:ext>
            </a:extLst>
          </p:cNvPr>
          <p:cNvSpPr txBox="1"/>
          <p:nvPr/>
        </p:nvSpPr>
        <p:spPr>
          <a:xfrm>
            <a:off x="2802217" y="6040812"/>
            <a:ext cx="1289050" cy="369332"/>
          </a:xfrm>
          <a:prstGeom prst="rect">
            <a:avLst/>
          </a:prstGeom>
          <a:noFill/>
        </p:spPr>
        <p:txBody>
          <a:bodyPr wrap="square">
            <a:spAutoFit/>
          </a:bodyPr>
          <a:lstStyle/>
          <a:p>
            <a:r>
              <a:rPr lang="en-US" dirty="0" err="1"/>
              <a:t>notreDame</a:t>
            </a:r>
            <a:endParaRPr lang="en-US" dirty="0"/>
          </a:p>
        </p:txBody>
      </p:sp>
      <p:pic>
        <p:nvPicPr>
          <p:cNvPr id="29" name="Picture 28">
            <a:extLst>
              <a:ext uri="{FF2B5EF4-FFF2-40B4-BE49-F238E27FC236}">
                <a16:creationId xmlns:a16="http://schemas.microsoft.com/office/drawing/2014/main" id="{F8F5E8DC-1302-5A2A-BE52-F1429F7DA86C}"/>
              </a:ext>
            </a:extLst>
          </p:cNvPr>
          <p:cNvPicPr>
            <a:picLocks noChangeAspect="1"/>
          </p:cNvPicPr>
          <p:nvPr/>
        </p:nvPicPr>
        <p:blipFill>
          <a:blip r:embed="rId8"/>
          <a:stretch>
            <a:fillRect/>
          </a:stretch>
        </p:blipFill>
        <p:spPr>
          <a:xfrm>
            <a:off x="2519403" y="4710544"/>
            <a:ext cx="1589841" cy="1315987"/>
          </a:xfrm>
          <a:prstGeom prst="rect">
            <a:avLst/>
          </a:prstGeom>
        </p:spPr>
      </p:pic>
      <p:sp>
        <p:nvSpPr>
          <p:cNvPr id="31" name="TextBox 30">
            <a:extLst>
              <a:ext uri="{FF2B5EF4-FFF2-40B4-BE49-F238E27FC236}">
                <a16:creationId xmlns:a16="http://schemas.microsoft.com/office/drawing/2014/main" id="{5681E59E-BFE2-2C8A-8CFC-71981A67DFCC}"/>
              </a:ext>
            </a:extLst>
          </p:cNvPr>
          <p:cNvSpPr txBox="1"/>
          <p:nvPr/>
        </p:nvSpPr>
        <p:spPr>
          <a:xfrm>
            <a:off x="4810540" y="6047018"/>
            <a:ext cx="1024653" cy="369332"/>
          </a:xfrm>
          <a:prstGeom prst="rect">
            <a:avLst/>
          </a:prstGeom>
          <a:noFill/>
        </p:spPr>
        <p:txBody>
          <a:bodyPr wrap="square">
            <a:spAutoFit/>
          </a:bodyPr>
          <a:lstStyle/>
          <a:p>
            <a:r>
              <a:rPr lang="en-US" dirty="0"/>
              <a:t>amazon</a:t>
            </a:r>
          </a:p>
        </p:txBody>
      </p:sp>
      <p:pic>
        <p:nvPicPr>
          <p:cNvPr id="33" name="Picture 32">
            <a:extLst>
              <a:ext uri="{FF2B5EF4-FFF2-40B4-BE49-F238E27FC236}">
                <a16:creationId xmlns:a16="http://schemas.microsoft.com/office/drawing/2014/main" id="{582838AB-5D95-1D21-FB18-9E3F92C3B07E}"/>
              </a:ext>
            </a:extLst>
          </p:cNvPr>
          <p:cNvPicPr>
            <a:picLocks noChangeAspect="1"/>
          </p:cNvPicPr>
          <p:nvPr/>
        </p:nvPicPr>
        <p:blipFill>
          <a:blip r:embed="rId9"/>
          <a:stretch>
            <a:fillRect/>
          </a:stretch>
        </p:blipFill>
        <p:spPr>
          <a:xfrm>
            <a:off x="4334202" y="4693422"/>
            <a:ext cx="1628431" cy="1350871"/>
          </a:xfrm>
          <a:prstGeom prst="rect">
            <a:avLst/>
          </a:prstGeom>
        </p:spPr>
      </p:pic>
      <p:sp>
        <p:nvSpPr>
          <p:cNvPr id="35" name="TextBox 34">
            <a:extLst>
              <a:ext uri="{FF2B5EF4-FFF2-40B4-BE49-F238E27FC236}">
                <a16:creationId xmlns:a16="http://schemas.microsoft.com/office/drawing/2014/main" id="{2A737640-BF69-398B-48ED-F148B73AC217}"/>
              </a:ext>
            </a:extLst>
          </p:cNvPr>
          <p:cNvSpPr txBox="1"/>
          <p:nvPr/>
        </p:nvSpPr>
        <p:spPr>
          <a:xfrm>
            <a:off x="6594617" y="6056066"/>
            <a:ext cx="1094114" cy="369332"/>
          </a:xfrm>
          <a:prstGeom prst="rect">
            <a:avLst/>
          </a:prstGeom>
          <a:noFill/>
        </p:spPr>
        <p:txBody>
          <a:bodyPr wrap="square">
            <a:spAutoFit/>
          </a:bodyPr>
          <a:lstStyle/>
          <a:p>
            <a:r>
              <a:rPr lang="en-US" dirty="0" err="1"/>
              <a:t>facebook</a:t>
            </a:r>
            <a:endParaRPr lang="en-US" dirty="0"/>
          </a:p>
        </p:txBody>
      </p:sp>
      <p:pic>
        <p:nvPicPr>
          <p:cNvPr id="37" name="Picture 36">
            <a:extLst>
              <a:ext uri="{FF2B5EF4-FFF2-40B4-BE49-F238E27FC236}">
                <a16:creationId xmlns:a16="http://schemas.microsoft.com/office/drawing/2014/main" id="{E4D3E3BB-4DFE-927A-DB96-2E133C82FEEC}"/>
              </a:ext>
            </a:extLst>
          </p:cNvPr>
          <p:cNvPicPr>
            <a:picLocks noChangeAspect="1"/>
          </p:cNvPicPr>
          <p:nvPr/>
        </p:nvPicPr>
        <p:blipFill>
          <a:blip r:embed="rId10"/>
          <a:stretch>
            <a:fillRect/>
          </a:stretch>
        </p:blipFill>
        <p:spPr>
          <a:xfrm>
            <a:off x="6218520" y="4693421"/>
            <a:ext cx="1644394" cy="1362645"/>
          </a:xfrm>
          <a:prstGeom prst="rect">
            <a:avLst/>
          </a:prstGeom>
        </p:spPr>
      </p:pic>
      <p:sp>
        <p:nvSpPr>
          <p:cNvPr id="6" name="TextBox 5">
            <a:extLst>
              <a:ext uri="{FF2B5EF4-FFF2-40B4-BE49-F238E27FC236}">
                <a16:creationId xmlns:a16="http://schemas.microsoft.com/office/drawing/2014/main" id="{C9689D2F-E6E1-8913-8170-A0119F15D72D}"/>
              </a:ext>
            </a:extLst>
          </p:cNvPr>
          <p:cNvSpPr txBox="1"/>
          <p:nvPr/>
        </p:nvSpPr>
        <p:spPr>
          <a:xfrm>
            <a:off x="8252736" y="2033430"/>
            <a:ext cx="3502155" cy="2862322"/>
          </a:xfrm>
          <a:prstGeom prst="rect">
            <a:avLst/>
          </a:prstGeom>
          <a:noFill/>
          <a:ln>
            <a:solidFill>
              <a:schemeClr val="accent1">
                <a:shade val="15000"/>
              </a:schemeClr>
            </a:solidFill>
          </a:ln>
        </p:spPr>
        <p:txBody>
          <a:bodyPr wrap="square">
            <a:spAutoFit/>
          </a:bodyPr>
          <a:lstStyle/>
          <a:p>
            <a:pPr marL="285750" indent="-285750">
              <a:buFont typeface="Courier New" panose="02070309020205020404" pitchFamily="49" charset="0"/>
              <a:buChar char="o"/>
            </a:pPr>
            <a:r>
              <a:rPr lang="en-US" dirty="0"/>
              <a:t>DTC-FD achieves the best trade-off between speed and accuracy compared to other algorithms for triangle counting in fully-dynamic graph streams.</a:t>
            </a:r>
          </a:p>
          <a:p>
            <a:endParaRPr lang="en-US" dirty="0"/>
          </a:p>
          <a:p>
            <a:endParaRPr lang="en-US" dirty="0"/>
          </a:p>
          <a:p>
            <a:pPr marL="285750" indent="-285750">
              <a:buFont typeface="Courier New" panose="02070309020205020404" pitchFamily="49" charset="0"/>
              <a:buChar char="o"/>
            </a:pPr>
            <a:r>
              <a:rPr lang="en-US" dirty="0"/>
              <a:t>Specifically, DTC-FD was up to 2.1× faster than </a:t>
            </a:r>
            <a:r>
              <a:rPr lang="en-US" dirty="0" err="1"/>
              <a:t>ThinkDAcc</a:t>
            </a:r>
            <a:r>
              <a:rPr lang="en-US" dirty="0"/>
              <a:t> with almost the same global error.</a:t>
            </a:r>
          </a:p>
        </p:txBody>
      </p:sp>
      <p:pic>
        <p:nvPicPr>
          <p:cNvPr id="8" name="Picture 7">
            <a:extLst>
              <a:ext uri="{FF2B5EF4-FFF2-40B4-BE49-F238E27FC236}">
                <a16:creationId xmlns:a16="http://schemas.microsoft.com/office/drawing/2014/main" id="{6FA2497E-B54C-1695-A176-C6412140CFB2}"/>
              </a:ext>
            </a:extLst>
          </p:cNvPr>
          <p:cNvPicPr>
            <a:picLocks noChangeAspect="1"/>
          </p:cNvPicPr>
          <p:nvPr/>
        </p:nvPicPr>
        <p:blipFill>
          <a:blip r:embed="rId11"/>
          <a:stretch>
            <a:fillRect/>
          </a:stretch>
        </p:blipFill>
        <p:spPr>
          <a:xfrm>
            <a:off x="743630" y="1233277"/>
            <a:ext cx="1211147" cy="255257"/>
          </a:xfrm>
          <a:prstGeom prst="rect">
            <a:avLst/>
          </a:prstGeom>
        </p:spPr>
      </p:pic>
      <p:pic>
        <p:nvPicPr>
          <p:cNvPr id="10" name="Picture 9">
            <a:extLst>
              <a:ext uri="{FF2B5EF4-FFF2-40B4-BE49-F238E27FC236}">
                <a16:creationId xmlns:a16="http://schemas.microsoft.com/office/drawing/2014/main" id="{DB5A5A0D-A262-D16E-284A-AA41C49630A8}"/>
              </a:ext>
            </a:extLst>
          </p:cNvPr>
          <p:cNvPicPr>
            <a:picLocks noChangeAspect="1"/>
          </p:cNvPicPr>
          <p:nvPr/>
        </p:nvPicPr>
        <p:blipFill>
          <a:blip r:embed="rId12"/>
          <a:stretch>
            <a:fillRect/>
          </a:stretch>
        </p:blipFill>
        <p:spPr>
          <a:xfrm>
            <a:off x="2231029" y="1244600"/>
            <a:ext cx="1327574" cy="250781"/>
          </a:xfrm>
          <a:prstGeom prst="rect">
            <a:avLst/>
          </a:prstGeom>
        </p:spPr>
      </p:pic>
      <p:pic>
        <p:nvPicPr>
          <p:cNvPr id="12" name="Picture 11">
            <a:extLst>
              <a:ext uri="{FF2B5EF4-FFF2-40B4-BE49-F238E27FC236}">
                <a16:creationId xmlns:a16="http://schemas.microsoft.com/office/drawing/2014/main" id="{3F9A1F9C-2065-4363-F2AD-E48F189C5A4F}"/>
              </a:ext>
            </a:extLst>
          </p:cNvPr>
          <p:cNvPicPr>
            <a:picLocks noChangeAspect="1"/>
          </p:cNvPicPr>
          <p:nvPr/>
        </p:nvPicPr>
        <p:blipFill>
          <a:blip r:embed="rId13"/>
          <a:stretch>
            <a:fillRect/>
          </a:stretch>
        </p:blipFill>
        <p:spPr>
          <a:xfrm>
            <a:off x="3749639" y="1228441"/>
            <a:ext cx="1464829" cy="250781"/>
          </a:xfrm>
          <a:prstGeom prst="rect">
            <a:avLst/>
          </a:prstGeom>
        </p:spPr>
      </p:pic>
      <p:pic>
        <p:nvPicPr>
          <p:cNvPr id="14" name="Picture 13">
            <a:extLst>
              <a:ext uri="{FF2B5EF4-FFF2-40B4-BE49-F238E27FC236}">
                <a16:creationId xmlns:a16="http://schemas.microsoft.com/office/drawing/2014/main" id="{D6A48340-6492-9173-A34C-18C9052BF243}"/>
              </a:ext>
            </a:extLst>
          </p:cNvPr>
          <p:cNvPicPr>
            <a:picLocks noChangeAspect="1"/>
          </p:cNvPicPr>
          <p:nvPr/>
        </p:nvPicPr>
        <p:blipFill>
          <a:blip r:embed="rId14"/>
          <a:stretch>
            <a:fillRect/>
          </a:stretch>
        </p:blipFill>
        <p:spPr>
          <a:xfrm>
            <a:off x="5309680" y="1243999"/>
            <a:ext cx="1572640" cy="250781"/>
          </a:xfrm>
          <a:prstGeom prst="rect">
            <a:avLst/>
          </a:prstGeom>
        </p:spPr>
      </p:pic>
      <p:sp>
        <p:nvSpPr>
          <p:cNvPr id="16" name="Rectangle 15">
            <a:extLst>
              <a:ext uri="{FF2B5EF4-FFF2-40B4-BE49-F238E27FC236}">
                <a16:creationId xmlns:a16="http://schemas.microsoft.com/office/drawing/2014/main" id="{0D912884-D5D0-49AB-B29E-52B200B5D4F4}"/>
              </a:ext>
            </a:extLst>
          </p:cNvPr>
          <p:cNvSpPr/>
          <p:nvPr/>
        </p:nvSpPr>
        <p:spPr>
          <a:xfrm>
            <a:off x="579748" y="1164141"/>
            <a:ext cx="6338694" cy="40183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A4F6502-BDDF-4B22-FC2C-8D94C6E75054}"/>
              </a:ext>
            </a:extLst>
          </p:cNvPr>
          <p:cNvSpPr txBox="1"/>
          <p:nvPr/>
        </p:nvSpPr>
        <p:spPr>
          <a:xfrm>
            <a:off x="579747" y="1845317"/>
            <a:ext cx="3427453" cy="369332"/>
          </a:xfrm>
          <a:prstGeom prst="rect">
            <a:avLst/>
          </a:prstGeom>
          <a:noFill/>
        </p:spPr>
        <p:txBody>
          <a:bodyPr wrap="square">
            <a:spAutoFit/>
          </a:bodyPr>
          <a:lstStyle/>
          <a:p>
            <a:r>
              <a:rPr lang="en-US" altLang="zh-CN" b="1" dirty="0">
                <a:latin typeface="Calibri" panose="020F0502020204030204" pitchFamily="34" charset="0"/>
                <a:cs typeface="Calibri" panose="020F0502020204030204" pitchFamily="34" charset="0"/>
              </a:rPr>
              <a:t>Global Variance </a:t>
            </a:r>
            <a:r>
              <a:rPr lang="en-US" altLang="zh-CN" dirty="0">
                <a:latin typeface="Calibri" panose="020F0502020204030204" pitchFamily="34" charset="0"/>
                <a:cs typeface="Calibri" panose="020F0502020204030204" pitchFamily="34" charset="0"/>
              </a:rPr>
              <a:t>(lower</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is</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better)</a:t>
            </a:r>
            <a:endParaRPr lang="en-US" dirty="0">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A5EA6634-EAF3-792F-59ED-18E831EE2612}"/>
              </a:ext>
            </a:extLst>
          </p:cNvPr>
          <p:cNvSpPr txBox="1"/>
          <p:nvPr/>
        </p:nvSpPr>
        <p:spPr>
          <a:xfrm>
            <a:off x="564909" y="4142068"/>
            <a:ext cx="3662689" cy="369332"/>
          </a:xfrm>
          <a:prstGeom prst="rect">
            <a:avLst/>
          </a:prstGeom>
          <a:noFill/>
        </p:spPr>
        <p:txBody>
          <a:bodyPr wrap="square">
            <a:spAutoFit/>
          </a:bodyPr>
          <a:lstStyle/>
          <a:p>
            <a:r>
              <a:rPr lang="en-US" altLang="zh-CN" b="1" dirty="0">
                <a:latin typeface="Calibri" panose="020F0502020204030204" pitchFamily="34" charset="0"/>
                <a:cs typeface="Calibri" panose="020F0502020204030204" pitchFamily="34" charset="0"/>
              </a:rPr>
              <a:t>Pearson Coefficient </a:t>
            </a:r>
            <a:r>
              <a:rPr lang="en-US" altLang="zh-CN" dirty="0">
                <a:latin typeface="Calibri" panose="020F0502020204030204" pitchFamily="34" charset="0"/>
                <a:cs typeface="Calibri" panose="020F0502020204030204" pitchFamily="34" charset="0"/>
              </a:rPr>
              <a:t>(higher</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is</a:t>
            </a:r>
            <a:r>
              <a:rPr lang="zh-CN" altLang="en-US" dirty="0">
                <a:latin typeface="Calibri" panose="020F0502020204030204" pitchFamily="34" charset="0"/>
                <a:cs typeface="Calibri" panose="020F0502020204030204" pitchFamily="34" charset="0"/>
              </a:rPr>
              <a:t> </a:t>
            </a:r>
            <a:r>
              <a:rPr lang="en-US" altLang="zh-CN" dirty="0">
                <a:latin typeface="Calibri" panose="020F0502020204030204" pitchFamily="34" charset="0"/>
                <a:cs typeface="Calibri" panose="020F0502020204030204" pitchFamily="34" charset="0"/>
              </a:rPr>
              <a:t>better)</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74516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9721695"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DTC-</a:t>
            </a:r>
            <a:r>
              <a:rPr lang="en-US" altLang="zh-CN" sz="4000" dirty="0">
                <a:solidFill>
                  <a:srgbClr val="C00000"/>
                </a:solidFill>
                <a:latin typeface="Maiandra GD" panose="020E0502030308020204" pitchFamily="34" charset="0"/>
              </a:rPr>
              <a:t>FD</a:t>
            </a:r>
            <a:r>
              <a:rPr lang="en-US" sz="4000" dirty="0">
                <a:solidFill>
                  <a:srgbClr val="C00000"/>
                </a:solidFill>
                <a:latin typeface="Maiandra GD" panose="020E0502030308020204" pitchFamily="34" charset="0"/>
              </a:rPr>
              <a:t>: Scalability</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20</a:t>
            </a:fld>
            <a:endParaRPr lang="zh-CN" altLang="en-US"/>
          </a:p>
        </p:txBody>
      </p:sp>
      <p:pic>
        <p:nvPicPr>
          <p:cNvPr id="15" name="Picture 14">
            <a:extLst>
              <a:ext uri="{FF2B5EF4-FFF2-40B4-BE49-F238E27FC236}">
                <a16:creationId xmlns:a16="http://schemas.microsoft.com/office/drawing/2014/main" id="{3AAD2F9B-FC65-46DD-E55F-84A930122D68}"/>
              </a:ext>
            </a:extLst>
          </p:cNvPr>
          <p:cNvPicPr>
            <a:picLocks noChangeAspect="1"/>
          </p:cNvPicPr>
          <p:nvPr/>
        </p:nvPicPr>
        <p:blipFill>
          <a:blip r:embed="rId3"/>
          <a:stretch>
            <a:fillRect/>
          </a:stretch>
        </p:blipFill>
        <p:spPr>
          <a:xfrm>
            <a:off x="394267" y="1946103"/>
            <a:ext cx="1668890" cy="1375988"/>
          </a:xfrm>
          <a:prstGeom prst="rect">
            <a:avLst/>
          </a:prstGeom>
        </p:spPr>
      </p:pic>
      <p:pic>
        <p:nvPicPr>
          <p:cNvPr id="17" name="Picture 16">
            <a:extLst>
              <a:ext uri="{FF2B5EF4-FFF2-40B4-BE49-F238E27FC236}">
                <a16:creationId xmlns:a16="http://schemas.microsoft.com/office/drawing/2014/main" id="{F3BBE30C-B946-2850-6C73-7772E45613E9}"/>
              </a:ext>
            </a:extLst>
          </p:cNvPr>
          <p:cNvPicPr>
            <a:picLocks noChangeAspect="1"/>
          </p:cNvPicPr>
          <p:nvPr/>
        </p:nvPicPr>
        <p:blipFill>
          <a:blip r:embed="rId4"/>
          <a:stretch>
            <a:fillRect/>
          </a:stretch>
        </p:blipFill>
        <p:spPr>
          <a:xfrm>
            <a:off x="2112088" y="1946104"/>
            <a:ext cx="1680095" cy="1377364"/>
          </a:xfrm>
          <a:prstGeom prst="rect">
            <a:avLst/>
          </a:prstGeom>
        </p:spPr>
      </p:pic>
      <p:pic>
        <p:nvPicPr>
          <p:cNvPr id="19" name="Picture 18">
            <a:extLst>
              <a:ext uri="{FF2B5EF4-FFF2-40B4-BE49-F238E27FC236}">
                <a16:creationId xmlns:a16="http://schemas.microsoft.com/office/drawing/2014/main" id="{90F3BBDE-DE94-3DC0-C130-419033C9A581}"/>
              </a:ext>
            </a:extLst>
          </p:cNvPr>
          <p:cNvPicPr>
            <a:picLocks noChangeAspect="1"/>
          </p:cNvPicPr>
          <p:nvPr/>
        </p:nvPicPr>
        <p:blipFill>
          <a:blip r:embed="rId5"/>
          <a:stretch>
            <a:fillRect/>
          </a:stretch>
        </p:blipFill>
        <p:spPr>
          <a:xfrm>
            <a:off x="3791546" y="1944261"/>
            <a:ext cx="1679966" cy="1377364"/>
          </a:xfrm>
          <a:prstGeom prst="rect">
            <a:avLst/>
          </a:prstGeom>
        </p:spPr>
      </p:pic>
      <p:pic>
        <p:nvPicPr>
          <p:cNvPr id="21" name="Picture 20">
            <a:extLst>
              <a:ext uri="{FF2B5EF4-FFF2-40B4-BE49-F238E27FC236}">
                <a16:creationId xmlns:a16="http://schemas.microsoft.com/office/drawing/2014/main" id="{7486AD3E-E7AC-29C6-CED1-A789F0EE3799}"/>
              </a:ext>
            </a:extLst>
          </p:cNvPr>
          <p:cNvPicPr>
            <a:picLocks noChangeAspect="1"/>
          </p:cNvPicPr>
          <p:nvPr/>
        </p:nvPicPr>
        <p:blipFill>
          <a:blip r:embed="rId6"/>
          <a:stretch>
            <a:fillRect/>
          </a:stretch>
        </p:blipFill>
        <p:spPr>
          <a:xfrm>
            <a:off x="5588389" y="1944261"/>
            <a:ext cx="1692901" cy="1377364"/>
          </a:xfrm>
          <a:prstGeom prst="rect">
            <a:avLst/>
          </a:prstGeom>
        </p:spPr>
      </p:pic>
      <p:pic>
        <p:nvPicPr>
          <p:cNvPr id="23" name="Picture 22">
            <a:extLst>
              <a:ext uri="{FF2B5EF4-FFF2-40B4-BE49-F238E27FC236}">
                <a16:creationId xmlns:a16="http://schemas.microsoft.com/office/drawing/2014/main" id="{27FC9529-DE6B-018A-41B0-E85E6AD1537D}"/>
              </a:ext>
            </a:extLst>
          </p:cNvPr>
          <p:cNvPicPr>
            <a:picLocks noChangeAspect="1"/>
          </p:cNvPicPr>
          <p:nvPr/>
        </p:nvPicPr>
        <p:blipFill>
          <a:blip r:embed="rId7"/>
          <a:stretch>
            <a:fillRect/>
          </a:stretch>
        </p:blipFill>
        <p:spPr>
          <a:xfrm>
            <a:off x="857176" y="1247728"/>
            <a:ext cx="1448612" cy="253800"/>
          </a:xfrm>
          <a:prstGeom prst="rect">
            <a:avLst/>
          </a:prstGeom>
        </p:spPr>
      </p:pic>
      <p:pic>
        <p:nvPicPr>
          <p:cNvPr id="25" name="Picture 24">
            <a:extLst>
              <a:ext uri="{FF2B5EF4-FFF2-40B4-BE49-F238E27FC236}">
                <a16:creationId xmlns:a16="http://schemas.microsoft.com/office/drawing/2014/main" id="{3ED8AD7C-0ACE-594E-33D6-50C160DB918F}"/>
              </a:ext>
            </a:extLst>
          </p:cNvPr>
          <p:cNvPicPr>
            <a:picLocks noChangeAspect="1"/>
          </p:cNvPicPr>
          <p:nvPr/>
        </p:nvPicPr>
        <p:blipFill>
          <a:blip r:embed="rId8"/>
          <a:stretch>
            <a:fillRect/>
          </a:stretch>
        </p:blipFill>
        <p:spPr>
          <a:xfrm>
            <a:off x="2824796" y="1258303"/>
            <a:ext cx="865902" cy="253737"/>
          </a:xfrm>
          <a:prstGeom prst="rect">
            <a:avLst/>
          </a:prstGeom>
        </p:spPr>
      </p:pic>
      <p:pic>
        <p:nvPicPr>
          <p:cNvPr id="27" name="Picture 26">
            <a:extLst>
              <a:ext uri="{FF2B5EF4-FFF2-40B4-BE49-F238E27FC236}">
                <a16:creationId xmlns:a16="http://schemas.microsoft.com/office/drawing/2014/main" id="{552C02F0-D1D1-7024-06B7-F3A40374B695}"/>
              </a:ext>
            </a:extLst>
          </p:cNvPr>
          <p:cNvPicPr>
            <a:picLocks noChangeAspect="1"/>
          </p:cNvPicPr>
          <p:nvPr/>
        </p:nvPicPr>
        <p:blipFill>
          <a:blip r:embed="rId9"/>
          <a:stretch>
            <a:fillRect/>
          </a:stretch>
        </p:blipFill>
        <p:spPr>
          <a:xfrm>
            <a:off x="3989343" y="1217192"/>
            <a:ext cx="1784327" cy="303162"/>
          </a:xfrm>
          <a:prstGeom prst="rect">
            <a:avLst/>
          </a:prstGeom>
        </p:spPr>
      </p:pic>
      <p:sp>
        <p:nvSpPr>
          <p:cNvPr id="4" name="TextBox 3">
            <a:extLst>
              <a:ext uri="{FF2B5EF4-FFF2-40B4-BE49-F238E27FC236}">
                <a16:creationId xmlns:a16="http://schemas.microsoft.com/office/drawing/2014/main" id="{FFC703D7-4593-708D-F262-89938104BB77}"/>
              </a:ext>
            </a:extLst>
          </p:cNvPr>
          <p:cNvSpPr txBox="1"/>
          <p:nvPr/>
        </p:nvSpPr>
        <p:spPr>
          <a:xfrm>
            <a:off x="1117592" y="5653439"/>
            <a:ext cx="891194" cy="372359"/>
          </a:xfrm>
          <a:prstGeom prst="rect">
            <a:avLst/>
          </a:prstGeom>
          <a:noFill/>
        </p:spPr>
        <p:txBody>
          <a:bodyPr wrap="square">
            <a:spAutoFit/>
          </a:bodyPr>
          <a:lstStyle/>
          <a:p>
            <a:r>
              <a:rPr lang="en-US" dirty="0"/>
              <a:t>skitter</a:t>
            </a:r>
          </a:p>
        </p:txBody>
      </p:sp>
      <p:sp>
        <p:nvSpPr>
          <p:cNvPr id="6" name="TextBox 5">
            <a:extLst>
              <a:ext uri="{FF2B5EF4-FFF2-40B4-BE49-F238E27FC236}">
                <a16:creationId xmlns:a16="http://schemas.microsoft.com/office/drawing/2014/main" id="{BFE3BAC3-C853-3B76-826F-CB0E408D74FB}"/>
              </a:ext>
            </a:extLst>
          </p:cNvPr>
          <p:cNvSpPr txBox="1"/>
          <p:nvPr/>
        </p:nvSpPr>
        <p:spPr>
          <a:xfrm>
            <a:off x="3505541" y="5646527"/>
            <a:ext cx="967603" cy="372359"/>
          </a:xfrm>
          <a:prstGeom prst="rect">
            <a:avLst/>
          </a:prstGeom>
          <a:noFill/>
        </p:spPr>
        <p:txBody>
          <a:bodyPr wrap="square">
            <a:spAutoFit/>
          </a:bodyPr>
          <a:lstStyle/>
          <a:p>
            <a:r>
              <a:rPr lang="en-US" dirty="0" err="1"/>
              <a:t>youtube</a:t>
            </a:r>
            <a:endParaRPr lang="en-US" dirty="0"/>
          </a:p>
        </p:txBody>
      </p:sp>
      <p:pic>
        <p:nvPicPr>
          <p:cNvPr id="8" name="Picture 7">
            <a:extLst>
              <a:ext uri="{FF2B5EF4-FFF2-40B4-BE49-F238E27FC236}">
                <a16:creationId xmlns:a16="http://schemas.microsoft.com/office/drawing/2014/main" id="{A24578AB-B082-9E24-BC86-0C86B45C9757}"/>
              </a:ext>
            </a:extLst>
          </p:cNvPr>
          <p:cNvPicPr>
            <a:picLocks noChangeAspect="1"/>
          </p:cNvPicPr>
          <p:nvPr/>
        </p:nvPicPr>
        <p:blipFill>
          <a:blip r:embed="rId10"/>
          <a:stretch>
            <a:fillRect/>
          </a:stretch>
        </p:blipFill>
        <p:spPr>
          <a:xfrm>
            <a:off x="492028" y="4072817"/>
            <a:ext cx="1805214" cy="1486481"/>
          </a:xfrm>
          <a:prstGeom prst="rect">
            <a:avLst/>
          </a:prstGeom>
        </p:spPr>
      </p:pic>
      <p:pic>
        <p:nvPicPr>
          <p:cNvPr id="10" name="Picture 9">
            <a:extLst>
              <a:ext uri="{FF2B5EF4-FFF2-40B4-BE49-F238E27FC236}">
                <a16:creationId xmlns:a16="http://schemas.microsoft.com/office/drawing/2014/main" id="{1FE87D32-CB24-A964-1533-8FD1D2E00603}"/>
              </a:ext>
            </a:extLst>
          </p:cNvPr>
          <p:cNvPicPr>
            <a:picLocks noChangeAspect="1"/>
          </p:cNvPicPr>
          <p:nvPr/>
        </p:nvPicPr>
        <p:blipFill>
          <a:blip r:embed="rId11"/>
          <a:stretch>
            <a:fillRect/>
          </a:stretch>
        </p:blipFill>
        <p:spPr>
          <a:xfrm>
            <a:off x="2792322" y="4072817"/>
            <a:ext cx="1796751" cy="1486480"/>
          </a:xfrm>
          <a:prstGeom prst="rect">
            <a:avLst/>
          </a:prstGeom>
        </p:spPr>
      </p:pic>
      <p:pic>
        <p:nvPicPr>
          <p:cNvPr id="12" name="Picture 11">
            <a:extLst>
              <a:ext uri="{FF2B5EF4-FFF2-40B4-BE49-F238E27FC236}">
                <a16:creationId xmlns:a16="http://schemas.microsoft.com/office/drawing/2014/main" id="{7CFD25B8-EDA5-2CDE-E8E9-B65C88B44934}"/>
              </a:ext>
            </a:extLst>
          </p:cNvPr>
          <p:cNvPicPr>
            <a:picLocks noChangeAspect="1"/>
          </p:cNvPicPr>
          <p:nvPr/>
        </p:nvPicPr>
        <p:blipFill>
          <a:blip r:embed="rId12"/>
          <a:stretch>
            <a:fillRect/>
          </a:stretch>
        </p:blipFill>
        <p:spPr>
          <a:xfrm>
            <a:off x="5066360" y="4072816"/>
            <a:ext cx="1796750" cy="1480421"/>
          </a:xfrm>
          <a:prstGeom prst="rect">
            <a:avLst/>
          </a:prstGeom>
        </p:spPr>
      </p:pic>
      <p:sp>
        <p:nvSpPr>
          <p:cNvPr id="14" name="TextBox 13">
            <a:extLst>
              <a:ext uri="{FF2B5EF4-FFF2-40B4-BE49-F238E27FC236}">
                <a16:creationId xmlns:a16="http://schemas.microsoft.com/office/drawing/2014/main" id="{AE4D12FD-243B-E641-34FA-CFB456620B60}"/>
              </a:ext>
            </a:extLst>
          </p:cNvPr>
          <p:cNvSpPr txBox="1"/>
          <p:nvPr/>
        </p:nvSpPr>
        <p:spPr>
          <a:xfrm>
            <a:off x="5502065" y="5630538"/>
            <a:ext cx="1187870" cy="372359"/>
          </a:xfrm>
          <a:prstGeom prst="rect">
            <a:avLst/>
          </a:prstGeom>
          <a:noFill/>
        </p:spPr>
        <p:txBody>
          <a:bodyPr wrap="square">
            <a:spAutoFit/>
          </a:bodyPr>
          <a:lstStyle/>
          <a:p>
            <a:r>
              <a:rPr lang="en-US" dirty="0" err="1"/>
              <a:t>liveJournal</a:t>
            </a:r>
            <a:endParaRPr lang="en-US" dirty="0"/>
          </a:p>
        </p:txBody>
      </p:sp>
      <p:sp>
        <p:nvSpPr>
          <p:cNvPr id="18" name="TextBox 17">
            <a:extLst>
              <a:ext uri="{FF2B5EF4-FFF2-40B4-BE49-F238E27FC236}">
                <a16:creationId xmlns:a16="http://schemas.microsoft.com/office/drawing/2014/main" id="{E41ECAE8-1DE5-215F-64FF-97646F336003}"/>
              </a:ext>
            </a:extLst>
          </p:cNvPr>
          <p:cNvSpPr txBox="1"/>
          <p:nvPr/>
        </p:nvSpPr>
        <p:spPr>
          <a:xfrm>
            <a:off x="7398167" y="1677306"/>
            <a:ext cx="4516443" cy="2031325"/>
          </a:xfrm>
          <a:prstGeom prst="rect">
            <a:avLst/>
          </a:prstGeom>
          <a:noFill/>
          <a:ln>
            <a:solidFill>
              <a:schemeClr val="accent1">
                <a:shade val="15000"/>
              </a:schemeClr>
            </a:solidFill>
          </a:ln>
        </p:spPr>
        <p:txBody>
          <a:bodyPr wrap="square">
            <a:spAutoFit/>
          </a:bodyPr>
          <a:lstStyle/>
          <a:p>
            <a:pPr marL="285750" indent="-285750">
              <a:buFont typeface="Courier New" panose="02070309020205020404" pitchFamily="49" charset="0"/>
              <a:buChar char="o"/>
            </a:pPr>
            <a:r>
              <a:rPr lang="en-US" dirty="0">
                <a:latin typeface="Calibri" panose="020F0502020204030204" pitchFamily="34" charset="0"/>
                <a:cs typeface="Calibri" panose="020F0502020204030204" pitchFamily="34" charset="0"/>
              </a:rPr>
              <a:t>DTC-FD yielded more accuracy, as more workers were added.</a:t>
            </a:r>
          </a:p>
          <a:p>
            <a:pPr marL="285750" indent="-285750">
              <a:buFont typeface="Courier New" panose="02070309020205020404" pitchFamily="49" charset="0"/>
              <a:buChar char="o"/>
            </a:pPr>
            <a:r>
              <a:rPr lang="en-US" dirty="0">
                <a:latin typeface="Calibri" panose="020F0502020204030204" pitchFamily="34" charset="0"/>
                <a:cs typeface="Calibri" panose="020F0502020204030204" pitchFamily="34" charset="0"/>
              </a:rPr>
              <a:t>Specifically, global error, global variance and local error dropped quickly with the increase of workers, and the </a:t>
            </a:r>
            <a:r>
              <a:rPr lang="en-US" dirty="0" err="1">
                <a:latin typeface="Calibri" panose="020F0502020204030204" pitchFamily="34" charset="0"/>
                <a:cs typeface="Calibri" panose="020F0502020204030204" pitchFamily="34" charset="0"/>
              </a:rPr>
              <a:t>pearson</a:t>
            </a:r>
            <a:r>
              <a:rPr lang="en-US" dirty="0">
                <a:latin typeface="Calibri" panose="020F0502020204030204" pitchFamily="34" charset="0"/>
                <a:cs typeface="Calibri" panose="020F0502020204030204" pitchFamily="34" charset="0"/>
              </a:rPr>
              <a:t> coefficient almost became 1 with about 130 workers.</a:t>
            </a:r>
          </a:p>
        </p:txBody>
      </p:sp>
      <p:sp>
        <p:nvSpPr>
          <p:cNvPr id="22" name="TextBox 21">
            <a:extLst>
              <a:ext uri="{FF2B5EF4-FFF2-40B4-BE49-F238E27FC236}">
                <a16:creationId xmlns:a16="http://schemas.microsoft.com/office/drawing/2014/main" id="{B7180E2B-B9EC-5F1F-6DCF-0B0BD95968DB}"/>
              </a:ext>
            </a:extLst>
          </p:cNvPr>
          <p:cNvSpPr txBox="1"/>
          <p:nvPr/>
        </p:nvSpPr>
        <p:spPr>
          <a:xfrm>
            <a:off x="7398167" y="4349617"/>
            <a:ext cx="4516443" cy="1477328"/>
          </a:xfrm>
          <a:prstGeom prst="rect">
            <a:avLst/>
          </a:prstGeom>
          <a:noFill/>
          <a:ln>
            <a:solidFill>
              <a:schemeClr val="accent1">
                <a:shade val="15000"/>
              </a:schemeClr>
            </a:solidFill>
          </a:ln>
        </p:spPr>
        <p:txBody>
          <a:bodyPr wrap="square">
            <a:spAutoFit/>
          </a:bodyPr>
          <a:lstStyle/>
          <a:p>
            <a:pPr marL="285750" indent="-285750">
              <a:buFont typeface="Courier New" panose="02070309020205020404" pitchFamily="49" charset="0"/>
              <a:buChar char="o"/>
            </a:pPr>
            <a:r>
              <a:rPr lang="en-US" dirty="0">
                <a:latin typeface="Calibri" panose="020F0502020204030204" pitchFamily="34" charset="0"/>
                <a:cs typeface="Calibri" panose="020F0502020204030204" pitchFamily="34" charset="0"/>
              </a:rPr>
              <a:t>The time consumed by DTC-FD exhibits a linear relationship with the number of edges in fully dynamic streams, ensuring efficient processing as the edge count increases.</a:t>
            </a:r>
          </a:p>
        </p:txBody>
      </p:sp>
      <p:sp>
        <p:nvSpPr>
          <p:cNvPr id="24" name="Rectangle 23">
            <a:extLst>
              <a:ext uri="{FF2B5EF4-FFF2-40B4-BE49-F238E27FC236}">
                <a16:creationId xmlns:a16="http://schemas.microsoft.com/office/drawing/2014/main" id="{83586231-9633-86E7-96F5-F019F6E0B7F9}"/>
              </a:ext>
            </a:extLst>
          </p:cNvPr>
          <p:cNvSpPr/>
          <p:nvPr/>
        </p:nvSpPr>
        <p:spPr>
          <a:xfrm>
            <a:off x="738231" y="1164141"/>
            <a:ext cx="5108896" cy="401832"/>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1929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2EA4F35-A415-40A6-BF04-BAC89A3C4B3B}"/>
              </a:ext>
            </a:extLst>
          </p:cNvPr>
          <p:cNvSpPr txBox="1">
            <a:spLocks/>
          </p:cNvSpPr>
          <p:nvPr/>
        </p:nvSpPr>
        <p:spPr bwMode="auto">
          <a:xfrm>
            <a:off x="336705" y="206375"/>
            <a:ext cx="8412491" cy="829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457200" rtl="0" eaLnBrk="0" fontAlgn="base" hangingPunct="0">
              <a:spcBef>
                <a:spcPct val="0"/>
              </a:spcBef>
              <a:spcAft>
                <a:spcPct val="0"/>
              </a:spcAft>
              <a:defRPr sz="3200" b="1" kern="1200">
                <a:solidFill>
                  <a:srgbClr val="404040"/>
                </a:solidFill>
                <a:latin typeface="Newslab Thin"/>
                <a:ea typeface="MS PGothic" pitchFamily="34" charset="-128"/>
                <a:cs typeface="Newslab Thin"/>
              </a:defRPr>
            </a:lvl1pPr>
            <a:lvl2pPr algn="l" defTabSz="457200" rtl="0" eaLnBrk="0" fontAlgn="base" hangingPunct="0">
              <a:spcBef>
                <a:spcPct val="0"/>
              </a:spcBef>
              <a:spcAft>
                <a:spcPct val="0"/>
              </a:spcAft>
              <a:defRPr sz="4000">
                <a:solidFill>
                  <a:srgbClr val="404040"/>
                </a:solidFill>
                <a:latin typeface="Newslab Thin" charset="0"/>
                <a:ea typeface="MS PGothic" pitchFamily="34" charset="-128"/>
              </a:defRPr>
            </a:lvl2pPr>
            <a:lvl3pPr algn="l" defTabSz="457200" rtl="0" eaLnBrk="0" fontAlgn="base" hangingPunct="0">
              <a:spcBef>
                <a:spcPct val="0"/>
              </a:spcBef>
              <a:spcAft>
                <a:spcPct val="0"/>
              </a:spcAft>
              <a:defRPr sz="4000">
                <a:solidFill>
                  <a:srgbClr val="404040"/>
                </a:solidFill>
                <a:latin typeface="Newslab Thin" charset="0"/>
                <a:ea typeface="MS PGothic" pitchFamily="34" charset="-128"/>
              </a:defRPr>
            </a:lvl3pPr>
            <a:lvl4pPr algn="l" defTabSz="457200" rtl="0" eaLnBrk="0" fontAlgn="base" hangingPunct="0">
              <a:spcBef>
                <a:spcPct val="0"/>
              </a:spcBef>
              <a:spcAft>
                <a:spcPct val="0"/>
              </a:spcAft>
              <a:defRPr sz="4000">
                <a:solidFill>
                  <a:srgbClr val="404040"/>
                </a:solidFill>
                <a:latin typeface="Newslab Thin" charset="0"/>
                <a:ea typeface="MS PGothic" pitchFamily="34" charset="-128"/>
              </a:defRPr>
            </a:lvl4pPr>
            <a:lvl5pPr algn="l" defTabSz="457200" rtl="0" eaLnBrk="0" fontAlgn="base" hangingPunct="0">
              <a:spcBef>
                <a:spcPct val="0"/>
              </a:spcBef>
              <a:spcAft>
                <a:spcPct val="0"/>
              </a:spcAft>
              <a:defRPr sz="4000">
                <a:solidFill>
                  <a:srgbClr val="404040"/>
                </a:solidFill>
                <a:latin typeface="Newslab Thin" charset="0"/>
                <a:ea typeface="MS PGothic" pitchFamily="34" charset="-128"/>
              </a:defRPr>
            </a:lvl5pPr>
            <a:lvl6pPr marL="457200" algn="l" defTabSz="457200" rtl="0" fontAlgn="base">
              <a:spcBef>
                <a:spcPct val="0"/>
              </a:spcBef>
              <a:spcAft>
                <a:spcPct val="0"/>
              </a:spcAft>
              <a:defRPr sz="4000">
                <a:solidFill>
                  <a:srgbClr val="404040"/>
                </a:solidFill>
                <a:latin typeface="Newslab Thin" charset="0"/>
                <a:ea typeface="ＭＳ Ｐゴシック" charset="0"/>
              </a:defRPr>
            </a:lvl6pPr>
            <a:lvl7pPr marL="914400" algn="l" defTabSz="457200" rtl="0" fontAlgn="base">
              <a:spcBef>
                <a:spcPct val="0"/>
              </a:spcBef>
              <a:spcAft>
                <a:spcPct val="0"/>
              </a:spcAft>
              <a:defRPr sz="4000">
                <a:solidFill>
                  <a:srgbClr val="404040"/>
                </a:solidFill>
                <a:latin typeface="Newslab Thin" charset="0"/>
                <a:ea typeface="ＭＳ Ｐゴシック" charset="0"/>
              </a:defRPr>
            </a:lvl7pPr>
            <a:lvl8pPr marL="1371600" algn="l" defTabSz="457200" rtl="0" fontAlgn="base">
              <a:spcBef>
                <a:spcPct val="0"/>
              </a:spcBef>
              <a:spcAft>
                <a:spcPct val="0"/>
              </a:spcAft>
              <a:defRPr sz="4000">
                <a:solidFill>
                  <a:srgbClr val="404040"/>
                </a:solidFill>
                <a:latin typeface="Newslab Thin" charset="0"/>
                <a:ea typeface="ＭＳ Ｐゴシック" charset="0"/>
              </a:defRPr>
            </a:lvl8pPr>
            <a:lvl9pPr marL="1828800" algn="l" defTabSz="457200" rtl="0" fontAlgn="base">
              <a:spcBef>
                <a:spcPct val="0"/>
              </a:spcBef>
              <a:spcAft>
                <a:spcPct val="0"/>
              </a:spcAft>
              <a:defRPr sz="4000">
                <a:solidFill>
                  <a:srgbClr val="404040"/>
                </a:solidFill>
                <a:latin typeface="Newslab Thin" charset="0"/>
                <a:ea typeface="ＭＳ Ｐゴシック" charset="0"/>
              </a:defRPr>
            </a:lvl9pPr>
          </a:lstStyle>
          <a:p>
            <a:r>
              <a:rPr lang="en-US" sz="4000" dirty="0">
                <a:solidFill>
                  <a:srgbClr val="C00000"/>
                </a:solidFill>
                <a:latin typeface="Maiandra GD" panose="020E0502030308020204" pitchFamily="34" charset="0"/>
              </a:rPr>
              <a:t>Conclusions</a:t>
            </a:r>
          </a:p>
        </p:txBody>
      </p:sp>
      <p:sp>
        <p:nvSpPr>
          <p:cNvPr id="5" name="Rectangle 4">
            <a:extLst>
              <a:ext uri="{FF2B5EF4-FFF2-40B4-BE49-F238E27FC236}">
                <a16:creationId xmlns:a16="http://schemas.microsoft.com/office/drawing/2014/main" id="{65F1A141-DE0B-8340-3846-21C6842AE44E}"/>
              </a:ext>
            </a:extLst>
          </p:cNvPr>
          <p:cNvSpPr/>
          <p:nvPr/>
        </p:nvSpPr>
        <p:spPr>
          <a:xfrm>
            <a:off x="0" y="304824"/>
            <a:ext cx="199292" cy="633046"/>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F0159C7A-B4B3-EF83-5B5A-B2ECE9129104}"/>
              </a:ext>
            </a:extLst>
          </p:cNvPr>
          <p:cNvSpPr>
            <a:spLocks noGrp="1"/>
          </p:cNvSpPr>
          <p:nvPr>
            <p:ph type="sldNum" sz="quarter" idx="12"/>
          </p:nvPr>
        </p:nvSpPr>
        <p:spPr/>
        <p:txBody>
          <a:bodyPr/>
          <a:lstStyle/>
          <a:p>
            <a:fld id="{88C18B20-99F9-4866-84D4-802F7B8C14EF}" type="slidenum">
              <a:rPr lang="zh-CN" altLang="en-US" smtClean="0"/>
              <a:t>21</a:t>
            </a:fld>
            <a:endParaRPr lang="zh-CN" altLang="en-US"/>
          </a:p>
        </p:txBody>
      </p:sp>
      <p:sp>
        <p:nvSpPr>
          <p:cNvPr id="6" name="内容占位符 2">
            <a:extLst>
              <a:ext uri="{FF2B5EF4-FFF2-40B4-BE49-F238E27FC236}">
                <a16:creationId xmlns:a16="http://schemas.microsoft.com/office/drawing/2014/main" id="{F43EBF58-02CD-59E6-79EF-2812A2025385}"/>
              </a:ext>
            </a:extLst>
          </p:cNvPr>
          <p:cNvSpPr>
            <a:spLocks noGrp="1"/>
          </p:cNvSpPr>
          <p:nvPr>
            <p:ph idx="1"/>
          </p:nvPr>
        </p:nvSpPr>
        <p:spPr>
          <a:xfrm>
            <a:off x="1082879" y="1470331"/>
            <a:ext cx="9950042" cy="4713157"/>
          </a:xfrm>
        </p:spPr>
        <p:txBody>
          <a:bodyPr>
            <a:normAutofit/>
          </a:bodyPr>
          <a:lstStyle/>
          <a:p>
            <a:pPr marL="0" indent="0">
              <a:buNone/>
            </a:pPr>
            <a:r>
              <a:rPr lang="en-US" altLang="zh-CN" sz="2000" b="1" dirty="0">
                <a:latin typeface="Calibri" panose="020F0502020204030204" pitchFamily="34" charset="0"/>
                <a:cs typeface="Calibri" panose="020F0502020204030204" pitchFamily="34" charset="0"/>
              </a:rPr>
              <a:t>Insights:  </a:t>
            </a:r>
            <a:r>
              <a:rPr lang="en-HK" altLang="zh-CN" sz="2000" b="1" dirty="0">
                <a:latin typeface="Calibri" panose="020F0502020204030204" pitchFamily="34" charset="0"/>
                <a:cs typeface="Calibri" panose="020F0502020204030204" pitchFamily="34" charset="0"/>
              </a:rPr>
              <a:t>limitations of existing methods</a:t>
            </a:r>
            <a:endParaRPr lang="en-US" altLang="zh-CN" sz="2000" b="1" dirty="0">
              <a:latin typeface="Calibri" panose="020F0502020204030204" pitchFamily="34" charset="0"/>
              <a:cs typeface="Calibri" panose="020F0502020204030204" pitchFamily="34" charset="0"/>
            </a:endParaRPr>
          </a:p>
          <a:p>
            <a:pPr lvl="1">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Multifaceted perspectives: sampling methods, resource utilization, processing capability</a:t>
            </a:r>
          </a:p>
          <a:p>
            <a:pPr lvl="1">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Single-machine streaming algorithms: constrained primary memory resources</a:t>
            </a:r>
          </a:p>
          <a:p>
            <a:pPr lvl="1">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Multi-machine distributed streaming algorithms: limited to handling edge insertions and require prior knowledge </a:t>
            </a:r>
          </a:p>
          <a:p>
            <a:pPr lvl="1">
              <a:buFont typeface="Courier New" panose="02070309020205020404" pitchFamily="49" charset="0"/>
              <a:buChar char="o"/>
            </a:pPr>
            <a:endParaRPr lang="en-US" altLang="zh-CN" sz="2000" dirty="0">
              <a:latin typeface="Calibri" panose="020F0502020204030204" pitchFamily="34" charset="0"/>
              <a:cs typeface="Calibri" panose="020F0502020204030204" pitchFamily="34" charset="0"/>
            </a:endParaRPr>
          </a:p>
          <a:p>
            <a:pPr marL="0" indent="0">
              <a:buNone/>
            </a:pPr>
            <a:r>
              <a:rPr lang="en-US" altLang="zh-CN" sz="2000" b="1" dirty="0">
                <a:latin typeface="Calibri" panose="020F0502020204030204" pitchFamily="34" charset="0"/>
                <a:cs typeface="Calibri" panose="020F0502020204030204" pitchFamily="34" charset="0"/>
              </a:rPr>
              <a:t>Proposed DTC-family: distributed triangle counting algorithms</a:t>
            </a:r>
          </a:p>
          <a:p>
            <a:pPr lvl="1">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DTC-AR (Incremental sample maintenance with adaptive resampling)</a:t>
            </a:r>
          </a:p>
          <a:p>
            <a:pPr lvl="1">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DTC-FD (Support fully dynamic graph streams using future edge insertions to compensate for previous deletions)</a:t>
            </a:r>
          </a:p>
          <a:p>
            <a:pPr lvl="1">
              <a:buFont typeface="Courier New" panose="02070309020205020404" pitchFamily="49" charset="0"/>
              <a:buChar char="o"/>
            </a:pPr>
            <a:endParaRPr lang="en-US" altLang="zh-CN" sz="2000" dirty="0">
              <a:latin typeface="Calibri" panose="020F0502020204030204" pitchFamily="34" charset="0"/>
              <a:cs typeface="Calibri" panose="020F0502020204030204" pitchFamily="34" charset="0"/>
            </a:endParaRPr>
          </a:p>
          <a:p>
            <a:pPr marL="0" indent="0">
              <a:buNone/>
            </a:pPr>
            <a:r>
              <a:rPr lang="en-US" altLang="zh-CN" sz="2000" b="1" dirty="0">
                <a:latin typeface="Calibri" panose="020F0502020204030204" pitchFamily="34" charset="0"/>
                <a:cs typeface="Calibri" panose="020F0502020204030204" pitchFamily="34" charset="0"/>
              </a:rPr>
              <a:t>Analysis of results: real-world graph datasets</a:t>
            </a:r>
          </a:p>
          <a:p>
            <a:pPr lvl="1">
              <a:buFont typeface="Courier New" panose="02070309020205020404" pitchFamily="49" charset="0"/>
              <a:buChar char="o"/>
            </a:pPr>
            <a:r>
              <a:rPr lang="en-US" altLang="zh-CN" sz="2000" dirty="0">
                <a:latin typeface="Calibri" panose="020F0502020204030204" pitchFamily="34" charset="0"/>
                <a:cs typeface="Calibri" panose="020F0502020204030204" pitchFamily="34" charset="0"/>
              </a:rPr>
              <a:t>Accuracy, Speed, Scalability</a:t>
            </a:r>
          </a:p>
        </p:txBody>
      </p:sp>
    </p:spTree>
    <p:extLst>
      <p:ext uri="{BB962C8B-B14F-4D97-AF65-F5344CB8AC3E}">
        <p14:creationId xmlns:p14="http://schemas.microsoft.com/office/powerpoint/2010/main" val="2624353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EA0738A-D1B4-4079-BA88-A15557851D3E}"/>
              </a:ext>
            </a:extLst>
          </p:cNvPr>
          <p:cNvSpPr/>
          <p:nvPr/>
        </p:nvSpPr>
        <p:spPr>
          <a:xfrm>
            <a:off x="3281746" y="2881859"/>
            <a:ext cx="3069086" cy="1786515"/>
          </a:xfrm>
          <a:prstGeom prst="rect">
            <a:avLst/>
          </a:prstGeom>
        </p:spPr>
        <p:txBody>
          <a:bodyPr vert="horz" lIns="91440" tIns="45720" rIns="91440" bIns="45720" rtlCol="0" anchor="t">
            <a:normAutofit/>
          </a:bodyPr>
          <a:lstStyle/>
          <a:p>
            <a:pPr defTabSz="914400">
              <a:lnSpc>
                <a:spcPct val="90000"/>
              </a:lnSpc>
              <a:spcBef>
                <a:spcPct val="0"/>
              </a:spcBef>
              <a:spcAft>
                <a:spcPts val="600"/>
              </a:spcAft>
            </a:pPr>
            <a:r>
              <a:rPr lang="en-US" altLang="zh-CN" sz="4400" b="1" dirty="0">
                <a:solidFill>
                  <a:schemeClr val="tx2"/>
                </a:solidFill>
                <a:effectLst>
                  <a:glow rad="228600">
                    <a:schemeClr val="accent3">
                      <a:satMod val="175000"/>
                      <a:alpha val="40000"/>
                    </a:schemeClr>
                  </a:glow>
                </a:effectLst>
                <a:latin typeface="+mj-lt"/>
                <a:ea typeface="+mj-ea"/>
                <a:cs typeface="+mj-cs"/>
              </a:rPr>
              <a:t>Thank</a:t>
            </a:r>
            <a:r>
              <a:rPr lang="zh-CN" altLang="en-US" sz="4400" b="1" dirty="0">
                <a:solidFill>
                  <a:schemeClr val="tx2"/>
                </a:solidFill>
                <a:effectLst>
                  <a:glow rad="228600">
                    <a:schemeClr val="accent3">
                      <a:satMod val="175000"/>
                      <a:alpha val="40000"/>
                    </a:schemeClr>
                  </a:glow>
                </a:effectLst>
                <a:latin typeface="+mj-lt"/>
                <a:ea typeface="+mj-ea"/>
                <a:cs typeface="+mj-cs"/>
              </a:rPr>
              <a:t> </a:t>
            </a:r>
            <a:r>
              <a:rPr lang="en-US" altLang="zh-CN" sz="4400" b="1" dirty="0">
                <a:solidFill>
                  <a:schemeClr val="tx2"/>
                </a:solidFill>
                <a:effectLst>
                  <a:glow rad="228600">
                    <a:schemeClr val="accent3">
                      <a:satMod val="175000"/>
                      <a:alpha val="40000"/>
                    </a:schemeClr>
                  </a:glow>
                </a:effectLst>
                <a:latin typeface="+mj-lt"/>
                <a:ea typeface="+mj-ea"/>
                <a:cs typeface="+mj-cs"/>
              </a:rPr>
              <a:t>you!</a:t>
            </a:r>
          </a:p>
        </p:txBody>
      </p:sp>
      <p:pic>
        <p:nvPicPr>
          <p:cNvPr id="2" name="Picture 2" descr="How to Deal with People Who Ask Lots of Questions">
            <a:extLst>
              <a:ext uri="{FF2B5EF4-FFF2-40B4-BE49-F238E27FC236}">
                <a16:creationId xmlns:a16="http://schemas.microsoft.com/office/drawing/2014/main" id="{3317993B-229A-460D-9CAE-A1C551FCA8A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41063" y="1498119"/>
            <a:ext cx="3041137" cy="3861761"/>
          </a:xfrm>
          <a:custGeom>
            <a:avLst/>
            <a:gdLst/>
            <a:ahLst/>
            <a:cxnLst/>
            <a:rect l="l" t="t" r="r" b="b"/>
            <a:pathLst>
              <a:path w="5017317" h="5380277">
                <a:moveTo>
                  <a:pt x="0" y="0"/>
                </a:moveTo>
                <a:lnTo>
                  <a:pt x="5017317" y="0"/>
                </a:lnTo>
                <a:lnTo>
                  <a:pt x="5017317" y="5380277"/>
                </a:lnTo>
                <a:lnTo>
                  <a:pt x="0" y="5380277"/>
                </a:lnTo>
                <a:close/>
              </a:path>
            </a:pathLst>
          </a:cu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258F4A9-45A6-716F-49D1-99C9852EE764}"/>
              </a:ext>
            </a:extLst>
          </p:cNvPr>
          <p:cNvSpPr>
            <a:spLocks noGrp="1"/>
          </p:cNvSpPr>
          <p:nvPr>
            <p:ph type="sldNum" sz="quarter" idx="12"/>
          </p:nvPr>
        </p:nvSpPr>
        <p:spPr/>
        <p:txBody>
          <a:bodyPr/>
          <a:lstStyle/>
          <a:p>
            <a:fld id="{88C18B20-99F9-4866-84D4-802F7B8C14EF}" type="slidenum">
              <a:rPr lang="zh-CN" altLang="en-US" smtClean="0"/>
              <a:t>22</a:t>
            </a:fld>
            <a:endParaRPr lang="zh-CN" altLang="en-US"/>
          </a:p>
        </p:txBody>
      </p:sp>
    </p:spTree>
    <p:extLst>
      <p:ext uri="{BB962C8B-B14F-4D97-AF65-F5344CB8AC3E}">
        <p14:creationId xmlns:p14="http://schemas.microsoft.com/office/powerpoint/2010/main" val="385489407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9855</TotalTime>
  <Words>2597</Words>
  <Application>Microsoft Macintosh PowerPoint</Application>
  <PresentationFormat>Widescreen</PresentationFormat>
  <Paragraphs>261</Paragraphs>
  <Slides>22</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等线</vt:lpstr>
      <vt:lpstr>等线</vt:lpstr>
      <vt:lpstr>Maiandra GD</vt:lpstr>
      <vt:lpstr>Arial</vt:lpstr>
      <vt:lpstr>Arial Black</vt:lpstr>
      <vt:lpstr>Calibri</vt:lpstr>
      <vt:lpstr>Calibri Light</vt:lpstr>
      <vt:lpstr>Constantia</vt:lpstr>
      <vt:lpstr>Courier New</vt:lpstr>
      <vt:lpstr>Wingdings</vt:lpstr>
      <vt:lpstr>Office 2013 - 2022 Theme</vt:lpstr>
      <vt:lpstr>DTC: Real-Time and Accurate Distributed Triangle Counting in Fully Dynamic Graph Streams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wayne</dc:creator>
  <cp:lastModifiedBy>Wei Xuan</cp:lastModifiedBy>
  <cp:revision>459</cp:revision>
  <dcterms:created xsi:type="dcterms:W3CDTF">2021-05-06T10:33:14Z</dcterms:created>
  <dcterms:modified xsi:type="dcterms:W3CDTF">2026-10-22T07:07:37Z</dcterms:modified>
</cp:coreProperties>
</file>