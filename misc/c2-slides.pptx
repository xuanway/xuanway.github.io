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59" r:id="rId3"/>
    <p:sldId id="260" r:id="rId4"/>
    <p:sldId id="523" r:id="rId5"/>
    <p:sldId id="258" r:id="rId6"/>
    <p:sldId id="261" r:id="rId7"/>
    <p:sldId id="524" r:id="rId8"/>
    <p:sldId id="525" r:id="rId9"/>
    <p:sldId id="526" r:id="rId10"/>
    <p:sldId id="528" r:id="rId11"/>
    <p:sldId id="529" r:id="rId12"/>
    <p:sldId id="541" r:id="rId13"/>
    <p:sldId id="262" r:id="rId14"/>
    <p:sldId id="537" r:id="rId15"/>
    <p:sldId id="538" r:id="rId16"/>
    <p:sldId id="540" r:id="rId17"/>
    <p:sldId id="539" r:id="rId18"/>
    <p:sldId id="542" r:id="rId19"/>
    <p:sldId id="530" r:id="rId20"/>
    <p:sldId id="264" r:id="rId21"/>
    <p:sldId id="533" r:id="rId22"/>
    <p:sldId id="534" r:id="rId23"/>
    <p:sldId id="531" r:id="rId24"/>
    <p:sldId id="532" r:id="rId25"/>
    <p:sldId id="535"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00FF"/>
    <a:srgbClr val="1C20C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909" autoAdjust="0"/>
    <p:restoredTop sz="78367" autoAdjust="0"/>
  </p:normalViewPr>
  <p:slideViewPr>
    <p:cSldViewPr snapToGrid="0" showGuides="1">
      <p:cViewPr varScale="1">
        <p:scale>
          <a:sx n="94" d="100"/>
          <a:sy n="94" d="100"/>
        </p:scale>
        <p:origin x="2264" y="200"/>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B9918F-0B17-4232-AD1A-245C189562AE}" type="datetimeFigureOut">
              <a:rPr lang="zh-CN" altLang="en-US" smtClean="0"/>
              <a:t>2026/10/22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7D0C94-429E-485B-855A-0F7FC51424BB}" type="slidenum">
              <a:rPr lang="zh-CN" altLang="en-US" smtClean="0"/>
              <a:t>‹#›</a:t>
            </a:fld>
            <a:endParaRPr lang="zh-CN" altLang="en-US"/>
          </a:p>
        </p:txBody>
      </p:sp>
    </p:spTree>
    <p:extLst>
      <p:ext uri="{BB962C8B-B14F-4D97-AF65-F5344CB8AC3E}">
        <p14:creationId xmlns:p14="http://schemas.microsoft.com/office/powerpoint/2010/main" val="4286320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en-US" altLang="zh-CN" dirty="0"/>
              <a:t>Hello, my name is Wei Xuan, a student from Institute of computing technology, Chinese academy of sciences.  It’s my honor to share our recent work here. Entitled “Triangle counting by adaptively resampling over evolving graph streams”.</a:t>
            </a:r>
          </a:p>
          <a:p>
            <a:endParaRPr lang="zh-CN" altLang="en-US" dirty="0"/>
          </a:p>
        </p:txBody>
      </p:sp>
      <p:sp>
        <p:nvSpPr>
          <p:cNvPr id="4" name="灯片编号占位符 3"/>
          <p:cNvSpPr>
            <a:spLocks noGrp="1"/>
          </p:cNvSpPr>
          <p:nvPr>
            <p:ph type="sldNum" sz="quarter" idx="5"/>
          </p:nvPr>
        </p:nvSpPr>
        <p:spPr/>
        <p:txBody>
          <a:bodyPr/>
          <a:lstStyle/>
          <a:p>
            <a:fld id="{5A7D0C94-429E-485B-855A-0F7FC51424BB}" type="slidenum">
              <a:rPr lang="zh-CN" altLang="en-US" smtClean="0"/>
              <a:t>1</a:t>
            </a:fld>
            <a:endParaRPr lang="zh-CN" altLang="en-US"/>
          </a:p>
        </p:txBody>
      </p:sp>
    </p:spTree>
    <p:extLst>
      <p:ext uri="{BB962C8B-B14F-4D97-AF65-F5344CB8AC3E}">
        <p14:creationId xmlns:p14="http://schemas.microsoft.com/office/powerpoint/2010/main" val="455277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en-US" altLang="zh-CN" dirty="0"/>
              <a:t>We will share this work in five sections. First is Introduction.</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5A7D0C94-429E-485B-855A-0F7FC51424BB}" type="slidenum">
              <a:rPr lang="zh-CN" altLang="en-US" smtClean="0"/>
              <a:t>2</a:t>
            </a:fld>
            <a:endParaRPr lang="zh-CN" altLang="en-US"/>
          </a:p>
        </p:txBody>
      </p:sp>
    </p:spTree>
    <p:extLst>
      <p:ext uri="{BB962C8B-B14F-4D97-AF65-F5344CB8AC3E}">
        <p14:creationId xmlns:p14="http://schemas.microsoft.com/office/powerpoint/2010/main" val="39221270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Graphs are ubiquitous: Vertices represent entities, edges represent relationships between entities, among social networks, traffic networks, and son 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Triangle is a fundamental primitive, which 3 nodes connected to each other.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5A7D0C94-429E-485B-855A-0F7FC51424BB}" type="slidenum">
              <a:rPr lang="zh-CN" altLang="en-US" smtClean="0"/>
              <a:t>3</a:t>
            </a:fld>
            <a:endParaRPr lang="zh-CN" altLang="en-US"/>
          </a:p>
        </p:txBody>
      </p:sp>
    </p:spTree>
    <p:extLst>
      <p:ext uri="{BB962C8B-B14F-4D97-AF65-F5344CB8AC3E}">
        <p14:creationId xmlns:p14="http://schemas.microsoft.com/office/powerpoint/2010/main" val="4152688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Triangle counting  has many applications in our lives. Such as financial fraud detection, community discovery, spam detection, and so on.</a:t>
            </a:r>
          </a:p>
          <a:p>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5A7D0C94-429E-485B-855A-0F7FC51424BB}" type="slidenum">
              <a:rPr lang="zh-CN" altLang="en-US" smtClean="0"/>
              <a:t>4</a:t>
            </a:fld>
            <a:endParaRPr lang="zh-CN" altLang="en-US"/>
          </a:p>
        </p:txBody>
      </p:sp>
    </p:spTree>
    <p:extLst>
      <p:ext uri="{BB962C8B-B14F-4D97-AF65-F5344CB8AC3E}">
        <p14:creationId xmlns:p14="http://schemas.microsoft.com/office/powerpoint/2010/main" val="3337092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en-US" altLang="zh-CN" dirty="0"/>
              <a:t>In real-world, graphs are dynamic, called streaming graphs.  a sequence of insert/delete edges.</a:t>
            </a:r>
          </a:p>
          <a:p>
            <a:r>
              <a:rPr lang="en-US" altLang="zh-CN" dirty="0"/>
              <a:t>For example, the number of Google searches, emails sent, videos viewed  are always dynamic over a day</a:t>
            </a:r>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5A7D0C94-429E-485B-855A-0F7FC51424BB}" type="slidenum">
              <a:rPr lang="zh-CN" altLang="en-US" smtClean="0"/>
              <a:t>5</a:t>
            </a:fld>
            <a:endParaRPr lang="zh-CN" altLang="en-US"/>
          </a:p>
        </p:txBody>
      </p:sp>
    </p:spTree>
    <p:extLst>
      <p:ext uri="{BB962C8B-B14F-4D97-AF65-F5344CB8AC3E}">
        <p14:creationId xmlns:p14="http://schemas.microsoft.com/office/powerpoint/2010/main" val="40590874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However, streaming graph process faces huge challenges. Real-world graphs are massive and continually grow upwards. And limited by memory capacity, they are difficult to fit in main memory.</a:t>
            </a:r>
          </a:p>
        </p:txBody>
      </p:sp>
      <p:sp>
        <p:nvSpPr>
          <p:cNvPr id="4" name="灯片编号占位符 3"/>
          <p:cNvSpPr>
            <a:spLocks noGrp="1"/>
          </p:cNvSpPr>
          <p:nvPr>
            <p:ph type="sldNum" sz="quarter" idx="5"/>
          </p:nvPr>
        </p:nvSpPr>
        <p:spPr/>
        <p:txBody>
          <a:bodyPr/>
          <a:lstStyle/>
          <a:p>
            <a:fld id="{5A7D0C94-429E-485B-855A-0F7FC51424BB}" type="slidenum">
              <a:rPr lang="zh-CN" altLang="en-US" smtClean="0"/>
              <a:t>6</a:t>
            </a:fld>
            <a:endParaRPr lang="zh-CN" altLang="en-US"/>
          </a:p>
        </p:txBody>
      </p:sp>
    </p:spTree>
    <p:extLst>
      <p:ext uri="{BB962C8B-B14F-4D97-AF65-F5344CB8AC3E}">
        <p14:creationId xmlns:p14="http://schemas.microsoft.com/office/powerpoint/2010/main" val="42442757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The second section is related work about previous triangle counting in streaming graphs.</a:t>
            </a:r>
          </a:p>
          <a:p>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7D0C94-429E-485B-855A-0F7FC51424BB}"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4650955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Based on different memory allocation strategy, previous triangle counting algorithms can be divided into two categories. </a:t>
            </a:r>
          </a:p>
          <a:p>
            <a:r>
              <a:rPr lang="en-US" altLang="zh-CN" dirty="0"/>
              <a:t>One is reservoir-based method, which sampling ratio decrease, memory budget is fixed.</a:t>
            </a:r>
          </a:p>
          <a:p>
            <a:r>
              <a:rPr lang="en-US" altLang="zh-CN" dirty="0"/>
              <a:t>Another is Bernoulli-based method, which sampling ratio is fixed, memory budget increases.</a:t>
            </a:r>
          </a:p>
          <a:p>
            <a:r>
              <a:rPr lang="en-US" altLang="zh-CN" dirty="0"/>
              <a:t>Our proposed method, called BSR-Sample, </a:t>
            </a:r>
          </a:p>
          <a:p>
            <a:endParaRPr lang="en-US" altLang="zh-CN" dirty="0"/>
          </a:p>
          <a:p>
            <a:endParaRPr lang="en-US" altLang="zh-CN" dirty="0"/>
          </a:p>
          <a:p>
            <a:endParaRPr lang="en-US" altLang="zh-CN" dirty="0"/>
          </a:p>
        </p:txBody>
      </p:sp>
      <p:sp>
        <p:nvSpPr>
          <p:cNvPr id="4" name="灯片编号占位符 3"/>
          <p:cNvSpPr>
            <a:spLocks noGrp="1"/>
          </p:cNvSpPr>
          <p:nvPr>
            <p:ph type="sldNum" sz="quarter" idx="5"/>
          </p:nvPr>
        </p:nvSpPr>
        <p:spPr/>
        <p:txBody>
          <a:bodyPr/>
          <a:lstStyle/>
          <a:p>
            <a:fld id="{5A7D0C94-429E-485B-855A-0F7FC51424BB}" type="slidenum">
              <a:rPr lang="zh-CN" altLang="en-US" smtClean="0"/>
              <a:t>8</a:t>
            </a:fld>
            <a:endParaRPr lang="zh-CN" altLang="en-US"/>
          </a:p>
        </p:txBody>
      </p:sp>
    </p:spTree>
    <p:extLst>
      <p:ext uri="{BB962C8B-B14F-4D97-AF65-F5344CB8AC3E}">
        <p14:creationId xmlns:p14="http://schemas.microsoft.com/office/powerpoint/2010/main" val="5252797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State-of-the-art Reservoir-based approaches in recent years.</a:t>
            </a:r>
          </a:p>
          <a:p>
            <a:r>
              <a:rPr lang="en-US" altLang="zh-CN" dirty="0"/>
              <a:t>TRIEST is the first to handle fully-dynamic graph streams, which includes edge insertion and deletion.</a:t>
            </a:r>
          </a:p>
          <a:p>
            <a:r>
              <a:rPr lang="en-US" altLang="zh-CN" dirty="0"/>
              <a:t>WRS employs temporal locality to discover as many triangles as possible, which future edges are more likely to form triangles with recent edges than with older edges.</a:t>
            </a:r>
          </a:p>
          <a:p>
            <a:r>
              <a:rPr lang="en-US" altLang="zh-CN" dirty="0" err="1"/>
              <a:t>ThinkD</a:t>
            </a:r>
            <a:r>
              <a:rPr lang="en-US" altLang="zh-CN" dirty="0"/>
              <a:t> further improves TRIEST by “counting first then sampling”, which leverages unsampled edges to update the estimations of triangles.</a:t>
            </a:r>
          </a:p>
          <a:p>
            <a:endParaRPr lang="en-US" altLang="zh-CN" dirty="0"/>
          </a:p>
          <a:p>
            <a:r>
              <a:rPr lang="en-US" altLang="zh-CN" dirty="0"/>
              <a:t>As shown in the experiment, the accuracy of reservoir-based method is mainly affected by memory budget size, along the scale of graph streams increase.  </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sp>
        <p:nvSpPr>
          <p:cNvPr id="4" name="灯片编号占位符 3"/>
          <p:cNvSpPr>
            <a:spLocks noGrp="1"/>
          </p:cNvSpPr>
          <p:nvPr>
            <p:ph type="sldNum" sz="quarter" idx="5"/>
          </p:nvPr>
        </p:nvSpPr>
        <p:spPr/>
        <p:txBody>
          <a:bodyPr/>
          <a:lstStyle/>
          <a:p>
            <a:fld id="{5A7D0C94-429E-485B-855A-0F7FC51424BB}" type="slidenum">
              <a:rPr lang="zh-CN" altLang="en-US" smtClean="0"/>
              <a:t>9</a:t>
            </a:fld>
            <a:endParaRPr lang="zh-CN" altLang="en-US"/>
          </a:p>
        </p:txBody>
      </p:sp>
    </p:spTree>
    <p:extLst>
      <p:ext uri="{BB962C8B-B14F-4D97-AF65-F5344CB8AC3E}">
        <p14:creationId xmlns:p14="http://schemas.microsoft.com/office/powerpoint/2010/main" val="41944006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State-of-the-art Bernoulli-based approaches in recent years.</a:t>
            </a:r>
          </a:p>
          <a:p>
            <a:r>
              <a:rPr lang="en-US" altLang="zh-CN" dirty="0" err="1"/>
              <a:t>gSH</a:t>
            </a:r>
            <a:r>
              <a:rPr lang="en-US" altLang="zh-CN" dirty="0"/>
              <a:t> is sampling framework using different probabilities based on the graph properties of interest; for example, sample current arriving edge with probability p when it depends on previously sampled edges, otherwise holds the edge with probability q.</a:t>
            </a:r>
          </a:p>
          <a:p>
            <a:r>
              <a:rPr lang="en-US" altLang="zh-CN" dirty="0"/>
              <a:t>GPS utilizes different priority for sequentially sampling over graph streams.</a:t>
            </a:r>
          </a:p>
          <a:p>
            <a:r>
              <a:rPr lang="en-US" altLang="zh-CN" dirty="0"/>
              <a:t>MASCOT is the first one to count local triangles by the means of “unconditional counting before sampling”.</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However,  t</a:t>
            </a:r>
            <a:r>
              <a:rPr lang="en-US" altLang="zh-CN" sz="1200" b="0" i="0" u="none" strike="noStrike" kern="1200" baseline="0" dirty="0">
                <a:solidFill>
                  <a:schemeClr val="tx1"/>
                </a:solidFill>
                <a:latin typeface="+mn-lt"/>
                <a:ea typeface="+mn-ea"/>
                <a:cs typeface="+mn-cs"/>
              </a:rPr>
              <a:t>he sample size of Bernoulli-based sample fluctuates around the real value.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Therefore, </a:t>
            </a:r>
            <a:r>
              <a:rPr lang="en-US" altLang="zh-CN" sz="1200" b="0" i="0" u="none" strike="noStrike" kern="1200" baseline="0" dirty="0">
                <a:solidFill>
                  <a:schemeClr val="tx1"/>
                </a:solidFill>
                <a:latin typeface="+mn-lt"/>
                <a:ea typeface="+mn-ea"/>
                <a:cs typeface="+mn-cs"/>
              </a:rPr>
              <a:t>it is difficult to allocate appropriate memory space for triangle counting over evolving graph streams.</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5A7D0C94-429E-485B-855A-0F7FC51424BB}" type="slidenum">
              <a:rPr lang="zh-CN" altLang="en-US" smtClean="0"/>
              <a:t>10</a:t>
            </a:fld>
            <a:endParaRPr lang="zh-CN" altLang="en-US"/>
          </a:p>
        </p:txBody>
      </p:sp>
    </p:spTree>
    <p:extLst>
      <p:ext uri="{BB962C8B-B14F-4D97-AF65-F5344CB8AC3E}">
        <p14:creationId xmlns:p14="http://schemas.microsoft.com/office/powerpoint/2010/main" val="4943164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en-US" altLang="zh-CN" dirty="0"/>
              <a:t>We will introduce proposed method in the third section, which counts triangles by adaptively resampling over evolving graph streams.</a:t>
            </a:r>
          </a:p>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7D0C94-429E-485B-855A-0F7FC51424BB}"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801100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observed that: first the scale of graph streams is unknown in advance,  and usually grow upwards, so the whole size of graph streams is large.  On the contrary, the main memory space is limited. </a:t>
            </a:r>
          </a:p>
          <a:p>
            <a:endParaRPr lang="en-US" altLang="zh-CN" dirty="0"/>
          </a:p>
          <a:p>
            <a:r>
              <a:rPr lang="en-US" altLang="zh-CN" dirty="0"/>
              <a:t>Therefore, lead to new challenges for global and local triangle counting, that is to say, how to maintain an appropriate sampling ratio? and how much memory space to allocate for triangle counting? </a:t>
            </a:r>
          </a:p>
          <a:p>
            <a:endParaRPr lang="zh-CN" altLang="en-US" dirty="0"/>
          </a:p>
        </p:txBody>
      </p:sp>
      <p:sp>
        <p:nvSpPr>
          <p:cNvPr id="4" name="灯片编号占位符 3"/>
          <p:cNvSpPr>
            <a:spLocks noGrp="1"/>
          </p:cNvSpPr>
          <p:nvPr>
            <p:ph type="sldNum" sz="quarter" idx="5"/>
          </p:nvPr>
        </p:nvSpPr>
        <p:spPr/>
        <p:txBody>
          <a:bodyPr/>
          <a:lstStyle/>
          <a:p>
            <a:fld id="{5A7D0C94-429E-485B-855A-0F7FC51424BB}" type="slidenum">
              <a:rPr lang="zh-CN" altLang="en-US" smtClean="0"/>
              <a:t>12</a:t>
            </a:fld>
            <a:endParaRPr lang="zh-CN" altLang="en-US"/>
          </a:p>
        </p:txBody>
      </p:sp>
    </p:spTree>
    <p:extLst>
      <p:ext uri="{BB962C8B-B14F-4D97-AF65-F5344CB8AC3E}">
        <p14:creationId xmlns:p14="http://schemas.microsoft.com/office/powerpoint/2010/main" val="26010212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To solve the new challenges, the goals of our work are as follows. </a:t>
            </a:r>
          </a:p>
          <a:p>
            <a:r>
              <a:rPr lang="en-US" altLang="zh-CN" dirty="0"/>
              <a:t>First is to maintain a bounded-sampling-ratio, which can discover more triangles and achieve accurate and stable estimation of global and local triangle counting.</a:t>
            </a:r>
          </a:p>
          <a:p>
            <a:r>
              <a:rPr lang="en-US" altLang="zh-CN" dirty="0"/>
              <a:t>Second is to control Consumed memory budget.  which can improve the efficiency of memory usage.</a:t>
            </a:r>
          </a:p>
          <a:p>
            <a:r>
              <a:rPr lang="en-US" altLang="zh-CN" dirty="0"/>
              <a:t>Then is single-pass streaming algorithms to avoid multi-repeated and redundant operations.</a:t>
            </a:r>
          </a:p>
          <a:p>
            <a:r>
              <a:rPr lang="en-US" altLang="zh-CN" dirty="0"/>
              <a:t>It’s also necessary that the process only in memory space, which is no need to access slower disk, thus can get rapid response for real-world applications.</a:t>
            </a:r>
          </a:p>
          <a:p>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5A7D0C94-429E-485B-855A-0F7FC51424BB}" type="slidenum">
              <a:rPr lang="zh-CN" altLang="en-US" smtClean="0"/>
              <a:t>13</a:t>
            </a:fld>
            <a:endParaRPr lang="zh-CN" altLang="en-US"/>
          </a:p>
        </p:txBody>
      </p:sp>
    </p:spTree>
    <p:extLst>
      <p:ext uri="{BB962C8B-B14F-4D97-AF65-F5344CB8AC3E}">
        <p14:creationId xmlns:p14="http://schemas.microsoft.com/office/powerpoint/2010/main" val="13555413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propose the BSR-Sample (Bounded-Sampling-Ratio Sample) algorithm, which always maintain the sampling ratio greater than or equal to a specified sampling-ratio threshold,  by leveraging multi-sets of Reservoir-based sample. </a:t>
            </a:r>
          </a:p>
          <a:p>
            <a:r>
              <a:rPr lang="en-US" altLang="zh-CN" dirty="0"/>
              <a:t>BSR-TC (BSR-Triangle Counting) uses the BSR-Sample method for triangle counting.</a:t>
            </a:r>
          </a:p>
          <a:p>
            <a:endParaRPr lang="en-US" altLang="zh-CN" dirty="0"/>
          </a:p>
          <a:p>
            <a:r>
              <a:rPr lang="en-US" altLang="zh-CN" dirty="0"/>
              <a:t>BSR-TC takes edge streams as the input, and outputs the count of global and local triangles; Consist of Estimation, Sampling and Checking.</a:t>
            </a:r>
          </a:p>
          <a:p>
            <a:endParaRPr lang="zh-CN" altLang="en-US" dirty="0"/>
          </a:p>
        </p:txBody>
      </p:sp>
      <p:sp>
        <p:nvSpPr>
          <p:cNvPr id="4" name="灯片编号占位符 3"/>
          <p:cNvSpPr>
            <a:spLocks noGrp="1"/>
          </p:cNvSpPr>
          <p:nvPr>
            <p:ph type="sldNum" sz="quarter" idx="5"/>
          </p:nvPr>
        </p:nvSpPr>
        <p:spPr/>
        <p:txBody>
          <a:bodyPr/>
          <a:lstStyle/>
          <a:p>
            <a:fld id="{5A7D0C94-429E-485B-855A-0F7FC51424BB}" type="slidenum">
              <a:rPr lang="zh-CN" altLang="en-US" smtClean="0"/>
              <a:t>14</a:t>
            </a:fld>
            <a:endParaRPr lang="zh-CN" altLang="en-US"/>
          </a:p>
        </p:txBody>
      </p:sp>
    </p:spTree>
    <p:extLst>
      <p:ext uri="{BB962C8B-B14F-4D97-AF65-F5344CB8AC3E}">
        <p14:creationId xmlns:p14="http://schemas.microsoft.com/office/powerpoint/2010/main" val="13913097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first step is to estimate global and local counting. Here, we use a mechanism called  “first counting, then sampling”, which improves the estimation accuracy by leveraging more edges to participate in statistics analysis.</a:t>
            </a:r>
            <a:endParaRPr lang="zh-CN" altLang="en-US" dirty="0"/>
          </a:p>
        </p:txBody>
      </p:sp>
      <p:sp>
        <p:nvSpPr>
          <p:cNvPr id="4" name="灯片编号占位符 3"/>
          <p:cNvSpPr>
            <a:spLocks noGrp="1"/>
          </p:cNvSpPr>
          <p:nvPr>
            <p:ph type="sldNum" sz="quarter" idx="5"/>
          </p:nvPr>
        </p:nvSpPr>
        <p:spPr/>
        <p:txBody>
          <a:bodyPr/>
          <a:lstStyle/>
          <a:p>
            <a:fld id="{5A7D0C94-429E-485B-855A-0F7FC51424BB}" type="slidenum">
              <a:rPr lang="zh-CN" altLang="en-US" smtClean="0"/>
              <a:t>15</a:t>
            </a:fld>
            <a:endParaRPr lang="zh-CN" altLang="en-US"/>
          </a:p>
        </p:txBody>
      </p:sp>
    </p:spTree>
    <p:extLst>
      <p:ext uri="{BB962C8B-B14F-4D97-AF65-F5344CB8AC3E}">
        <p14:creationId xmlns:p14="http://schemas.microsoft.com/office/powerpoint/2010/main" val="34758699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second step is sampling.  </a:t>
            </a:r>
          </a:p>
          <a:p>
            <a:r>
              <a:rPr lang="en-US" altLang="zh-CN" dirty="0"/>
              <a:t>The whole sampling set of BSR-Sample is divided into two parts: the current sampling set and the sampling pool. </a:t>
            </a:r>
          </a:p>
          <a:p>
            <a:r>
              <a:rPr lang="en-US" altLang="zh-CN" dirty="0"/>
              <a:t>The former is used to maintain dynamically updated edges. </a:t>
            </a:r>
          </a:p>
          <a:p>
            <a:r>
              <a:rPr lang="en-US" altLang="zh-CN" dirty="0"/>
              <a:t>The sampling ratio of the current sampling set is always greater than the specified threshold. BSR-Sample will remove the sampled edges into sampling pool once it equals the threshold, and allocates new memory budget as the current sampling set.</a:t>
            </a:r>
            <a:endParaRPr lang="zh-CN" altLang="en-US" dirty="0"/>
          </a:p>
        </p:txBody>
      </p:sp>
      <p:sp>
        <p:nvSpPr>
          <p:cNvPr id="4" name="灯片编号占位符 3"/>
          <p:cNvSpPr>
            <a:spLocks noGrp="1"/>
          </p:cNvSpPr>
          <p:nvPr>
            <p:ph type="sldNum" sz="quarter" idx="5"/>
          </p:nvPr>
        </p:nvSpPr>
        <p:spPr/>
        <p:txBody>
          <a:bodyPr/>
          <a:lstStyle/>
          <a:p>
            <a:fld id="{5A7D0C94-429E-485B-855A-0F7FC51424BB}" type="slidenum">
              <a:rPr lang="zh-CN" altLang="en-US" smtClean="0"/>
              <a:t>16</a:t>
            </a:fld>
            <a:endParaRPr lang="zh-CN" altLang="en-US"/>
          </a:p>
        </p:txBody>
      </p:sp>
    </p:spTree>
    <p:extLst>
      <p:ext uri="{BB962C8B-B14F-4D97-AF65-F5344CB8AC3E}">
        <p14:creationId xmlns:p14="http://schemas.microsoft.com/office/powerpoint/2010/main" val="29044775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The third step is checking.  </a:t>
            </a:r>
          </a:p>
          <a:p>
            <a:r>
              <a:rPr lang="en-US" altLang="zh-CN" dirty="0"/>
              <a:t>BSR-Sample determines whether to enable the current sampling set join into the sampling</a:t>
            </a:r>
          </a:p>
          <a:p>
            <a:r>
              <a:rPr lang="en-US" altLang="zh-CN" dirty="0"/>
              <a:t>pool. </a:t>
            </a:r>
          </a:p>
          <a:p>
            <a:r>
              <a:rPr lang="en-US" altLang="zh-CN" dirty="0"/>
              <a:t>When the sampling ratio of the current sampling set equals the specified sampling-ratio threshold, BSR-Sample will remove the entire current sampling set into sampling pool,</a:t>
            </a:r>
          </a:p>
          <a:p>
            <a:r>
              <a:rPr lang="en-US" altLang="zh-CN" dirty="0"/>
              <a:t>and then create a new sampling set to substitute for current sampling set. </a:t>
            </a:r>
          </a:p>
          <a:p>
            <a:r>
              <a:rPr lang="en-US" altLang="zh-CN" dirty="0"/>
              <a:t>Through adaptively incrementing the current sampling set, BSR-Sample is capable of keeping a bounded sample-ratio when the available memory is large enough.</a:t>
            </a:r>
          </a:p>
          <a:p>
            <a:endParaRPr lang="zh-CN" altLang="en-US" dirty="0"/>
          </a:p>
        </p:txBody>
      </p:sp>
      <p:sp>
        <p:nvSpPr>
          <p:cNvPr id="4" name="灯片编号占位符 3"/>
          <p:cNvSpPr>
            <a:spLocks noGrp="1"/>
          </p:cNvSpPr>
          <p:nvPr>
            <p:ph type="sldNum" sz="quarter" idx="5"/>
          </p:nvPr>
        </p:nvSpPr>
        <p:spPr/>
        <p:txBody>
          <a:bodyPr/>
          <a:lstStyle/>
          <a:p>
            <a:fld id="{5A7D0C94-429E-485B-855A-0F7FC51424BB}" type="slidenum">
              <a:rPr lang="zh-CN" altLang="en-US" smtClean="0"/>
              <a:t>17</a:t>
            </a:fld>
            <a:endParaRPr lang="zh-CN" altLang="en-US"/>
          </a:p>
        </p:txBody>
      </p:sp>
    </p:spTree>
    <p:extLst>
      <p:ext uri="{BB962C8B-B14F-4D97-AF65-F5344CB8AC3E}">
        <p14:creationId xmlns:p14="http://schemas.microsoft.com/office/powerpoint/2010/main" val="6217647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Here are algorithms about BSR-Sample and BSR-TC in our work.</a:t>
            </a:r>
            <a:endParaRPr lang="zh-CN" altLang="en-US" dirty="0"/>
          </a:p>
        </p:txBody>
      </p:sp>
      <p:sp>
        <p:nvSpPr>
          <p:cNvPr id="4" name="灯片编号占位符 3"/>
          <p:cNvSpPr>
            <a:spLocks noGrp="1"/>
          </p:cNvSpPr>
          <p:nvPr>
            <p:ph type="sldNum" sz="quarter" idx="5"/>
          </p:nvPr>
        </p:nvSpPr>
        <p:spPr/>
        <p:txBody>
          <a:bodyPr/>
          <a:lstStyle/>
          <a:p>
            <a:fld id="{5A7D0C94-429E-485B-855A-0F7FC51424BB}" type="slidenum">
              <a:rPr lang="zh-CN" altLang="en-US" smtClean="0"/>
              <a:t>18</a:t>
            </a:fld>
            <a:endParaRPr lang="zh-CN" altLang="en-US"/>
          </a:p>
        </p:txBody>
      </p:sp>
    </p:spTree>
    <p:extLst>
      <p:ext uri="{BB962C8B-B14F-4D97-AF65-F5344CB8AC3E}">
        <p14:creationId xmlns:p14="http://schemas.microsoft.com/office/powerpoint/2010/main" val="40093275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The forth section is experiments for triangle counting in streaming graphs.</a:t>
            </a:r>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7D0C94-429E-485B-855A-0F7FC51424BB}"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1499512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our experiments,  </a:t>
            </a:r>
          </a:p>
          <a:p>
            <a:r>
              <a:rPr lang="en-US" altLang="zh-CN" dirty="0"/>
              <a:t>The platforms:  we use a server with Intel Xeon Gold, Red hat Linux OS.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We adopt four real-world graph datasets to simulate graph streams.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Baseline is three state-of-the-art triangle counting algorithms: WRS, MASCOT and </a:t>
            </a:r>
            <a:r>
              <a:rPr lang="en-US" altLang="zh-CN" dirty="0" err="1"/>
              <a:t>ThinkDAcc</a:t>
            </a:r>
            <a:r>
              <a:rPr lang="en-US" altLang="zh-CN"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And we use the two formulas to calculate global and local error.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5A7D0C94-429E-485B-855A-0F7FC51424BB}" type="slidenum">
              <a:rPr lang="zh-CN" altLang="en-US" smtClean="0"/>
              <a:t>20</a:t>
            </a:fld>
            <a:endParaRPr lang="zh-CN" altLang="en-US"/>
          </a:p>
        </p:txBody>
      </p:sp>
    </p:spTree>
    <p:extLst>
      <p:ext uri="{BB962C8B-B14F-4D97-AF65-F5344CB8AC3E}">
        <p14:creationId xmlns:p14="http://schemas.microsoft.com/office/powerpoint/2010/main" val="16118112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Scalability (BSR-TC maintains accuracy over evolving streams)</a:t>
            </a:r>
          </a:p>
          <a:p>
            <a:endParaRPr lang="en-US" altLang="zh-CN" dirty="0"/>
          </a:p>
          <a:p>
            <a:r>
              <a:rPr lang="en-US" altLang="zh-CN" dirty="0"/>
              <a:t>As shown in Figure (a and b), when initial memory budget is fixed, the global errors of both </a:t>
            </a:r>
            <a:r>
              <a:rPr lang="en-US" altLang="zh-CN" dirty="0" err="1"/>
              <a:t>ThinkDAcc</a:t>
            </a:r>
            <a:r>
              <a:rPr lang="en-US" altLang="zh-CN" dirty="0"/>
              <a:t> and WRS fluctuate as graph streams evolves, while BSR-TC is almost always equal to zero. </a:t>
            </a:r>
          </a:p>
          <a:p>
            <a:r>
              <a:rPr lang="en-US" altLang="zh-CN" dirty="0"/>
              <a:t>This is because the memory budget of </a:t>
            </a:r>
            <a:r>
              <a:rPr lang="en-US" altLang="zh-CN" dirty="0" err="1"/>
              <a:t>ThinkDAcc</a:t>
            </a:r>
            <a:r>
              <a:rPr lang="en-US" altLang="zh-CN" dirty="0"/>
              <a:t> and WRS is fixed and is difficult to set appropriately without any knowledge about the scale of graph streams. </a:t>
            </a:r>
          </a:p>
          <a:p>
            <a:r>
              <a:rPr lang="en-US" altLang="zh-CN" dirty="0"/>
              <a:t>Our proposed BSR-TC can keep stable and high accuracy by the adaptively resampling method over evolving graph streams. </a:t>
            </a: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5A7D0C94-429E-485B-855A-0F7FC51424BB}" type="slidenum">
              <a:rPr lang="zh-CN" altLang="en-US" smtClean="0"/>
              <a:t>21</a:t>
            </a:fld>
            <a:endParaRPr lang="zh-CN" altLang="en-US"/>
          </a:p>
        </p:txBody>
      </p:sp>
    </p:spTree>
    <p:extLst>
      <p:ext uri="{BB962C8B-B14F-4D97-AF65-F5344CB8AC3E}">
        <p14:creationId xmlns:p14="http://schemas.microsoft.com/office/powerpoint/2010/main" val="9611362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Accuracy (regardless of small initial memory budget). </a:t>
            </a:r>
          </a:p>
          <a:p>
            <a:r>
              <a:rPr lang="en-US" altLang="zh-CN" dirty="0"/>
              <a:t>Left Figure shows proposed BSR-TC discovers more triangles than </a:t>
            </a:r>
            <a:r>
              <a:rPr lang="en-US" altLang="zh-CN" dirty="0" err="1"/>
              <a:t>ThinkDAcc</a:t>
            </a:r>
            <a:r>
              <a:rPr lang="en-US" altLang="zh-CN" dirty="0"/>
              <a:t> and MASCOT by adaptively resampling method, over different initial memory budget. </a:t>
            </a:r>
          </a:p>
          <a:p>
            <a:r>
              <a:rPr lang="en-US" altLang="zh-CN" dirty="0"/>
              <a:t>{ By sampling the first arriving edges in memory budget with probability 1, </a:t>
            </a:r>
            <a:r>
              <a:rPr lang="en-US" altLang="zh-CN" dirty="0" err="1"/>
              <a:t>ThinkDAcc</a:t>
            </a:r>
            <a:r>
              <a:rPr lang="en-US" altLang="zh-CN" dirty="0"/>
              <a:t> always discovers more triangles than MASCOT. } </a:t>
            </a:r>
          </a:p>
          <a:p>
            <a:endParaRPr lang="en-US" altLang="zh-CN" dirty="0"/>
          </a:p>
          <a:p>
            <a:r>
              <a:rPr lang="en-US" altLang="zh-CN" dirty="0"/>
              <a:t>Right Figure depicts that BSR-TC achieves accuracy of at least 99.8%(percent) for global triangles and 60.0%(percent)  for local triangles,</a:t>
            </a:r>
          </a:p>
          <a:p>
            <a:r>
              <a:rPr lang="en-US" altLang="zh-CN" dirty="0"/>
              <a:t>respectively, when sampling ratio threshold is 20%(percent) .  Under this condition, BSR-TC gains accuracy of global triangles more than 100 time better than </a:t>
            </a:r>
            <a:r>
              <a:rPr lang="en-US" altLang="zh-CN" dirty="0" err="1"/>
              <a:t>ThinkDAcc</a:t>
            </a:r>
            <a:r>
              <a:rPr lang="en-US" altLang="zh-CN" dirty="0"/>
              <a:t>. </a:t>
            </a:r>
          </a:p>
          <a:p>
            <a:endParaRPr lang="en-US" altLang="zh-CN" dirty="0"/>
          </a:p>
          <a:p>
            <a:r>
              <a:rPr lang="en-US" altLang="zh-CN" dirty="0"/>
              <a:t>Therefore, our proposed BSR-TC can maintain high accuracy by adaptively incrementing memory budget to maintain a bounded sampling ratio over the growth of graph streams.</a:t>
            </a:r>
          </a:p>
          <a:p>
            <a:endParaRPr lang="en-US" altLang="zh-CN" dirty="0"/>
          </a:p>
          <a:p>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5A7D0C94-429E-485B-855A-0F7FC51424BB}" type="slidenum">
              <a:rPr lang="zh-CN" altLang="en-US" smtClean="0"/>
              <a:t>22</a:t>
            </a:fld>
            <a:endParaRPr lang="zh-CN" altLang="en-US"/>
          </a:p>
        </p:txBody>
      </p:sp>
    </p:spTree>
    <p:extLst>
      <p:ext uri="{BB962C8B-B14F-4D97-AF65-F5344CB8AC3E}">
        <p14:creationId xmlns:p14="http://schemas.microsoft.com/office/powerpoint/2010/main" val="31685637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In the last section, we conclude our work</a:t>
            </a:r>
            <a:endParaRPr lang="zh-CN" altLang="en-US" dirty="0"/>
          </a:p>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7D0C94-429E-485B-855A-0F7FC51424BB}"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0735044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First, we introduce a novel and general sampling method. It can adaptively re-sample, ensure sampling ratio is always greater than or equal to a user-specified threshold, without knowing any prior knowledge about graph streams.</a:t>
            </a:r>
          </a:p>
          <a:p>
            <a:r>
              <a:rPr lang="en-US" altLang="zh-CN" dirty="0"/>
              <a:t>Then, we propose global and local triangle counting algorithms, BSR-Sample and BSR-TC for triangle counting.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Finally, we analyze the scalability and accuracy, and experiments show BSR-TC has accurate and unbiased results.</a:t>
            </a:r>
          </a:p>
          <a:p>
            <a:endParaRPr lang="zh-CN" altLang="en-US" dirty="0"/>
          </a:p>
        </p:txBody>
      </p:sp>
      <p:sp>
        <p:nvSpPr>
          <p:cNvPr id="4" name="灯片编号占位符 3"/>
          <p:cNvSpPr>
            <a:spLocks noGrp="1"/>
          </p:cNvSpPr>
          <p:nvPr>
            <p:ph type="sldNum" sz="quarter" idx="5"/>
          </p:nvPr>
        </p:nvSpPr>
        <p:spPr/>
        <p:txBody>
          <a:bodyPr/>
          <a:lstStyle/>
          <a:p>
            <a:fld id="{5A7D0C94-429E-485B-855A-0F7FC51424BB}" type="slidenum">
              <a:rPr lang="zh-CN" altLang="en-US" smtClean="0"/>
              <a:t>24</a:t>
            </a:fld>
            <a:endParaRPr lang="zh-CN" altLang="en-US"/>
          </a:p>
        </p:txBody>
      </p:sp>
    </p:spTree>
    <p:extLst>
      <p:ext uri="{BB962C8B-B14F-4D97-AF65-F5344CB8AC3E}">
        <p14:creationId xmlns:p14="http://schemas.microsoft.com/office/powerpoint/2010/main" val="39518288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Thanks for your attention. My presentation is finished/over new. Has anyone any questions?</a:t>
            </a:r>
          </a:p>
        </p:txBody>
      </p:sp>
      <p:sp>
        <p:nvSpPr>
          <p:cNvPr id="4" name="灯片编号占位符 3"/>
          <p:cNvSpPr>
            <a:spLocks noGrp="1"/>
          </p:cNvSpPr>
          <p:nvPr>
            <p:ph type="sldNum" sz="quarter" idx="5"/>
          </p:nvPr>
        </p:nvSpPr>
        <p:spPr/>
        <p:txBody>
          <a:bodyPr/>
          <a:lstStyle/>
          <a:p>
            <a:fld id="{5A7D0C94-429E-485B-855A-0F7FC51424BB}" type="slidenum">
              <a:rPr lang="zh-CN" altLang="en-US" smtClean="0"/>
              <a:t>25</a:t>
            </a:fld>
            <a:endParaRPr lang="zh-CN" altLang="en-US"/>
          </a:p>
        </p:txBody>
      </p:sp>
    </p:spTree>
    <p:extLst>
      <p:ext uri="{BB962C8B-B14F-4D97-AF65-F5344CB8AC3E}">
        <p14:creationId xmlns:p14="http://schemas.microsoft.com/office/powerpoint/2010/main" val="2074963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E5CEF40F-13FC-4805-93DE-5DF71CDF0FD9}" type="datetimeFigureOut">
              <a:rPr lang="zh-CN" altLang="en-US" smtClean="0"/>
              <a:t>2026/10/22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8C18B20-99F9-4866-84D4-802F7B8C14EF}" type="slidenum">
              <a:rPr lang="zh-CN" altLang="en-US" smtClean="0"/>
              <a:t>‹#›</a:t>
            </a:fld>
            <a:endParaRPr lang="zh-CN" altLang="en-US"/>
          </a:p>
        </p:txBody>
      </p:sp>
    </p:spTree>
    <p:extLst>
      <p:ext uri="{BB962C8B-B14F-4D97-AF65-F5344CB8AC3E}">
        <p14:creationId xmlns:p14="http://schemas.microsoft.com/office/powerpoint/2010/main" val="3164992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E5CEF40F-13FC-4805-93DE-5DF71CDF0FD9}" type="datetimeFigureOut">
              <a:rPr lang="zh-CN" altLang="en-US" smtClean="0"/>
              <a:t>2026/10/22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8C18B20-99F9-4866-84D4-802F7B8C14EF}" type="slidenum">
              <a:rPr lang="zh-CN" altLang="en-US" smtClean="0"/>
              <a:t>‹#›</a:t>
            </a:fld>
            <a:endParaRPr lang="zh-CN" altLang="en-US"/>
          </a:p>
        </p:txBody>
      </p:sp>
    </p:spTree>
    <p:extLst>
      <p:ext uri="{BB962C8B-B14F-4D97-AF65-F5344CB8AC3E}">
        <p14:creationId xmlns:p14="http://schemas.microsoft.com/office/powerpoint/2010/main" val="3309244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E5CEF40F-13FC-4805-93DE-5DF71CDF0FD9}" type="datetimeFigureOut">
              <a:rPr lang="zh-CN" altLang="en-US" smtClean="0"/>
              <a:t>2026/10/22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8C18B20-99F9-4866-84D4-802F7B8C14EF}" type="slidenum">
              <a:rPr lang="zh-CN" altLang="en-US" smtClean="0"/>
              <a:t>‹#›</a:t>
            </a:fld>
            <a:endParaRPr lang="zh-CN" altLang="en-US"/>
          </a:p>
        </p:txBody>
      </p:sp>
    </p:spTree>
    <p:extLst>
      <p:ext uri="{BB962C8B-B14F-4D97-AF65-F5344CB8AC3E}">
        <p14:creationId xmlns:p14="http://schemas.microsoft.com/office/powerpoint/2010/main" val="3014545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E5CEF40F-13FC-4805-93DE-5DF71CDF0FD9}" type="datetimeFigureOut">
              <a:rPr lang="zh-CN" altLang="en-US" smtClean="0"/>
              <a:t>2026/10/22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8C18B20-99F9-4866-84D4-802F7B8C14EF}" type="slidenum">
              <a:rPr lang="zh-CN" altLang="en-US" smtClean="0"/>
              <a:t>‹#›</a:t>
            </a:fld>
            <a:endParaRPr lang="zh-CN" altLang="en-US"/>
          </a:p>
        </p:txBody>
      </p:sp>
    </p:spTree>
    <p:extLst>
      <p:ext uri="{BB962C8B-B14F-4D97-AF65-F5344CB8AC3E}">
        <p14:creationId xmlns:p14="http://schemas.microsoft.com/office/powerpoint/2010/main" val="525675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E5CEF40F-13FC-4805-93DE-5DF71CDF0FD9}" type="datetimeFigureOut">
              <a:rPr lang="zh-CN" altLang="en-US" smtClean="0"/>
              <a:t>2026/10/22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88C18B20-99F9-4866-84D4-802F7B8C14EF}" type="slidenum">
              <a:rPr lang="zh-CN" altLang="en-US" smtClean="0"/>
              <a:t>‹#›</a:t>
            </a:fld>
            <a:endParaRPr lang="zh-CN" altLang="en-US"/>
          </a:p>
        </p:txBody>
      </p:sp>
    </p:spTree>
    <p:extLst>
      <p:ext uri="{BB962C8B-B14F-4D97-AF65-F5344CB8AC3E}">
        <p14:creationId xmlns:p14="http://schemas.microsoft.com/office/powerpoint/2010/main" val="1049799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E5CEF40F-13FC-4805-93DE-5DF71CDF0FD9}" type="datetimeFigureOut">
              <a:rPr lang="zh-CN" altLang="en-US" smtClean="0"/>
              <a:t>2026/10/22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88C18B20-99F9-4866-84D4-802F7B8C14EF}" type="slidenum">
              <a:rPr lang="zh-CN" altLang="en-US" smtClean="0"/>
              <a:t>‹#›</a:t>
            </a:fld>
            <a:endParaRPr lang="zh-CN" altLang="en-US"/>
          </a:p>
        </p:txBody>
      </p:sp>
    </p:spTree>
    <p:extLst>
      <p:ext uri="{BB962C8B-B14F-4D97-AF65-F5344CB8AC3E}">
        <p14:creationId xmlns:p14="http://schemas.microsoft.com/office/powerpoint/2010/main" val="2230766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CEF40F-13FC-4805-93DE-5DF71CDF0FD9}" type="datetimeFigureOut">
              <a:rPr lang="zh-CN" altLang="en-US" smtClean="0"/>
              <a:t>2026/10/22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88C18B20-99F9-4866-84D4-802F7B8C14EF}" type="slidenum">
              <a:rPr lang="zh-CN" altLang="en-US" smtClean="0"/>
              <a:t>‹#›</a:t>
            </a:fld>
            <a:endParaRPr lang="zh-CN" altLang="en-US"/>
          </a:p>
        </p:txBody>
      </p:sp>
    </p:spTree>
    <p:extLst>
      <p:ext uri="{BB962C8B-B14F-4D97-AF65-F5344CB8AC3E}">
        <p14:creationId xmlns:p14="http://schemas.microsoft.com/office/powerpoint/2010/main" val="2366612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E5CEF40F-13FC-4805-93DE-5DF71CDF0FD9}" type="datetimeFigureOut">
              <a:rPr lang="zh-CN" altLang="en-US" smtClean="0"/>
              <a:t>2026/10/22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8C18B20-99F9-4866-84D4-802F7B8C14EF}" type="slidenum">
              <a:rPr lang="zh-CN" altLang="en-US" smtClean="0"/>
              <a:t>‹#›</a:t>
            </a:fld>
            <a:endParaRPr lang="zh-CN" altLang="en-US"/>
          </a:p>
        </p:txBody>
      </p:sp>
    </p:spTree>
    <p:extLst>
      <p:ext uri="{BB962C8B-B14F-4D97-AF65-F5344CB8AC3E}">
        <p14:creationId xmlns:p14="http://schemas.microsoft.com/office/powerpoint/2010/main" val="882125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E5CEF40F-13FC-4805-93DE-5DF71CDF0FD9}" type="datetimeFigureOut">
              <a:rPr lang="zh-CN" altLang="en-US" smtClean="0"/>
              <a:t>2026/10/22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8C18B20-99F9-4866-84D4-802F7B8C14EF}" type="slidenum">
              <a:rPr lang="zh-CN" altLang="en-US" smtClean="0"/>
              <a:t>‹#›</a:t>
            </a:fld>
            <a:endParaRPr lang="zh-CN" altLang="en-US"/>
          </a:p>
        </p:txBody>
      </p:sp>
    </p:spTree>
    <p:extLst>
      <p:ext uri="{BB962C8B-B14F-4D97-AF65-F5344CB8AC3E}">
        <p14:creationId xmlns:p14="http://schemas.microsoft.com/office/powerpoint/2010/main" val="965362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E5CEF40F-13FC-4805-93DE-5DF71CDF0FD9}" type="datetimeFigureOut">
              <a:rPr lang="zh-CN" altLang="en-US" smtClean="0"/>
              <a:t>2026/10/22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8C18B20-99F9-4866-84D4-802F7B8C14EF}" type="slidenum">
              <a:rPr lang="zh-CN" altLang="en-US" smtClean="0"/>
              <a:t>‹#›</a:t>
            </a:fld>
            <a:endParaRPr lang="zh-CN" altLang="en-US"/>
          </a:p>
        </p:txBody>
      </p:sp>
    </p:spTree>
    <p:extLst>
      <p:ext uri="{BB962C8B-B14F-4D97-AF65-F5344CB8AC3E}">
        <p14:creationId xmlns:p14="http://schemas.microsoft.com/office/powerpoint/2010/main" val="3515466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E5CEF40F-13FC-4805-93DE-5DF71CDF0FD9}" type="datetimeFigureOut">
              <a:rPr lang="zh-CN" altLang="en-US" smtClean="0"/>
              <a:t>2026/10/22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8C18B20-99F9-4866-84D4-802F7B8C14EF}" type="slidenum">
              <a:rPr lang="zh-CN" altLang="en-US" smtClean="0"/>
              <a:t>‹#›</a:t>
            </a:fld>
            <a:endParaRPr lang="zh-CN" altLang="en-US"/>
          </a:p>
        </p:txBody>
      </p:sp>
    </p:spTree>
    <p:extLst>
      <p:ext uri="{BB962C8B-B14F-4D97-AF65-F5344CB8AC3E}">
        <p14:creationId xmlns:p14="http://schemas.microsoft.com/office/powerpoint/2010/main" val="22040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CEF40F-13FC-4805-93DE-5DF71CDF0FD9}" type="datetimeFigureOut">
              <a:rPr lang="zh-CN" altLang="en-US" smtClean="0"/>
              <a:t>2026/10/22</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C18B20-99F9-4866-84D4-802F7B8C14EF}" type="slidenum">
              <a:rPr lang="zh-CN" altLang="en-US" smtClean="0"/>
              <a:t>‹#›</a:t>
            </a:fld>
            <a:endParaRPr lang="zh-CN" altLang="en-US"/>
          </a:p>
        </p:txBody>
      </p:sp>
    </p:spTree>
    <p:extLst>
      <p:ext uri="{BB962C8B-B14F-4D97-AF65-F5344CB8AC3E}">
        <p14:creationId xmlns:p14="http://schemas.microsoft.com/office/powerpoint/2010/main" val="8298386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B5330B-EF32-4038-B982-97CD92F5F91D}"/>
              </a:ext>
            </a:extLst>
          </p:cNvPr>
          <p:cNvSpPr>
            <a:spLocks noGrp="1"/>
          </p:cNvSpPr>
          <p:nvPr>
            <p:ph type="ctrTitle"/>
          </p:nvPr>
        </p:nvSpPr>
        <p:spPr>
          <a:xfrm>
            <a:off x="581831" y="1481912"/>
            <a:ext cx="7980335" cy="1241822"/>
          </a:xfrm>
        </p:spPr>
        <p:txBody>
          <a:bodyPr>
            <a:normAutofit/>
          </a:bodyPr>
          <a:lstStyle/>
          <a:p>
            <a:r>
              <a:rPr lang="en-US" altLang="zh-CN" sz="3300" b="1" dirty="0">
                <a:solidFill>
                  <a:srgbClr val="C00000"/>
                </a:solidFill>
                <a:latin typeface="Calibri" panose="020F0502020204030204" pitchFamily="34" charset="0"/>
                <a:cs typeface="Calibri" panose="020F0502020204030204" pitchFamily="34" charset="0"/>
              </a:rPr>
              <a:t>Triangle Counting by Adaptively Resampling over Evolving Graph Streams</a:t>
            </a:r>
            <a:endParaRPr lang="zh-CN" altLang="en-US" sz="3300" b="1" dirty="0">
              <a:solidFill>
                <a:srgbClr val="C00000"/>
              </a:solidFill>
              <a:latin typeface="Calibri" panose="020F0502020204030204" pitchFamily="34" charset="0"/>
              <a:cs typeface="Calibri" panose="020F0502020204030204" pitchFamily="34" charset="0"/>
            </a:endParaRPr>
          </a:p>
        </p:txBody>
      </p:sp>
      <p:sp>
        <p:nvSpPr>
          <p:cNvPr id="3" name="副标题 2">
            <a:extLst>
              <a:ext uri="{FF2B5EF4-FFF2-40B4-BE49-F238E27FC236}">
                <a16:creationId xmlns:a16="http://schemas.microsoft.com/office/drawing/2014/main" id="{29A9CAE2-0E3E-433B-8AD3-AB17568C4E9D}"/>
              </a:ext>
            </a:extLst>
          </p:cNvPr>
          <p:cNvSpPr>
            <a:spLocks noGrp="1"/>
          </p:cNvSpPr>
          <p:nvPr>
            <p:ph type="subTitle" idx="1"/>
          </p:nvPr>
        </p:nvSpPr>
        <p:spPr>
          <a:xfrm>
            <a:off x="1142998" y="3065751"/>
            <a:ext cx="6858000" cy="1241822"/>
          </a:xfrm>
        </p:spPr>
        <p:txBody>
          <a:bodyPr/>
          <a:lstStyle/>
          <a:p>
            <a:r>
              <a:rPr lang="en-US" altLang="zh-CN" b="1" dirty="0">
                <a:solidFill>
                  <a:srgbClr val="0070C0"/>
                </a:solidFill>
                <a:latin typeface="Calibri" panose="020F0502020204030204" pitchFamily="34" charset="0"/>
                <a:cs typeface="Calibri" panose="020F0502020204030204" pitchFamily="34" charset="0"/>
              </a:rPr>
              <a:t>Wei Xuan</a:t>
            </a:r>
            <a:r>
              <a:rPr lang="en-US" altLang="zh-CN" dirty="0">
                <a:solidFill>
                  <a:srgbClr val="0070C0"/>
                </a:solidFill>
                <a:latin typeface="Calibri" panose="020F0502020204030204" pitchFamily="34" charset="0"/>
                <a:cs typeface="Calibri" panose="020F0502020204030204" pitchFamily="34" charset="0"/>
              </a:rPr>
              <a:t>, Huawei Cao, </a:t>
            </a:r>
            <a:r>
              <a:rPr lang="en-US" altLang="zh-CN" dirty="0" err="1">
                <a:solidFill>
                  <a:srgbClr val="0070C0"/>
                </a:solidFill>
                <a:latin typeface="Calibri" panose="020F0502020204030204" pitchFamily="34" charset="0"/>
                <a:cs typeface="Calibri" panose="020F0502020204030204" pitchFamily="34" charset="0"/>
              </a:rPr>
              <a:t>Mingyu</a:t>
            </a:r>
            <a:r>
              <a:rPr lang="en-US" altLang="zh-CN" dirty="0">
                <a:solidFill>
                  <a:srgbClr val="0070C0"/>
                </a:solidFill>
                <a:latin typeface="Calibri" panose="020F0502020204030204" pitchFamily="34" charset="0"/>
                <a:cs typeface="Calibri" panose="020F0502020204030204" pitchFamily="34" charset="0"/>
              </a:rPr>
              <a:t> Yan, </a:t>
            </a:r>
            <a:r>
              <a:rPr lang="en-US" altLang="zh-CN" dirty="0" err="1">
                <a:solidFill>
                  <a:srgbClr val="0070C0"/>
                </a:solidFill>
                <a:latin typeface="Calibri" panose="020F0502020204030204" pitchFamily="34" charset="0"/>
                <a:cs typeface="Calibri" panose="020F0502020204030204" pitchFamily="34" charset="0"/>
              </a:rPr>
              <a:t>Zhimin</a:t>
            </a:r>
            <a:r>
              <a:rPr lang="en-US" altLang="zh-CN" dirty="0">
                <a:solidFill>
                  <a:srgbClr val="0070C0"/>
                </a:solidFill>
                <a:latin typeface="Calibri" panose="020F0502020204030204" pitchFamily="34" charset="0"/>
                <a:cs typeface="Calibri" panose="020F0502020204030204" pitchFamily="34" charset="0"/>
              </a:rPr>
              <a:t> Tang, </a:t>
            </a:r>
          </a:p>
          <a:p>
            <a:r>
              <a:rPr lang="en-US" altLang="zh-CN" dirty="0" err="1">
                <a:solidFill>
                  <a:srgbClr val="0070C0"/>
                </a:solidFill>
                <a:latin typeface="Calibri" panose="020F0502020204030204" pitchFamily="34" charset="0"/>
                <a:cs typeface="Calibri" panose="020F0502020204030204" pitchFamily="34" charset="0"/>
              </a:rPr>
              <a:t>Xiaochun</a:t>
            </a:r>
            <a:r>
              <a:rPr lang="en-US" altLang="zh-CN" dirty="0">
                <a:solidFill>
                  <a:srgbClr val="0070C0"/>
                </a:solidFill>
                <a:latin typeface="Calibri" panose="020F0502020204030204" pitchFamily="34" charset="0"/>
                <a:cs typeface="Calibri" panose="020F0502020204030204" pitchFamily="34" charset="0"/>
              </a:rPr>
              <a:t> Ye and </a:t>
            </a:r>
            <a:r>
              <a:rPr lang="en-US" altLang="zh-CN" dirty="0" err="1">
                <a:solidFill>
                  <a:srgbClr val="0070C0"/>
                </a:solidFill>
                <a:latin typeface="Calibri" panose="020F0502020204030204" pitchFamily="34" charset="0"/>
                <a:cs typeface="Calibri" panose="020F0502020204030204" pitchFamily="34" charset="0"/>
              </a:rPr>
              <a:t>Dongrui</a:t>
            </a:r>
            <a:r>
              <a:rPr lang="en-US" altLang="zh-CN" dirty="0">
                <a:solidFill>
                  <a:srgbClr val="0070C0"/>
                </a:solidFill>
                <a:latin typeface="Calibri" panose="020F0502020204030204" pitchFamily="34" charset="0"/>
                <a:cs typeface="Calibri" panose="020F0502020204030204" pitchFamily="34" charset="0"/>
              </a:rPr>
              <a:t> Fan</a:t>
            </a:r>
            <a:endParaRPr lang="zh-CN" altLang="en-US" dirty="0">
              <a:solidFill>
                <a:srgbClr val="0070C0"/>
              </a:solidFill>
              <a:latin typeface="Calibri" panose="020F0502020204030204" pitchFamily="34" charset="0"/>
              <a:cs typeface="Calibri" panose="020F0502020204030204" pitchFamily="34" charset="0"/>
            </a:endParaRPr>
          </a:p>
        </p:txBody>
      </p:sp>
      <p:sp>
        <p:nvSpPr>
          <p:cNvPr id="4" name="矩形 3">
            <a:extLst>
              <a:ext uri="{FF2B5EF4-FFF2-40B4-BE49-F238E27FC236}">
                <a16:creationId xmlns:a16="http://schemas.microsoft.com/office/drawing/2014/main" id="{5B4738D2-6B1F-496F-8D1D-2F1237CC9813}"/>
              </a:ext>
            </a:extLst>
          </p:cNvPr>
          <p:cNvSpPr/>
          <p:nvPr/>
        </p:nvSpPr>
        <p:spPr>
          <a:xfrm>
            <a:off x="926431" y="4471225"/>
            <a:ext cx="7291137" cy="369332"/>
          </a:xfrm>
          <a:prstGeom prst="rect">
            <a:avLst/>
          </a:prstGeom>
        </p:spPr>
        <p:txBody>
          <a:bodyPr wrap="square">
            <a:spAutoFit/>
          </a:bodyPr>
          <a:lstStyle/>
          <a:p>
            <a:pPr algn="ctr"/>
            <a:r>
              <a:rPr lang="zh-CN" altLang="en-US" dirty="0">
                <a:latin typeface="Calibri" panose="020F0502020204030204" pitchFamily="34" charset="0"/>
                <a:cs typeface="Calibri" panose="020F0502020204030204" pitchFamily="34" charset="0"/>
              </a:rPr>
              <a:t>Institute of Computing Technology, Chinese Academy of Sciences, China</a:t>
            </a:r>
          </a:p>
        </p:txBody>
      </p:sp>
      <p:pic>
        <p:nvPicPr>
          <p:cNvPr id="6" name="图片 5">
            <a:extLst>
              <a:ext uri="{FF2B5EF4-FFF2-40B4-BE49-F238E27FC236}">
                <a16:creationId xmlns:a16="http://schemas.microsoft.com/office/drawing/2014/main" id="{CF8276D6-DCB1-4E70-80EF-121002A9FB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980" y="282752"/>
            <a:ext cx="2914286" cy="857143"/>
          </a:xfrm>
          <a:prstGeom prst="rect">
            <a:avLst/>
          </a:prstGeom>
        </p:spPr>
      </p:pic>
      <p:sp>
        <p:nvSpPr>
          <p:cNvPr id="8" name="矩形 7">
            <a:extLst>
              <a:ext uri="{FF2B5EF4-FFF2-40B4-BE49-F238E27FC236}">
                <a16:creationId xmlns:a16="http://schemas.microsoft.com/office/drawing/2014/main" id="{2A153A78-A3B5-4121-8A8C-76C5BF677966}"/>
              </a:ext>
            </a:extLst>
          </p:cNvPr>
          <p:cNvSpPr/>
          <p:nvPr/>
        </p:nvSpPr>
        <p:spPr>
          <a:xfrm>
            <a:off x="2935702" y="5376088"/>
            <a:ext cx="3272591" cy="707886"/>
          </a:xfrm>
          <a:prstGeom prst="rect">
            <a:avLst/>
          </a:prstGeom>
          <a:effectLst>
            <a:glow rad="228600">
              <a:schemeClr val="accent3">
                <a:satMod val="175000"/>
                <a:alpha val="40000"/>
              </a:schemeClr>
            </a:glow>
          </a:effectLst>
        </p:spPr>
        <p:txBody>
          <a:bodyPr wrap="square">
            <a:spAutoFit/>
          </a:bodyPr>
          <a:lstStyle/>
          <a:p>
            <a:pPr algn="ctr"/>
            <a:r>
              <a:rPr lang="zh-CN" altLang="en-US" sz="2000" dirty="0">
                <a:solidFill>
                  <a:srgbClr val="FF0000"/>
                </a:solidFill>
                <a:effectLst>
                  <a:glow rad="63500">
                    <a:schemeClr val="accent2">
                      <a:satMod val="175000"/>
                      <a:alpha val="40000"/>
                    </a:schemeClr>
                  </a:glow>
                </a:effectLst>
                <a:cs typeface="Calibri" panose="020F0502020204030204" pitchFamily="34" charset="0"/>
              </a:rPr>
              <a:t>SEKE 2021</a:t>
            </a:r>
          </a:p>
          <a:p>
            <a:pPr algn="ctr"/>
            <a:r>
              <a:rPr lang="zh-CN" altLang="en-US" sz="2000" dirty="0">
                <a:solidFill>
                  <a:srgbClr val="FF0000"/>
                </a:solidFill>
                <a:effectLst>
                  <a:glow rad="63500">
                    <a:schemeClr val="accent2">
                      <a:satMod val="175000"/>
                      <a:alpha val="40000"/>
                    </a:schemeClr>
                  </a:glow>
                </a:effectLst>
                <a:cs typeface="Calibri" panose="020F0502020204030204" pitchFamily="34" charset="0"/>
              </a:rPr>
              <a:t>July 1 - July 10, 2021</a:t>
            </a:r>
          </a:p>
        </p:txBody>
      </p:sp>
    </p:spTree>
    <p:extLst>
      <p:ext uri="{BB962C8B-B14F-4D97-AF65-F5344CB8AC3E}">
        <p14:creationId xmlns:p14="http://schemas.microsoft.com/office/powerpoint/2010/main" val="528350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F89B2E-AB24-4692-A76E-547E8F56448E}"/>
              </a:ext>
            </a:extLst>
          </p:cNvPr>
          <p:cNvSpPr>
            <a:spLocks noGrp="1"/>
          </p:cNvSpPr>
          <p:nvPr>
            <p:ph type="title"/>
          </p:nvPr>
        </p:nvSpPr>
        <p:spPr/>
        <p:txBody>
          <a:bodyPr/>
          <a:lstStyle/>
          <a:p>
            <a:r>
              <a:rPr lang="en-US" altLang="zh-CN" b="1" dirty="0">
                <a:latin typeface="Calibri" panose="020F0502020204030204" pitchFamily="34" charset="0"/>
                <a:cs typeface="Calibri" panose="020F0502020204030204" pitchFamily="34" charset="0"/>
              </a:rPr>
              <a:t>Outline</a:t>
            </a:r>
            <a:endParaRPr lang="zh-CN" altLang="en-US" b="1" dirty="0">
              <a:latin typeface="Calibri" panose="020F0502020204030204" pitchFamily="34" charset="0"/>
              <a:cs typeface="Calibri" panose="020F0502020204030204" pitchFamily="34" charset="0"/>
            </a:endParaRPr>
          </a:p>
        </p:txBody>
      </p:sp>
      <p:sp>
        <p:nvSpPr>
          <p:cNvPr id="3" name="内容占位符 2">
            <a:extLst>
              <a:ext uri="{FF2B5EF4-FFF2-40B4-BE49-F238E27FC236}">
                <a16:creationId xmlns:a16="http://schemas.microsoft.com/office/drawing/2014/main" id="{E21AA081-813E-4F2D-99E3-74BFCCE15626}"/>
              </a:ext>
            </a:extLst>
          </p:cNvPr>
          <p:cNvSpPr>
            <a:spLocks noGrp="1"/>
          </p:cNvSpPr>
          <p:nvPr>
            <p:ph idx="1"/>
          </p:nvPr>
        </p:nvSpPr>
        <p:spPr/>
        <p:txBody>
          <a:bodyPr/>
          <a:lstStyle/>
          <a:p>
            <a:r>
              <a:rPr lang="en-US" altLang="zh-CN" b="1" dirty="0">
                <a:latin typeface="Calibri" panose="020F0502020204030204" pitchFamily="34" charset="0"/>
                <a:cs typeface="Calibri" panose="020F0502020204030204" pitchFamily="34" charset="0"/>
              </a:rPr>
              <a:t>Introduction</a:t>
            </a:r>
          </a:p>
          <a:p>
            <a:r>
              <a:rPr lang="en-US" altLang="zh-CN" dirty="0">
                <a:latin typeface="Calibri" panose="020F0502020204030204" pitchFamily="34" charset="0"/>
                <a:cs typeface="Calibri" panose="020F0502020204030204" pitchFamily="34" charset="0"/>
              </a:rPr>
              <a:t>Related Work</a:t>
            </a:r>
          </a:p>
          <a:p>
            <a:r>
              <a:rPr lang="en-US" altLang="zh-CN" dirty="0">
                <a:latin typeface="Calibri" panose="020F0502020204030204" pitchFamily="34" charset="0"/>
                <a:cs typeface="Calibri" panose="020F0502020204030204" pitchFamily="34" charset="0"/>
              </a:rPr>
              <a:t>Proposed Method</a:t>
            </a:r>
          </a:p>
          <a:p>
            <a:r>
              <a:rPr lang="en-US" altLang="zh-CN" dirty="0">
                <a:latin typeface="Calibri" panose="020F0502020204030204" pitchFamily="34" charset="0"/>
                <a:cs typeface="Calibri" panose="020F0502020204030204" pitchFamily="34" charset="0"/>
              </a:rPr>
              <a:t>Experiments</a:t>
            </a:r>
          </a:p>
          <a:p>
            <a:r>
              <a:rPr lang="en-US" altLang="zh-CN" dirty="0">
                <a:latin typeface="Calibri" panose="020F0502020204030204" pitchFamily="34" charset="0"/>
                <a:cs typeface="Calibri" panose="020F0502020204030204" pitchFamily="34" charset="0"/>
              </a:rPr>
              <a:t>Conclusions</a:t>
            </a:r>
            <a:endParaRPr lang="zh-CN"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62238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F9A072-5AA7-485F-98A4-F32D577CC1A4}"/>
              </a:ext>
            </a:extLst>
          </p:cNvPr>
          <p:cNvSpPr>
            <a:spLocks noGrp="1"/>
          </p:cNvSpPr>
          <p:nvPr>
            <p:ph type="title"/>
          </p:nvPr>
        </p:nvSpPr>
        <p:spPr/>
        <p:txBody>
          <a:bodyPr>
            <a:normAutofit/>
          </a:bodyPr>
          <a:lstStyle/>
          <a:p>
            <a:r>
              <a:rPr lang="en-US" altLang="zh-CN" sz="4800" b="1" dirty="0">
                <a:solidFill>
                  <a:srgbClr val="1C20C8"/>
                </a:solidFill>
                <a:latin typeface="Calibri" panose="020F0502020204030204" pitchFamily="34" charset="0"/>
                <a:cs typeface="Calibri" panose="020F0502020204030204" pitchFamily="34" charset="0"/>
              </a:rPr>
              <a:t>Triangle Counting in a Graph</a:t>
            </a:r>
            <a:endParaRPr lang="zh-CN" altLang="en-US" sz="4800" b="1" dirty="0">
              <a:solidFill>
                <a:srgbClr val="1C20C8"/>
              </a:solidFill>
              <a:latin typeface="Calibri" panose="020F0502020204030204" pitchFamily="34" charset="0"/>
              <a:cs typeface="Calibri" panose="020F0502020204030204" pitchFamily="34" charset="0"/>
            </a:endParaRPr>
          </a:p>
        </p:txBody>
      </p:sp>
      <p:sp>
        <p:nvSpPr>
          <p:cNvPr id="3" name="内容占位符 2">
            <a:extLst>
              <a:ext uri="{FF2B5EF4-FFF2-40B4-BE49-F238E27FC236}">
                <a16:creationId xmlns:a16="http://schemas.microsoft.com/office/drawing/2014/main" id="{D1E72963-5153-466A-A793-419BCC315672}"/>
              </a:ext>
            </a:extLst>
          </p:cNvPr>
          <p:cNvSpPr>
            <a:spLocks noGrp="1"/>
          </p:cNvSpPr>
          <p:nvPr>
            <p:ph idx="1"/>
          </p:nvPr>
        </p:nvSpPr>
        <p:spPr/>
        <p:txBody>
          <a:bodyPr/>
          <a:lstStyle/>
          <a:p>
            <a:r>
              <a:rPr lang="en-US" altLang="zh-CN" dirty="0"/>
              <a:t>Graphs are ubiquitous</a:t>
            </a:r>
          </a:p>
          <a:p>
            <a:pPr lvl="1"/>
            <a:r>
              <a:rPr lang="en-US" altLang="zh-CN" dirty="0"/>
              <a:t>vertex: entity, edge: relation between entities</a:t>
            </a:r>
          </a:p>
          <a:p>
            <a:pPr lvl="1"/>
            <a:r>
              <a:rPr lang="en-US" altLang="zh-CN" dirty="0"/>
              <a:t>social networks</a:t>
            </a:r>
            <a:r>
              <a:rPr lang="zh-CN" altLang="en-US" dirty="0"/>
              <a:t>、</a:t>
            </a:r>
            <a:r>
              <a:rPr lang="en-US" altLang="zh-CN" dirty="0"/>
              <a:t>E-commerce networks</a:t>
            </a:r>
            <a:r>
              <a:rPr lang="zh-CN" altLang="en-US" dirty="0"/>
              <a:t>、</a:t>
            </a:r>
            <a:r>
              <a:rPr lang="en-US" altLang="zh-CN" dirty="0"/>
              <a:t>traffic networks</a:t>
            </a:r>
          </a:p>
          <a:p>
            <a:pPr marL="457200" lvl="1" indent="0">
              <a:buNone/>
            </a:pPr>
            <a:endParaRPr lang="en-US" altLang="zh-CN" dirty="0"/>
          </a:p>
          <a:p>
            <a:r>
              <a:rPr lang="en-US" altLang="zh-CN" dirty="0"/>
              <a:t>Triangle counting </a:t>
            </a:r>
          </a:p>
          <a:p>
            <a:pPr lvl="1"/>
            <a:r>
              <a:rPr lang="en-US" altLang="zh-CN" dirty="0"/>
              <a:t>Global triangles: 3-node connected to each other</a:t>
            </a:r>
          </a:p>
          <a:p>
            <a:pPr lvl="1"/>
            <a:r>
              <a:rPr lang="en-US" altLang="zh-CN" dirty="0"/>
              <a:t>Local triangles: triangles for each vertex</a:t>
            </a:r>
          </a:p>
          <a:p>
            <a:pPr lvl="1"/>
            <a:endParaRPr lang="en-US" altLang="zh-CN" dirty="0"/>
          </a:p>
          <a:p>
            <a:endParaRPr lang="en-US" altLang="zh-CN" dirty="0"/>
          </a:p>
          <a:p>
            <a:endParaRPr lang="en-US" altLang="zh-CN" dirty="0"/>
          </a:p>
          <a:p>
            <a:endParaRPr lang="zh-CN" altLang="en-US" dirty="0"/>
          </a:p>
        </p:txBody>
      </p:sp>
      <p:pic>
        <p:nvPicPr>
          <p:cNvPr id="4" name="Picture 2" descr="mage result for twitter">
            <a:extLst>
              <a:ext uri="{FF2B5EF4-FFF2-40B4-BE49-F238E27FC236}">
                <a16:creationId xmlns:a16="http://schemas.microsoft.com/office/drawing/2014/main" id="{B741F71B-1AD2-4C23-A6EC-A848B6F413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7054" y="3034295"/>
            <a:ext cx="1683657" cy="87690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earnings from China's walled-gardens of e-commerce">
            <a:extLst>
              <a:ext uri="{FF2B5EF4-FFF2-40B4-BE49-F238E27FC236}">
                <a16:creationId xmlns:a16="http://schemas.microsoft.com/office/drawing/2014/main" id="{D0980E72-BA06-42D2-8FFE-EE57482A00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5352" y="3021158"/>
            <a:ext cx="1286127" cy="87690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he devil is in the details: Differences in air traffic networks by scale,  species, and season - ScienceDirect">
            <a:extLst>
              <a:ext uri="{FF2B5EF4-FFF2-40B4-BE49-F238E27FC236}">
                <a16:creationId xmlns:a16="http://schemas.microsoft.com/office/drawing/2014/main" id="{A64E9C61-9F37-4AC1-937A-3BEDA59F32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45109" y="3021158"/>
            <a:ext cx="1705948" cy="930212"/>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7">
            <a:extLst>
              <a:ext uri="{FF2B5EF4-FFF2-40B4-BE49-F238E27FC236}">
                <a16:creationId xmlns:a16="http://schemas.microsoft.com/office/drawing/2014/main" id="{A704A187-272E-4988-B919-A548D2D1EAAD}"/>
              </a:ext>
            </a:extLst>
          </p:cNvPr>
          <p:cNvPicPr>
            <a:picLocks noChangeAspect="1"/>
          </p:cNvPicPr>
          <p:nvPr/>
        </p:nvPicPr>
        <p:blipFill>
          <a:blip r:embed="rId6"/>
          <a:stretch>
            <a:fillRect/>
          </a:stretch>
        </p:blipFill>
        <p:spPr>
          <a:xfrm>
            <a:off x="3181112" y="5027885"/>
            <a:ext cx="2781775" cy="1830115"/>
          </a:xfrm>
          <a:prstGeom prst="rect">
            <a:avLst/>
          </a:prstGeom>
        </p:spPr>
      </p:pic>
    </p:spTree>
    <p:extLst>
      <p:ext uri="{BB962C8B-B14F-4D97-AF65-F5344CB8AC3E}">
        <p14:creationId xmlns:p14="http://schemas.microsoft.com/office/powerpoint/2010/main" val="879950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F9A072-5AA7-485F-98A4-F32D577CC1A4}"/>
              </a:ext>
            </a:extLst>
          </p:cNvPr>
          <p:cNvSpPr>
            <a:spLocks noGrp="1"/>
          </p:cNvSpPr>
          <p:nvPr>
            <p:ph type="title"/>
          </p:nvPr>
        </p:nvSpPr>
        <p:spPr/>
        <p:txBody>
          <a:bodyPr>
            <a:normAutofit fontScale="90000"/>
          </a:bodyPr>
          <a:lstStyle/>
          <a:p>
            <a:r>
              <a:rPr lang="en-US" altLang="zh-CN" sz="4800" b="1" dirty="0">
                <a:solidFill>
                  <a:srgbClr val="1C20C8"/>
                </a:solidFill>
                <a:latin typeface="Calibri" panose="020F0502020204030204" pitchFamily="34" charset="0"/>
                <a:cs typeface="Calibri" panose="020F0502020204030204" pitchFamily="34" charset="0"/>
              </a:rPr>
              <a:t>Applications of Triangle Counting</a:t>
            </a:r>
            <a:endParaRPr lang="zh-CN" altLang="en-US" sz="4800" b="1" dirty="0">
              <a:solidFill>
                <a:srgbClr val="1C20C8"/>
              </a:solidFill>
              <a:latin typeface="Calibri" panose="020F0502020204030204" pitchFamily="34" charset="0"/>
              <a:cs typeface="Calibri" panose="020F0502020204030204" pitchFamily="34" charset="0"/>
            </a:endParaRPr>
          </a:p>
        </p:txBody>
      </p:sp>
      <p:pic>
        <p:nvPicPr>
          <p:cNvPr id="7" name="图片 6">
            <a:extLst>
              <a:ext uri="{FF2B5EF4-FFF2-40B4-BE49-F238E27FC236}">
                <a16:creationId xmlns:a16="http://schemas.microsoft.com/office/drawing/2014/main" id="{E6E4333F-50A6-4C54-A3CF-02CE7BC209C2}"/>
              </a:ext>
            </a:extLst>
          </p:cNvPr>
          <p:cNvPicPr>
            <a:picLocks noChangeAspect="1"/>
          </p:cNvPicPr>
          <p:nvPr/>
        </p:nvPicPr>
        <p:blipFill>
          <a:blip r:embed="rId3"/>
          <a:stretch>
            <a:fillRect/>
          </a:stretch>
        </p:blipFill>
        <p:spPr>
          <a:xfrm>
            <a:off x="488595" y="2018048"/>
            <a:ext cx="2629182" cy="1745813"/>
          </a:xfrm>
          <a:prstGeom prst="rect">
            <a:avLst/>
          </a:prstGeom>
          <a:noFill/>
          <a:ln w="9525">
            <a:solidFill>
              <a:srgbClr val="000000"/>
            </a:solidFill>
            <a:miter lim="800000"/>
            <a:headEnd/>
            <a:tailEnd/>
          </a:ln>
        </p:spPr>
      </p:pic>
      <p:sp>
        <p:nvSpPr>
          <p:cNvPr id="8" name="矩形 7">
            <a:extLst>
              <a:ext uri="{FF2B5EF4-FFF2-40B4-BE49-F238E27FC236}">
                <a16:creationId xmlns:a16="http://schemas.microsoft.com/office/drawing/2014/main" id="{7C751F5A-589A-44B0-B22A-A658AF5E923B}"/>
              </a:ext>
            </a:extLst>
          </p:cNvPr>
          <p:cNvSpPr/>
          <p:nvPr/>
        </p:nvSpPr>
        <p:spPr>
          <a:xfrm>
            <a:off x="488595" y="3394529"/>
            <a:ext cx="2636046" cy="369332"/>
          </a:xfrm>
          <a:prstGeom prst="rect">
            <a:avLst/>
          </a:prstGeom>
          <a:solidFill>
            <a:schemeClr val="bg1">
              <a:lumMod val="85000"/>
            </a:schemeClr>
          </a:solidFill>
          <a:ln>
            <a:solidFill>
              <a:schemeClr val="accent6">
                <a:lumMod val="60000"/>
                <a:lumOff val="40000"/>
              </a:schemeClr>
            </a:solidFill>
          </a:ln>
        </p:spPr>
        <p:txBody>
          <a:bodyPr wrap="square">
            <a:spAutoFit/>
          </a:bodyPr>
          <a:lstStyle/>
          <a:p>
            <a:pPr algn="ctr"/>
            <a:r>
              <a:rPr lang="en-US" altLang="zh-CN" b="1" dirty="0"/>
              <a:t>Financial Fraud Detection</a:t>
            </a:r>
            <a:endParaRPr lang="zh-CN" altLang="en-US" b="1" dirty="0"/>
          </a:p>
        </p:txBody>
      </p:sp>
      <p:pic>
        <p:nvPicPr>
          <p:cNvPr id="9" name="图片 8">
            <a:extLst>
              <a:ext uri="{FF2B5EF4-FFF2-40B4-BE49-F238E27FC236}">
                <a16:creationId xmlns:a16="http://schemas.microsoft.com/office/drawing/2014/main" id="{B7449361-2CE9-495D-B520-7D44C709F36F}"/>
              </a:ext>
            </a:extLst>
          </p:cNvPr>
          <p:cNvPicPr>
            <a:picLocks noChangeAspect="1"/>
          </p:cNvPicPr>
          <p:nvPr/>
        </p:nvPicPr>
        <p:blipFill>
          <a:blip r:embed="rId4"/>
          <a:stretch>
            <a:fillRect/>
          </a:stretch>
        </p:blipFill>
        <p:spPr>
          <a:xfrm>
            <a:off x="3268323" y="2018048"/>
            <a:ext cx="2607353" cy="1722838"/>
          </a:xfrm>
          <a:prstGeom prst="rect">
            <a:avLst/>
          </a:prstGeom>
          <a:ln>
            <a:solidFill>
              <a:schemeClr val="tx1"/>
            </a:solidFill>
          </a:ln>
        </p:spPr>
      </p:pic>
      <p:sp>
        <p:nvSpPr>
          <p:cNvPr id="10" name="矩形 9">
            <a:extLst>
              <a:ext uri="{FF2B5EF4-FFF2-40B4-BE49-F238E27FC236}">
                <a16:creationId xmlns:a16="http://schemas.microsoft.com/office/drawing/2014/main" id="{E7EC0167-8ACA-41B0-8F55-CE6F85B56745}"/>
              </a:ext>
            </a:extLst>
          </p:cNvPr>
          <p:cNvSpPr/>
          <p:nvPr/>
        </p:nvSpPr>
        <p:spPr>
          <a:xfrm>
            <a:off x="3261459" y="3371554"/>
            <a:ext cx="2615217" cy="369332"/>
          </a:xfrm>
          <a:prstGeom prst="rect">
            <a:avLst/>
          </a:prstGeom>
          <a:solidFill>
            <a:schemeClr val="bg1">
              <a:lumMod val="85000"/>
            </a:schemeClr>
          </a:solidFill>
          <a:ln>
            <a:solidFill>
              <a:schemeClr val="accent6">
                <a:lumMod val="60000"/>
                <a:lumOff val="40000"/>
              </a:schemeClr>
            </a:solidFill>
          </a:ln>
        </p:spPr>
        <p:txBody>
          <a:bodyPr wrap="square">
            <a:spAutoFit/>
          </a:bodyPr>
          <a:lstStyle/>
          <a:p>
            <a:pPr algn="ctr"/>
            <a:r>
              <a:rPr lang="en-US" altLang="zh-CN" b="1" dirty="0"/>
              <a:t>Community Discovery</a:t>
            </a:r>
            <a:endParaRPr lang="zh-CN" altLang="en-US" b="1" dirty="0"/>
          </a:p>
        </p:txBody>
      </p:sp>
      <p:pic>
        <p:nvPicPr>
          <p:cNvPr id="11" name="图片 10">
            <a:extLst>
              <a:ext uri="{FF2B5EF4-FFF2-40B4-BE49-F238E27FC236}">
                <a16:creationId xmlns:a16="http://schemas.microsoft.com/office/drawing/2014/main" id="{9AD6485A-2115-4FC6-8F38-47A46AB29D31}"/>
              </a:ext>
            </a:extLst>
          </p:cNvPr>
          <p:cNvPicPr>
            <a:picLocks noChangeAspect="1"/>
          </p:cNvPicPr>
          <p:nvPr/>
        </p:nvPicPr>
        <p:blipFill>
          <a:blip r:embed="rId5"/>
          <a:stretch>
            <a:fillRect/>
          </a:stretch>
        </p:blipFill>
        <p:spPr>
          <a:xfrm>
            <a:off x="6028141" y="2012694"/>
            <a:ext cx="2617814" cy="1728192"/>
          </a:xfrm>
          <a:prstGeom prst="rect">
            <a:avLst/>
          </a:prstGeom>
          <a:ln>
            <a:solidFill>
              <a:schemeClr val="tx1"/>
            </a:solidFill>
          </a:ln>
        </p:spPr>
      </p:pic>
      <p:sp>
        <p:nvSpPr>
          <p:cNvPr id="12" name="矩形 11">
            <a:extLst>
              <a:ext uri="{FF2B5EF4-FFF2-40B4-BE49-F238E27FC236}">
                <a16:creationId xmlns:a16="http://schemas.microsoft.com/office/drawing/2014/main" id="{0A0AED77-4738-43B6-B37E-E09856004AF0}"/>
              </a:ext>
            </a:extLst>
          </p:cNvPr>
          <p:cNvSpPr/>
          <p:nvPr/>
        </p:nvSpPr>
        <p:spPr>
          <a:xfrm>
            <a:off x="6027222" y="3368108"/>
            <a:ext cx="2626678" cy="369332"/>
          </a:xfrm>
          <a:prstGeom prst="rect">
            <a:avLst/>
          </a:prstGeom>
          <a:solidFill>
            <a:schemeClr val="bg1">
              <a:lumMod val="85000"/>
            </a:schemeClr>
          </a:solidFill>
          <a:ln>
            <a:solidFill>
              <a:schemeClr val="accent6">
                <a:lumMod val="60000"/>
                <a:lumOff val="40000"/>
              </a:schemeClr>
            </a:solidFill>
          </a:ln>
        </p:spPr>
        <p:txBody>
          <a:bodyPr wrap="square">
            <a:spAutoFit/>
          </a:bodyPr>
          <a:lstStyle/>
          <a:p>
            <a:pPr algn="ctr"/>
            <a:r>
              <a:rPr lang="en-US" altLang="zh-CN" b="1" dirty="0"/>
              <a:t>Recommended System</a:t>
            </a:r>
            <a:endParaRPr lang="zh-CN" altLang="en-US" b="1" dirty="0"/>
          </a:p>
        </p:txBody>
      </p:sp>
      <p:pic>
        <p:nvPicPr>
          <p:cNvPr id="13" name="图片 12">
            <a:extLst>
              <a:ext uri="{FF2B5EF4-FFF2-40B4-BE49-F238E27FC236}">
                <a16:creationId xmlns:a16="http://schemas.microsoft.com/office/drawing/2014/main" id="{62EA6AEF-34FF-4BA7-A33A-FBB924E0B966}"/>
              </a:ext>
            </a:extLst>
          </p:cNvPr>
          <p:cNvPicPr>
            <a:picLocks noChangeAspect="1"/>
          </p:cNvPicPr>
          <p:nvPr/>
        </p:nvPicPr>
        <p:blipFill>
          <a:blip r:embed="rId6"/>
          <a:stretch>
            <a:fillRect/>
          </a:stretch>
        </p:blipFill>
        <p:spPr>
          <a:xfrm>
            <a:off x="488595" y="4091220"/>
            <a:ext cx="2636046" cy="1738466"/>
          </a:xfrm>
          <a:prstGeom prst="rect">
            <a:avLst/>
          </a:prstGeom>
          <a:ln>
            <a:solidFill>
              <a:schemeClr val="tx1"/>
            </a:solidFill>
          </a:ln>
        </p:spPr>
      </p:pic>
      <p:sp>
        <p:nvSpPr>
          <p:cNvPr id="14" name="矩形 13">
            <a:extLst>
              <a:ext uri="{FF2B5EF4-FFF2-40B4-BE49-F238E27FC236}">
                <a16:creationId xmlns:a16="http://schemas.microsoft.com/office/drawing/2014/main" id="{108F5F06-EFA8-4440-AD35-F1E4FA07552C}"/>
              </a:ext>
            </a:extLst>
          </p:cNvPr>
          <p:cNvSpPr/>
          <p:nvPr/>
        </p:nvSpPr>
        <p:spPr>
          <a:xfrm>
            <a:off x="482243" y="5465265"/>
            <a:ext cx="2642398" cy="369332"/>
          </a:xfrm>
          <a:prstGeom prst="rect">
            <a:avLst/>
          </a:prstGeom>
          <a:solidFill>
            <a:schemeClr val="bg1">
              <a:lumMod val="85000"/>
            </a:schemeClr>
          </a:solidFill>
          <a:ln>
            <a:solidFill>
              <a:schemeClr val="accent6">
                <a:lumMod val="60000"/>
                <a:lumOff val="40000"/>
              </a:schemeClr>
            </a:solidFill>
          </a:ln>
        </p:spPr>
        <p:txBody>
          <a:bodyPr wrap="square">
            <a:spAutoFit/>
          </a:bodyPr>
          <a:lstStyle/>
          <a:p>
            <a:pPr algn="ctr"/>
            <a:r>
              <a:rPr lang="en-US" altLang="zh-CN" b="1" dirty="0"/>
              <a:t>Social Network Analysis</a:t>
            </a:r>
            <a:endParaRPr lang="zh-CN" altLang="en-US" b="1" dirty="0"/>
          </a:p>
        </p:txBody>
      </p:sp>
      <p:pic>
        <p:nvPicPr>
          <p:cNvPr id="15" name="图片 14">
            <a:extLst>
              <a:ext uri="{FF2B5EF4-FFF2-40B4-BE49-F238E27FC236}">
                <a16:creationId xmlns:a16="http://schemas.microsoft.com/office/drawing/2014/main" id="{052C2E35-32CF-4AB1-B0D1-9F24680B1232}"/>
              </a:ext>
            </a:extLst>
          </p:cNvPr>
          <p:cNvPicPr>
            <a:picLocks noChangeAspect="1"/>
          </p:cNvPicPr>
          <p:nvPr/>
        </p:nvPicPr>
        <p:blipFill>
          <a:blip r:embed="rId7"/>
          <a:stretch>
            <a:fillRect/>
          </a:stretch>
        </p:blipFill>
        <p:spPr>
          <a:xfrm>
            <a:off x="3274201" y="4091225"/>
            <a:ext cx="2617814" cy="1738461"/>
          </a:xfrm>
          <a:prstGeom prst="rect">
            <a:avLst/>
          </a:prstGeom>
          <a:ln>
            <a:solidFill>
              <a:schemeClr val="tx1"/>
            </a:solidFill>
          </a:ln>
        </p:spPr>
      </p:pic>
      <p:sp>
        <p:nvSpPr>
          <p:cNvPr id="16" name="矩形 15">
            <a:extLst>
              <a:ext uri="{FF2B5EF4-FFF2-40B4-BE49-F238E27FC236}">
                <a16:creationId xmlns:a16="http://schemas.microsoft.com/office/drawing/2014/main" id="{DFF0326B-E292-44E0-8443-D16DE458FEC3}"/>
              </a:ext>
            </a:extLst>
          </p:cNvPr>
          <p:cNvSpPr/>
          <p:nvPr/>
        </p:nvSpPr>
        <p:spPr>
          <a:xfrm>
            <a:off x="3268323" y="5459163"/>
            <a:ext cx="2632504" cy="369332"/>
          </a:xfrm>
          <a:prstGeom prst="rect">
            <a:avLst/>
          </a:prstGeom>
          <a:solidFill>
            <a:schemeClr val="bg1">
              <a:lumMod val="85000"/>
            </a:schemeClr>
          </a:solidFill>
          <a:ln>
            <a:solidFill>
              <a:schemeClr val="accent6">
                <a:lumMod val="60000"/>
                <a:lumOff val="40000"/>
              </a:schemeClr>
            </a:solidFill>
          </a:ln>
        </p:spPr>
        <p:txBody>
          <a:bodyPr wrap="square">
            <a:spAutoFit/>
          </a:bodyPr>
          <a:lstStyle/>
          <a:p>
            <a:pPr algn="ctr"/>
            <a:r>
              <a:rPr lang="en-US" altLang="zh-CN" b="1" dirty="0"/>
              <a:t>Traffic Network</a:t>
            </a:r>
            <a:endParaRPr lang="zh-CN" altLang="en-US" b="1" dirty="0"/>
          </a:p>
        </p:txBody>
      </p:sp>
      <p:pic>
        <p:nvPicPr>
          <p:cNvPr id="17" name="Picture 12" descr="Image result for spam email">
            <a:extLst>
              <a:ext uri="{FF2B5EF4-FFF2-40B4-BE49-F238E27FC236}">
                <a16:creationId xmlns:a16="http://schemas.microsoft.com/office/drawing/2014/main" id="{59ED6797-2487-48CE-A883-5881B0D85932}"/>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059198" y="4091220"/>
            <a:ext cx="2627708" cy="173352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8" name="矩形 17">
            <a:extLst>
              <a:ext uri="{FF2B5EF4-FFF2-40B4-BE49-F238E27FC236}">
                <a16:creationId xmlns:a16="http://schemas.microsoft.com/office/drawing/2014/main" id="{E5BE4894-9CD4-4474-9F28-8E5485196A7B}"/>
              </a:ext>
            </a:extLst>
          </p:cNvPr>
          <p:cNvSpPr/>
          <p:nvPr/>
        </p:nvSpPr>
        <p:spPr>
          <a:xfrm>
            <a:off x="6050387" y="5446216"/>
            <a:ext cx="2645330" cy="369332"/>
          </a:xfrm>
          <a:prstGeom prst="rect">
            <a:avLst/>
          </a:prstGeom>
          <a:solidFill>
            <a:schemeClr val="bg1">
              <a:lumMod val="85000"/>
            </a:schemeClr>
          </a:solidFill>
          <a:ln>
            <a:solidFill>
              <a:schemeClr val="accent6">
                <a:lumMod val="60000"/>
                <a:lumOff val="40000"/>
              </a:schemeClr>
            </a:solidFill>
          </a:ln>
        </p:spPr>
        <p:txBody>
          <a:bodyPr wrap="square">
            <a:spAutoFit/>
          </a:bodyPr>
          <a:lstStyle/>
          <a:p>
            <a:pPr algn="ctr"/>
            <a:r>
              <a:rPr lang="en-US" altLang="zh-CN" b="1" dirty="0"/>
              <a:t>Spam Detection</a:t>
            </a:r>
            <a:endParaRPr lang="zh-CN" altLang="en-US" b="1" dirty="0"/>
          </a:p>
        </p:txBody>
      </p:sp>
    </p:spTree>
    <p:extLst>
      <p:ext uri="{BB962C8B-B14F-4D97-AF65-F5344CB8AC3E}">
        <p14:creationId xmlns:p14="http://schemas.microsoft.com/office/powerpoint/2010/main" val="612881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F9A072-5AA7-485F-98A4-F32D577CC1A4}"/>
              </a:ext>
            </a:extLst>
          </p:cNvPr>
          <p:cNvSpPr>
            <a:spLocks noGrp="1"/>
          </p:cNvSpPr>
          <p:nvPr>
            <p:ph type="title"/>
          </p:nvPr>
        </p:nvSpPr>
        <p:spPr/>
        <p:txBody>
          <a:bodyPr/>
          <a:lstStyle/>
          <a:p>
            <a:r>
              <a:rPr lang="en-US" altLang="zh-CN" sz="4800" b="1" dirty="0">
                <a:solidFill>
                  <a:srgbClr val="1C20C8"/>
                </a:solidFill>
                <a:latin typeface="Calibri" panose="020F0502020204030204" pitchFamily="34" charset="0"/>
                <a:cs typeface="Calibri" panose="020F0502020204030204" pitchFamily="34" charset="0"/>
              </a:rPr>
              <a:t>Evolving Graph Streams</a:t>
            </a:r>
            <a:endParaRPr lang="zh-CN" altLang="en-US" sz="4800" b="1" dirty="0">
              <a:solidFill>
                <a:srgbClr val="1C20C8"/>
              </a:solidFill>
              <a:latin typeface="Calibri" panose="020F0502020204030204" pitchFamily="34" charset="0"/>
              <a:cs typeface="Calibri" panose="020F0502020204030204" pitchFamily="34" charset="0"/>
            </a:endParaRPr>
          </a:p>
        </p:txBody>
      </p:sp>
      <p:sp>
        <p:nvSpPr>
          <p:cNvPr id="3" name="内容占位符 2">
            <a:extLst>
              <a:ext uri="{FF2B5EF4-FFF2-40B4-BE49-F238E27FC236}">
                <a16:creationId xmlns:a16="http://schemas.microsoft.com/office/drawing/2014/main" id="{D1E72963-5153-466A-A793-419BCC315672}"/>
              </a:ext>
            </a:extLst>
          </p:cNvPr>
          <p:cNvSpPr>
            <a:spLocks noGrp="1"/>
          </p:cNvSpPr>
          <p:nvPr>
            <p:ph idx="1"/>
          </p:nvPr>
        </p:nvSpPr>
        <p:spPr>
          <a:xfrm>
            <a:off x="628650" y="1690689"/>
            <a:ext cx="7886700" cy="4351338"/>
          </a:xfrm>
        </p:spPr>
        <p:txBody>
          <a:bodyPr/>
          <a:lstStyle/>
          <a:p>
            <a:r>
              <a:rPr lang="en-US" altLang="zh-CN" dirty="0"/>
              <a:t>Real-world graphs are dynamic</a:t>
            </a:r>
          </a:p>
          <a:p>
            <a:pPr lvl="1"/>
            <a:r>
              <a:rPr lang="en-US" altLang="zh-CN" dirty="0"/>
              <a:t>Stream of edges</a:t>
            </a:r>
          </a:p>
          <a:p>
            <a:pPr lvl="1"/>
            <a:r>
              <a:rPr lang="en-US" altLang="zh-CN" dirty="0"/>
              <a:t>Adversarial order</a:t>
            </a:r>
          </a:p>
          <a:p>
            <a:endParaRPr lang="en-US" altLang="zh-CN" dirty="0"/>
          </a:p>
          <a:p>
            <a:endParaRPr lang="en-US" altLang="zh-CN" dirty="0"/>
          </a:p>
          <a:p>
            <a:endParaRPr lang="en-US" altLang="zh-CN" dirty="0"/>
          </a:p>
        </p:txBody>
      </p:sp>
      <p:pic>
        <p:nvPicPr>
          <p:cNvPr id="4" name="图片 3">
            <a:extLst>
              <a:ext uri="{FF2B5EF4-FFF2-40B4-BE49-F238E27FC236}">
                <a16:creationId xmlns:a16="http://schemas.microsoft.com/office/drawing/2014/main" id="{07473C2B-DFF3-4D70-AC8A-24FB4BDAFE77}"/>
              </a:ext>
            </a:extLst>
          </p:cNvPr>
          <p:cNvPicPr>
            <a:picLocks noChangeAspect="1"/>
          </p:cNvPicPr>
          <p:nvPr/>
        </p:nvPicPr>
        <p:blipFill>
          <a:blip r:embed="rId3"/>
          <a:stretch>
            <a:fillRect/>
          </a:stretch>
        </p:blipFill>
        <p:spPr>
          <a:xfrm>
            <a:off x="6106141" y="3426983"/>
            <a:ext cx="2148415" cy="1496068"/>
          </a:xfrm>
          <a:prstGeom prst="rect">
            <a:avLst/>
          </a:prstGeom>
        </p:spPr>
      </p:pic>
      <p:pic>
        <p:nvPicPr>
          <p:cNvPr id="8" name="图片 7">
            <a:extLst>
              <a:ext uri="{FF2B5EF4-FFF2-40B4-BE49-F238E27FC236}">
                <a16:creationId xmlns:a16="http://schemas.microsoft.com/office/drawing/2014/main" id="{DC599FAC-6497-409C-BE0E-EA10FBE76FC3}"/>
              </a:ext>
            </a:extLst>
          </p:cNvPr>
          <p:cNvPicPr>
            <a:picLocks noChangeAspect="1"/>
          </p:cNvPicPr>
          <p:nvPr/>
        </p:nvPicPr>
        <p:blipFill>
          <a:blip r:embed="rId4"/>
          <a:stretch>
            <a:fillRect/>
          </a:stretch>
        </p:blipFill>
        <p:spPr>
          <a:xfrm>
            <a:off x="811656" y="3429000"/>
            <a:ext cx="2296081" cy="1445054"/>
          </a:xfrm>
          <a:prstGeom prst="rect">
            <a:avLst/>
          </a:prstGeom>
        </p:spPr>
      </p:pic>
      <p:pic>
        <p:nvPicPr>
          <p:cNvPr id="10" name="图片 9">
            <a:extLst>
              <a:ext uri="{FF2B5EF4-FFF2-40B4-BE49-F238E27FC236}">
                <a16:creationId xmlns:a16="http://schemas.microsoft.com/office/drawing/2014/main" id="{8BCF5BA5-8EE2-43E7-91D1-35C7E900764B}"/>
              </a:ext>
            </a:extLst>
          </p:cNvPr>
          <p:cNvPicPr>
            <a:picLocks noChangeAspect="1"/>
          </p:cNvPicPr>
          <p:nvPr/>
        </p:nvPicPr>
        <p:blipFill>
          <a:blip r:embed="rId5"/>
          <a:stretch>
            <a:fillRect/>
          </a:stretch>
        </p:blipFill>
        <p:spPr>
          <a:xfrm>
            <a:off x="3359210" y="3426983"/>
            <a:ext cx="2393890" cy="1445054"/>
          </a:xfrm>
          <a:prstGeom prst="rect">
            <a:avLst/>
          </a:prstGeom>
        </p:spPr>
      </p:pic>
      <p:pic>
        <p:nvPicPr>
          <p:cNvPr id="13" name="图片 12">
            <a:extLst>
              <a:ext uri="{FF2B5EF4-FFF2-40B4-BE49-F238E27FC236}">
                <a16:creationId xmlns:a16="http://schemas.microsoft.com/office/drawing/2014/main" id="{45DC4D97-7E07-480A-A6ED-A7C4F2191F5C}"/>
              </a:ext>
            </a:extLst>
          </p:cNvPr>
          <p:cNvPicPr>
            <a:picLocks noChangeAspect="1"/>
          </p:cNvPicPr>
          <p:nvPr/>
        </p:nvPicPr>
        <p:blipFill>
          <a:blip r:embed="rId6"/>
          <a:stretch>
            <a:fillRect/>
          </a:stretch>
        </p:blipFill>
        <p:spPr>
          <a:xfrm>
            <a:off x="751969" y="5125282"/>
            <a:ext cx="2415454" cy="1381125"/>
          </a:xfrm>
          <a:prstGeom prst="rect">
            <a:avLst/>
          </a:prstGeom>
        </p:spPr>
      </p:pic>
      <p:pic>
        <p:nvPicPr>
          <p:cNvPr id="14" name="图片 13">
            <a:extLst>
              <a:ext uri="{FF2B5EF4-FFF2-40B4-BE49-F238E27FC236}">
                <a16:creationId xmlns:a16="http://schemas.microsoft.com/office/drawing/2014/main" id="{79B93159-B9A1-430F-B1D5-CD9DC8B1BDB4}"/>
              </a:ext>
            </a:extLst>
          </p:cNvPr>
          <p:cNvPicPr>
            <a:picLocks noChangeAspect="1"/>
          </p:cNvPicPr>
          <p:nvPr/>
        </p:nvPicPr>
        <p:blipFill>
          <a:blip r:embed="rId7"/>
          <a:stretch>
            <a:fillRect/>
          </a:stretch>
        </p:blipFill>
        <p:spPr>
          <a:xfrm>
            <a:off x="3458898" y="4968119"/>
            <a:ext cx="2226203" cy="1695450"/>
          </a:xfrm>
          <a:prstGeom prst="rect">
            <a:avLst/>
          </a:prstGeom>
        </p:spPr>
      </p:pic>
      <p:pic>
        <p:nvPicPr>
          <p:cNvPr id="15" name="图片 14">
            <a:extLst>
              <a:ext uri="{FF2B5EF4-FFF2-40B4-BE49-F238E27FC236}">
                <a16:creationId xmlns:a16="http://schemas.microsoft.com/office/drawing/2014/main" id="{2752528D-29BB-4177-AB26-47C125D38B7B}"/>
              </a:ext>
            </a:extLst>
          </p:cNvPr>
          <p:cNvPicPr>
            <a:picLocks noChangeAspect="1"/>
          </p:cNvPicPr>
          <p:nvPr/>
        </p:nvPicPr>
        <p:blipFill>
          <a:blip r:embed="rId8"/>
          <a:stretch>
            <a:fillRect/>
          </a:stretch>
        </p:blipFill>
        <p:spPr>
          <a:xfrm>
            <a:off x="6214354" y="5125282"/>
            <a:ext cx="2009775" cy="1447800"/>
          </a:xfrm>
          <a:prstGeom prst="rect">
            <a:avLst/>
          </a:prstGeom>
        </p:spPr>
      </p:pic>
    </p:spTree>
    <p:extLst>
      <p:ext uri="{BB962C8B-B14F-4D97-AF65-F5344CB8AC3E}">
        <p14:creationId xmlns:p14="http://schemas.microsoft.com/office/powerpoint/2010/main" val="559594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F9A072-5AA7-485F-98A4-F32D577CC1A4}"/>
              </a:ext>
            </a:extLst>
          </p:cNvPr>
          <p:cNvSpPr>
            <a:spLocks noGrp="1"/>
          </p:cNvSpPr>
          <p:nvPr>
            <p:ph type="title"/>
          </p:nvPr>
        </p:nvSpPr>
        <p:spPr/>
        <p:txBody>
          <a:bodyPr>
            <a:normAutofit fontScale="90000"/>
          </a:bodyPr>
          <a:lstStyle/>
          <a:p>
            <a:r>
              <a:rPr lang="en-US" altLang="zh-CN" sz="4800" b="1" dirty="0">
                <a:solidFill>
                  <a:srgbClr val="1C20C8"/>
                </a:solidFill>
                <a:latin typeface="Calibri" panose="020F0502020204030204" pitchFamily="34" charset="0"/>
                <a:cs typeface="Calibri" panose="020F0502020204030204" pitchFamily="34" charset="0"/>
              </a:rPr>
              <a:t>Challenges in Streaming Graphs</a:t>
            </a:r>
            <a:endParaRPr lang="zh-CN" altLang="en-US" sz="4800" b="1" dirty="0">
              <a:solidFill>
                <a:srgbClr val="1C20C8"/>
              </a:solidFill>
              <a:latin typeface="Calibri" panose="020F0502020204030204" pitchFamily="34" charset="0"/>
              <a:cs typeface="Calibri" panose="020F0502020204030204" pitchFamily="34" charset="0"/>
            </a:endParaRPr>
          </a:p>
        </p:txBody>
      </p:sp>
      <p:sp>
        <p:nvSpPr>
          <p:cNvPr id="3" name="内容占位符 2">
            <a:extLst>
              <a:ext uri="{FF2B5EF4-FFF2-40B4-BE49-F238E27FC236}">
                <a16:creationId xmlns:a16="http://schemas.microsoft.com/office/drawing/2014/main" id="{D1E72963-5153-466A-A793-419BCC315672}"/>
              </a:ext>
            </a:extLst>
          </p:cNvPr>
          <p:cNvSpPr>
            <a:spLocks noGrp="1"/>
          </p:cNvSpPr>
          <p:nvPr>
            <p:ph idx="1"/>
          </p:nvPr>
        </p:nvSpPr>
        <p:spPr/>
        <p:txBody>
          <a:bodyPr/>
          <a:lstStyle/>
          <a:p>
            <a:r>
              <a:rPr lang="en-US" altLang="zh-CN" dirty="0"/>
              <a:t>Massive real-world graphs</a:t>
            </a:r>
          </a:p>
          <a:p>
            <a:endParaRPr lang="en-US" altLang="zh-CN" dirty="0"/>
          </a:p>
          <a:p>
            <a:r>
              <a:rPr lang="en-US" altLang="zh-CN" dirty="0"/>
              <a:t>Growing upwards as a whole</a:t>
            </a:r>
          </a:p>
          <a:p>
            <a:endParaRPr lang="en-US" altLang="zh-CN" dirty="0"/>
          </a:p>
          <a:p>
            <a:r>
              <a:rPr lang="en-US" altLang="zh-CN" dirty="0"/>
              <a:t>Limited memory space</a:t>
            </a:r>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pic>
        <p:nvPicPr>
          <p:cNvPr id="4" name="图片 3">
            <a:extLst>
              <a:ext uri="{FF2B5EF4-FFF2-40B4-BE49-F238E27FC236}">
                <a16:creationId xmlns:a16="http://schemas.microsoft.com/office/drawing/2014/main" id="{6762D59C-B588-4722-BE5A-2BE9CEC19196}"/>
              </a:ext>
            </a:extLst>
          </p:cNvPr>
          <p:cNvPicPr>
            <a:picLocks noChangeAspect="1"/>
          </p:cNvPicPr>
          <p:nvPr/>
        </p:nvPicPr>
        <p:blipFill>
          <a:blip r:embed="rId3"/>
          <a:stretch>
            <a:fillRect/>
          </a:stretch>
        </p:blipFill>
        <p:spPr>
          <a:xfrm>
            <a:off x="1527175" y="4873624"/>
            <a:ext cx="2457450" cy="1438275"/>
          </a:xfrm>
          <a:prstGeom prst="rect">
            <a:avLst/>
          </a:prstGeom>
        </p:spPr>
      </p:pic>
      <p:pic>
        <p:nvPicPr>
          <p:cNvPr id="5" name="图片 4">
            <a:extLst>
              <a:ext uri="{FF2B5EF4-FFF2-40B4-BE49-F238E27FC236}">
                <a16:creationId xmlns:a16="http://schemas.microsoft.com/office/drawing/2014/main" id="{E3B49479-FBE6-4FF7-AA0B-D537B6000203}"/>
              </a:ext>
            </a:extLst>
          </p:cNvPr>
          <p:cNvPicPr>
            <a:picLocks noChangeAspect="1"/>
          </p:cNvPicPr>
          <p:nvPr/>
        </p:nvPicPr>
        <p:blipFill>
          <a:blip r:embed="rId4"/>
          <a:stretch>
            <a:fillRect/>
          </a:stretch>
        </p:blipFill>
        <p:spPr>
          <a:xfrm>
            <a:off x="5375275" y="5247130"/>
            <a:ext cx="2460386" cy="691262"/>
          </a:xfrm>
          <a:prstGeom prst="rect">
            <a:avLst/>
          </a:prstGeom>
        </p:spPr>
      </p:pic>
    </p:spTree>
    <p:extLst>
      <p:ext uri="{BB962C8B-B14F-4D97-AF65-F5344CB8AC3E}">
        <p14:creationId xmlns:p14="http://schemas.microsoft.com/office/powerpoint/2010/main" val="1579379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F89B2E-AB24-4692-A76E-547E8F56448E}"/>
              </a:ext>
            </a:extLst>
          </p:cNvPr>
          <p:cNvSpPr>
            <a:spLocks noGrp="1"/>
          </p:cNvSpPr>
          <p:nvPr>
            <p:ph type="title"/>
          </p:nvPr>
        </p:nvSpPr>
        <p:spPr/>
        <p:txBody>
          <a:bodyPr/>
          <a:lstStyle/>
          <a:p>
            <a:r>
              <a:rPr lang="en-US" altLang="zh-CN" b="1" dirty="0">
                <a:latin typeface="Calibri" panose="020F0502020204030204" pitchFamily="34" charset="0"/>
                <a:cs typeface="Calibri" panose="020F0502020204030204" pitchFamily="34" charset="0"/>
              </a:rPr>
              <a:t>Outline</a:t>
            </a:r>
            <a:endParaRPr lang="zh-CN" altLang="en-US" b="1" dirty="0">
              <a:latin typeface="Calibri" panose="020F0502020204030204" pitchFamily="34" charset="0"/>
              <a:cs typeface="Calibri" panose="020F0502020204030204" pitchFamily="34" charset="0"/>
            </a:endParaRPr>
          </a:p>
        </p:txBody>
      </p:sp>
      <p:sp>
        <p:nvSpPr>
          <p:cNvPr id="3" name="内容占位符 2">
            <a:extLst>
              <a:ext uri="{FF2B5EF4-FFF2-40B4-BE49-F238E27FC236}">
                <a16:creationId xmlns:a16="http://schemas.microsoft.com/office/drawing/2014/main" id="{E21AA081-813E-4F2D-99E3-74BFCCE15626}"/>
              </a:ext>
            </a:extLst>
          </p:cNvPr>
          <p:cNvSpPr>
            <a:spLocks noGrp="1"/>
          </p:cNvSpPr>
          <p:nvPr>
            <p:ph idx="1"/>
          </p:nvPr>
        </p:nvSpPr>
        <p:spPr/>
        <p:txBody>
          <a:bodyPr/>
          <a:lstStyle/>
          <a:p>
            <a:r>
              <a:rPr lang="en-US" altLang="zh-CN" dirty="0">
                <a:latin typeface="Calibri" panose="020F0502020204030204" pitchFamily="34" charset="0"/>
                <a:cs typeface="Calibri" panose="020F0502020204030204" pitchFamily="34" charset="0"/>
              </a:rPr>
              <a:t>Introduction</a:t>
            </a:r>
          </a:p>
          <a:p>
            <a:r>
              <a:rPr lang="en-US" altLang="zh-CN" b="1" dirty="0">
                <a:latin typeface="Calibri" panose="020F0502020204030204" pitchFamily="34" charset="0"/>
                <a:cs typeface="Calibri" panose="020F0502020204030204" pitchFamily="34" charset="0"/>
              </a:rPr>
              <a:t>Related Work</a:t>
            </a:r>
          </a:p>
          <a:p>
            <a:r>
              <a:rPr lang="en-US" altLang="zh-CN" dirty="0">
                <a:latin typeface="Calibri" panose="020F0502020204030204" pitchFamily="34" charset="0"/>
                <a:cs typeface="Calibri" panose="020F0502020204030204" pitchFamily="34" charset="0"/>
              </a:rPr>
              <a:t>Proposed Method</a:t>
            </a:r>
          </a:p>
          <a:p>
            <a:r>
              <a:rPr lang="en-US" altLang="zh-CN" dirty="0">
                <a:latin typeface="Calibri" panose="020F0502020204030204" pitchFamily="34" charset="0"/>
                <a:cs typeface="Calibri" panose="020F0502020204030204" pitchFamily="34" charset="0"/>
              </a:rPr>
              <a:t>Experiments</a:t>
            </a:r>
          </a:p>
          <a:p>
            <a:r>
              <a:rPr lang="en-US" altLang="zh-CN" dirty="0">
                <a:latin typeface="Calibri" panose="020F0502020204030204" pitchFamily="34" charset="0"/>
                <a:cs typeface="Calibri" panose="020F0502020204030204" pitchFamily="34" charset="0"/>
              </a:rPr>
              <a:t>Conclusions</a:t>
            </a:r>
            <a:endParaRPr lang="zh-CN"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40092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F9A072-5AA7-485F-98A4-F32D577CC1A4}"/>
              </a:ext>
            </a:extLst>
          </p:cNvPr>
          <p:cNvSpPr>
            <a:spLocks noGrp="1"/>
          </p:cNvSpPr>
          <p:nvPr>
            <p:ph type="title"/>
          </p:nvPr>
        </p:nvSpPr>
        <p:spPr/>
        <p:txBody>
          <a:bodyPr>
            <a:normAutofit/>
          </a:bodyPr>
          <a:lstStyle/>
          <a:p>
            <a:r>
              <a:rPr lang="en-US" altLang="zh-CN" sz="4800" b="1" dirty="0">
                <a:solidFill>
                  <a:srgbClr val="1C20C8"/>
                </a:solidFill>
                <a:latin typeface="Calibri" panose="020F0502020204030204" pitchFamily="34" charset="0"/>
                <a:cs typeface="Calibri" panose="020F0502020204030204" pitchFamily="34" charset="0"/>
              </a:rPr>
              <a:t>Related Work</a:t>
            </a:r>
            <a:endParaRPr lang="zh-CN" altLang="en-US" sz="4800" b="1" dirty="0">
              <a:solidFill>
                <a:srgbClr val="1C20C8"/>
              </a:solidFill>
              <a:latin typeface="Calibri" panose="020F0502020204030204" pitchFamily="34" charset="0"/>
              <a:cs typeface="Calibri" panose="020F0502020204030204" pitchFamily="34" charset="0"/>
            </a:endParaRPr>
          </a:p>
        </p:txBody>
      </p:sp>
      <p:sp>
        <p:nvSpPr>
          <p:cNvPr id="3" name="内容占位符 2">
            <a:extLst>
              <a:ext uri="{FF2B5EF4-FFF2-40B4-BE49-F238E27FC236}">
                <a16:creationId xmlns:a16="http://schemas.microsoft.com/office/drawing/2014/main" id="{D1E72963-5153-466A-A793-419BCC315672}"/>
              </a:ext>
            </a:extLst>
          </p:cNvPr>
          <p:cNvSpPr>
            <a:spLocks noGrp="1"/>
          </p:cNvSpPr>
          <p:nvPr>
            <p:ph idx="1"/>
          </p:nvPr>
        </p:nvSpPr>
        <p:spPr>
          <a:xfrm>
            <a:off x="628650" y="1825625"/>
            <a:ext cx="7886700" cy="4351338"/>
          </a:xfrm>
        </p:spPr>
        <p:txBody>
          <a:bodyPr/>
          <a:lstStyle/>
          <a:p>
            <a:r>
              <a:rPr lang="en-US" altLang="zh-CN" dirty="0"/>
              <a:t>Two categories based on memory allocation strategy</a:t>
            </a:r>
          </a:p>
          <a:p>
            <a:pPr lvl="1"/>
            <a:r>
              <a:rPr lang="en-US" altLang="zh-CN" dirty="0"/>
              <a:t>Reservoir-based method</a:t>
            </a:r>
          </a:p>
          <a:p>
            <a:pPr lvl="1"/>
            <a:r>
              <a:rPr lang="en-US" altLang="zh-CN" dirty="0"/>
              <a:t>Bernoulli-based method</a:t>
            </a:r>
          </a:p>
          <a:p>
            <a:pPr lvl="1"/>
            <a:endParaRPr lang="en-US" altLang="zh-CN" dirty="0"/>
          </a:p>
          <a:p>
            <a:endParaRPr lang="en-US" altLang="zh-CN" dirty="0"/>
          </a:p>
          <a:p>
            <a:pPr marL="0" indent="0">
              <a:buNone/>
            </a:pPr>
            <a:r>
              <a:rPr lang="en-US" altLang="zh-CN" dirty="0"/>
              <a:t> </a:t>
            </a:r>
            <a:endParaRPr lang="zh-CN" altLang="en-US" dirty="0"/>
          </a:p>
        </p:txBody>
      </p:sp>
      <p:graphicFrame>
        <p:nvGraphicFramePr>
          <p:cNvPr id="4" name="表格 3">
            <a:extLst>
              <a:ext uri="{FF2B5EF4-FFF2-40B4-BE49-F238E27FC236}">
                <a16:creationId xmlns:a16="http://schemas.microsoft.com/office/drawing/2014/main" id="{DF164DD9-27EC-4CE5-8FDB-5C55E51DC086}"/>
              </a:ext>
            </a:extLst>
          </p:cNvPr>
          <p:cNvGraphicFramePr>
            <a:graphicFrameLocks noGrp="1"/>
          </p:cNvGraphicFramePr>
          <p:nvPr>
            <p:extLst>
              <p:ext uri="{D42A27DB-BD31-4B8C-83A1-F6EECF244321}">
                <p14:modId xmlns:p14="http://schemas.microsoft.com/office/powerpoint/2010/main" val="3124961341"/>
              </p:ext>
            </p:extLst>
          </p:nvPr>
        </p:nvGraphicFramePr>
        <p:xfrm>
          <a:off x="895350" y="4194808"/>
          <a:ext cx="7353300" cy="1586866"/>
        </p:xfrm>
        <a:graphic>
          <a:graphicData uri="http://schemas.openxmlformats.org/drawingml/2006/table">
            <a:tbl>
              <a:tblPr firstRow="1" bandRow="1">
                <a:tableStyleId>{5C22544A-7EE6-4342-B048-85BDC9FD1C3A}</a:tableStyleId>
              </a:tblPr>
              <a:tblGrid>
                <a:gridCol w="2451100">
                  <a:extLst>
                    <a:ext uri="{9D8B030D-6E8A-4147-A177-3AD203B41FA5}">
                      <a16:colId xmlns:a16="http://schemas.microsoft.com/office/drawing/2014/main" val="143190529"/>
                    </a:ext>
                  </a:extLst>
                </a:gridCol>
                <a:gridCol w="2451100">
                  <a:extLst>
                    <a:ext uri="{9D8B030D-6E8A-4147-A177-3AD203B41FA5}">
                      <a16:colId xmlns:a16="http://schemas.microsoft.com/office/drawing/2014/main" val="3683021402"/>
                    </a:ext>
                  </a:extLst>
                </a:gridCol>
                <a:gridCol w="2451100">
                  <a:extLst>
                    <a:ext uri="{9D8B030D-6E8A-4147-A177-3AD203B41FA5}">
                      <a16:colId xmlns:a16="http://schemas.microsoft.com/office/drawing/2014/main" val="1012297171"/>
                    </a:ext>
                  </a:extLst>
                </a:gridCol>
              </a:tblGrid>
              <a:tr h="354515">
                <a:tc>
                  <a:txBody>
                    <a:bodyPr/>
                    <a:lstStyle/>
                    <a:p>
                      <a:r>
                        <a:rPr lang="en-US" altLang="zh-CN" dirty="0"/>
                        <a:t>Sampling Method</a:t>
                      </a:r>
                      <a:endParaRPr lang="zh-CN" altLang="en-US" dirty="0"/>
                    </a:p>
                  </a:txBody>
                  <a:tcPr/>
                </a:tc>
                <a:tc>
                  <a:txBody>
                    <a:bodyPr/>
                    <a:lstStyle/>
                    <a:p>
                      <a:pPr algn="ctr"/>
                      <a:r>
                        <a:rPr lang="en-US" altLang="zh-CN" dirty="0"/>
                        <a:t>Sampling Ratio</a:t>
                      </a:r>
                      <a:endParaRPr lang="zh-CN" altLang="en-US" dirty="0"/>
                    </a:p>
                  </a:txBody>
                  <a:tcPr/>
                </a:tc>
                <a:tc>
                  <a:txBody>
                    <a:bodyPr/>
                    <a:lstStyle/>
                    <a:p>
                      <a:pPr algn="ctr"/>
                      <a:r>
                        <a:rPr lang="en-US" altLang="zh-CN" dirty="0"/>
                        <a:t>Memory Budget</a:t>
                      </a:r>
                      <a:endParaRPr lang="zh-CN" altLang="en-US" dirty="0"/>
                    </a:p>
                  </a:txBody>
                  <a:tcPr/>
                </a:tc>
                <a:extLst>
                  <a:ext uri="{0D108BD9-81ED-4DB2-BD59-A6C34878D82A}">
                    <a16:rowId xmlns:a16="http://schemas.microsoft.com/office/drawing/2014/main" val="2153082192"/>
                  </a:ext>
                </a:extLst>
              </a:tr>
              <a:tr h="489586">
                <a:tc>
                  <a:txBody>
                    <a:bodyPr/>
                    <a:lstStyle/>
                    <a:p>
                      <a:r>
                        <a:rPr lang="en-US" altLang="zh-CN" b="1" dirty="0"/>
                        <a:t>BSR-Sample (Proposed)</a:t>
                      </a:r>
                      <a:endParaRPr lang="zh-CN" altLang="en-US" b="1" dirty="0"/>
                    </a:p>
                  </a:txBody>
                  <a:tcPr/>
                </a:tc>
                <a:tc>
                  <a:txBody>
                    <a:bodyPr/>
                    <a:lstStyle/>
                    <a:p>
                      <a:pPr algn="ctr"/>
                      <a:r>
                        <a:rPr lang="en-US" altLang="zh-CN" b="1" dirty="0"/>
                        <a:t>≥Threshold</a:t>
                      </a:r>
                      <a:endParaRPr lang="zh-CN" altLang="en-US" b="1" dirty="0"/>
                    </a:p>
                  </a:txBody>
                  <a:tcPr/>
                </a:tc>
                <a:tc>
                  <a:txBody>
                    <a:bodyPr/>
                    <a:lstStyle/>
                    <a:p>
                      <a:pPr algn="ctr"/>
                      <a:r>
                        <a:rPr lang="en-US" altLang="zh-CN" b="1" dirty="0"/>
                        <a:t>Adaptive</a:t>
                      </a:r>
                      <a:endParaRPr lang="zh-CN" altLang="en-US" b="1" dirty="0"/>
                    </a:p>
                  </a:txBody>
                  <a:tcPr/>
                </a:tc>
                <a:extLst>
                  <a:ext uri="{0D108BD9-81ED-4DB2-BD59-A6C34878D82A}">
                    <a16:rowId xmlns:a16="http://schemas.microsoft.com/office/drawing/2014/main" val="581829156"/>
                  </a:ext>
                </a:extLst>
              </a:tr>
              <a:tr h="364824">
                <a:tc>
                  <a:txBody>
                    <a:bodyPr/>
                    <a:lstStyle/>
                    <a:p>
                      <a:r>
                        <a:rPr lang="en-US" altLang="zh-CN" dirty="0"/>
                        <a:t>Reservoir-based sample</a:t>
                      </a:r>
                      <a:endParaRPr lang="zh-CN" altLang="en-US" dirty="0"/>
                    </a:p>
                  </a:txBody>
                  <a:tcPr/>
                </a:tc>
                <a:tc>
                  <a:txBody>
                    <a:bodyPr/>
                    <a:lstStyle/>
                    <a:p>
                      <a:pPr algn="ctr"/>
                      <a:r>
                        <a:rPr lang="en-US" altLang="zh-CN" dirty="0"/>
                        <a:t>Decreased</a:t>
                      </a:r>
                      <a:endParaRPr lang="zh-CN" altLang="en-US" dirty="0"/>
                    </a:p>
                  </a:txBody>
                  <a:tcPr/>
                </a:tc>
                <a:tc>
                  <a:txBody>
                    <a:bodyPr/>
                    <a:lstStyle/>
                    <a:p>
                      <a:pPr algn="ctr"/>
                      <a:r>
                        <a:rPr lang="en-US" altLang="zh-CN" dirty="0"/>
                        <a:t>Fixed</a:t>
                      </a:r>
                      <a:endParaRPr lang="zh-CN" altLang="en-US" dirty="0"/>
                    </a:p>
                  </a:txBody>
                  <a:tcPr/>
                </a:tc>
                <a:extLst>
                  <a:ext uri="{0D108BD9-81ED-4DB2-BD59-A6C34878D82A}">
                    <a16:rowId xmlns:a16="http://schemas.microsoft.com/office/drawing/2014/main" val="2154825741"/>
                  </a:ext>
                </a:extLst>
              </a:tr>
              <a:tr h="364824">
                <a:tc>
                  <a:txBody>
                    <a:bodyPr/>
                    <a:lstStyle/>
                    <a:p>
                      <a:r>
                        <a:rPr lang="en-US" altLang="zh-CN" dirty="0"/>
                        <a:t>Bernoulli-based sample</a:t>
                      </a:r>
                      <a:endParaRPr lang="zh-CN" altLang="en-US" dirty="0"/>
                    </a:p>
                  </a:txBody>
                  <a:tcPr/>
                </a:tc>
                <a:tc>
                  <a:txBody>
                    <a:bodyPr/>
                    <a:lstStyle/>
                    <a:p>
                      <a:pPr algn="ctr"/>
                      <a:r>
                        <a:rPr lang="en-US" altLang="zh-CN" dirty="0"/>
                        <a:t>Fixed</a:t>
                      </a:r>
                      <a:endParaRPr lang="zh-CN" altLang="en-US" dirty="0"/>
                    </a:p>
                  </a:txBody>
                  <a:tcPr/>
                </a:tc>
                <a:tc>
                  <a:txBody>
                    <a:bodyPr/>
                    <a:lstStyle/>
                    <a:p>
                      <a:pPr algn="ctr"/>
                      <a:r>
                        <a:rPr lang="en-US" altLang="zh-CN" dirty="0"/>
                        <a:t>Increased</a:t>
                      </a:r>
                      <a:endParaRPr lang="zh-CN" altLang="en-US" dirty="0"/>
                    </a:p>
                  </a:txBody>
                  <a:tcPr/>
                </a:tc>
                <a:extLst>
                  <a:ext uri="{0D108BD9-81ED-4DB2-BD59-A6C34878D82A}">
                    <a16:rowId xmlns:a16="http://schemas.microsoft.com/office/drawing/2014/main" val="640611325"/>
                  </a:ext>
                </a:extLst>
              </a:tr>
            </a:tbl>
          </a:graphicData>
        </a:graphic>
      </p:graphicFrame>
    </p:spTree>
    <p:extLst>
      <p:ext uri="{BB962C8B-B14F-4D97-AF65-F5344CB8AC3E}">
        <p14:creationId xmlns:p14="http://schemas.microsoft.com/office/powerpoint/2010/main" val="1975486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F9A072-5AA7-485F-98A4-F32D577CC1A4}"/>
              </a:ext>
            </a:extLst>
          </p:cNvPr>
          <p:cNvSpPr>
            <a:spLocks noGrp="1"/>
          </p:cNvSpPr>
          <p:nvPr>
            <p:ph type="title"/>
          </p:nvPr>
        </p:nvSpPr>
        <p:spPr/>
        <p:txBody>
          <a:bodyPr>
            <a:normAutofit/>
          </a:bodyPr>
          <a:lstStyle/>
          <a:p>
            <a:r>
              <a:rPr lang="en-US" altLang="zh-CN" sz="4800" b="1" dirty="0">
                <a:solidFill>
                  <a:srgbClr val="1C20C8"/>
                </a:solidFill>
                <a:latin typeface="Calibri" panose="020F0502020204030204" pitchFamily="34" charset="0"/>
                <a:cs typeface="Calibri" panose="020F0502020204030204" pitchFamily="34" charset="0"/>
              </a:rPr>
              <a:t>Reservoir-based method</a:t>
            </a:r>
          </a:p>
        </p:txBody>
      </p:sp>
      <p:sp>
        <p:nvSpPr>
          <p:cNvPr id="3" name="内容占位符 2">
            <a:extLst>
              <a:ext uri="{FF2B5EF4-FFF2-40B4-BE49-F238E27FC236}">
                <a16:creationId xmlns:a16="http://schemas.microsoft.com/office/drawing/2014/main" id="{D1E72963-5153-466A-A793-419BCC315672}"/>
              </a:ext>
            </a:extLst>
          </p:cNvPr>
          <p:cNvSpPr>
            <a:spLocks noGrp="1"/>
          </p:cNvSpPr>
          <p:nvPr>
            <p:ph idx="1"/>
          </p:nvPr>
        </p:nvSpPr>
        <p:spPr>
          <a:xfrm>
            <a:off x="628650" y="1535941"/>
            <a:ext cx="7886700" cy="4351338"/>
          </a:xfrm>
        </p:spPr>
        <p:txBody>
          <a:bodyPr>
            <a:normAutofit/>
          </a:bodyPr>
          <a:lstStyle/>
          <a:p>
            <a:r>
              <a:rPr lang="en-US" altLang="zh-CN" dirty="0"/>
              <a:t>State-of-the-art approaches</a:t>
            </a:r>
          </a:p>
          <a:p>
            <a:pPr lvl="1"/>
            <a:r>
              <a:rPr lang="en-US" altLang="zh-CN" dirty="0"/>
              <a:t>TRIEST: first handle fully-dynamic graph streams</a:t>
            </a:r>
          </a:p>
          <a:p>
            <a:pPr lvl="1"/>
            <a:r>
              <a:rPr lang="en-US" altLang="zh-CN" dirty="0"/>
              <a:t>WRS: employ temporal locality</a:t>
            </a:r>
          </a:p>
          <a:p>
            <a:pPr lvl="1"/>
            <a:r>
              <a:rPr lang="en-US" altLang="zh-CN" dirty="0"/>
              <a:t>ThinkD: improve TRIEST by “Counting first then Sampling”</a:t>
            </a:r>
          </a:p>
          <a:p>
            <a:r>
              <a:rPr lang="en-US" altLang="zh-CN" dirty="0"/>
              <a:t>Accuracy </a:t>
            </a:r>
          </a:p>
          <a:p>
            <a:pPr lvl="1"/>
            <a:r>
              <a:rPr lang="en-US" altLang="zh-CN" dirty="0"/>
              <a:t>affected by memory budget size</a:t>
            </a:r>
          </a:p>
          <a:p>
            <a:endParaRPr lang="en-US" altLang="zh-CN" dirty="0"/>
          </a:p>
          <a:p>
            <a:endParaRPr lang="en-US" altLang="zh-CN" dirty="0"/>
          </a:p>
          <a:p>
            <a:pPr marL="0" indent="0">
              <a:buNone/>
            </a:pPr>
            <a:endParaRPr lang="en-US" altLang="zh-CN" dirty="0"/>
          </a:p>
        </p:txBody>
      </p:sp>
      <p:pic>
        <p:nvPicPr>
          <p:cNvPr id="7" name="图片 6">
            <a:extLst>
              <a:ext uri="{FF2B5EF4-FFF2-40B4-BE49-F238E27FC236}">
                <a16:creationId xmlns:a16="http://schemas.microsoft.com/office/drawing/2014/main" id="{A7250FA9-1543-4703-A5A7-8FBB71631D4B}"/>
              </a:ext>
            </a:extLst>
          </p:cNvPr>
          <p:cNvPicPr>
            <a:picLocks noChangeAspect="1"/>
          </p:cNvPicPr>
          <p:nvPr/>
        </p:nvPicPr>
        <p:blipFill>
          <a:blip r:embed="rId3"/>
          <a:stretch>
            <a:fillRect/>
          </a:stretch>
        </p:blipFill>
        <p:spPr>
          <a:xfrm>
            <a:off x="314325" y="4164434"/>
            <a:ext cx="8515350" cy="2020921"/>
          </a:xfrm>
          <a:prstGeom prst="rect">
            <a:avLst/>
          </a:prstGeom>
        </p:spPr>
      </p:pic>
      <p:sp>
        <p:nvSpPr>
          <p:cNvPr id="4" name="矩形 3">
            <a:extLst>
              <a:ext uri="{FF2B5EF4-FFF2-40B4-BE49-F238E27FC236}">
                <a16:creationId xmlns:a16="http://schemas.microsoft.com/office/drawing/2014/main" id="{E7060DDA-8939-42A0-BDBE-5070E295AFC8}"/>
              </a:ext>
            </a:extLst>
          </p:cNvPr>
          <p:cNvSpPr/>
          <p:nvPr/>
        </p:nvSpPr>
        <p:spPr>
          <a:xfrm>
            <a:off x="1389743" y="6185355"/>
            <a:ext cx="6364514" cy="646331"/>
          </a:xfrm>
          <a:prstGeom prst="rect">
            <a:avLst/>
          </a:prstGeom>
        </p:spPr>
        <p:txBody>
          <a:bodyPr wrap="square">
            <a:spAutoFit/>
          </a:bodyPr>
          <a:lstStyle/>
          <a:p>
            <a:pPr algn="ctr"/>
            <a:r>
              <a:rPr lang="zh-CN" altLang="en-US" dirty="0">
                <a:latin typeface="Calibri" panose="020F0502020204030204" pitchFamily="34" charset="0"/>
                <a:cs typeface="Calibri" panose="020F0502020204030204" pitchFamily="34" charset="0"/>
              </a:rPr>
              <a:t>As the memory memory increases, global error decreases and the number of discovered triangles increases.</a:t>
            </a:r>
          </a:p>
        </p:txBody>
      </p:sp>
    </p:spTree>
    <p:extLst>
      <p:ext uri="{BB962C8B-B14F-4D97-AF65-F5344CB8AC3E}">
        <p14:creationId xmlns:p14="http://schemas.microsoft.com/office/powerpoint/2010/main" val="492779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F9A072-5AA7-485F-98A4-F32D577CC1A4}"/>
              </a:ext>
            </a:extLst>
          </p:cNvPr>
          <p:cNvSpPr>
            <a:spLocks noGrp="1"/>
          </p:cNvSpPr>
          <p:nvPr>
            <p:ph type="title"/>
          </p:nvPr>
        </p:nvSpPr>
        <p:spPr/>
        <p:txBody>
          <a:bodyPr>
            <a:normAutofit/>
          </a:bodyPr>
          <a:lstStyle/>
          <a:p>
            <a:r>
              <a:rPr lang="en-US" altLang="zh-CN" sz="4800" b="1" dirty="0">
                <a:solidFill>
                  <a:srgbClr val="1C20C8"/>
                </a:solidFill>
                <a:latin typeface="Calibri" panose="020F0502020204030204" pitchFamily="34" charset="0"/>
                <a:cs typeface="Calibri" panose="020F0502020204030204" pitchFamily="34" charset="0"/>
              </a:rPr>
              <a:t>Bernoulli-based method</a:t>
            </a:r>
          </a:p>
        </p:txBody>
      </p:sp>
      <p:sp>
        <p:nvSpPr>
          <p:cNvPr id="3" name="内容占位符 2">
            <a:extLst>
              <a:ext uri="{FF2B5EF4-FFF2-40B4-BE49-F238E27FC236}">
                <a16:creationId xmlns:a16="http://schemas.microsoft.com/office/drawing/2014/main" id="{D1E72963-5153-466A-A793-419BCC315672}"/>
              </a:ext>
            </a:extLst>
          </p:cNvPr>
          <p:cNvSpPr>
            <a:spLocks noGrp="1"/>
          </p:cNvSpPr>
          <p:nvPr>
            <p:ph idx="1"/>
          </p:nvPr>
        </p:nvSpPr>
        <p:spPr>
          <a:xfrm>
            <a:off x="628650" y="1523549"/>
            <a:ext cx="7886700" cy="4351338"/>
          </a:xfrm>
        </p:spPr>
        <p:txBody>
          <a:bodyPr>
            <a:normAutofit/>
          </a:bodyPr>
          <a:lstStyle/>
          <a:p>
            <a:r>
              <a:rPr lang="en-US" altLang="zh-CN" dirty="0"/>
              <a:t>State-of-the-art approaches</a:t>
            </a:r>
          </a:p>
          <a:p>
            <a:pPr lvl="1"/>
            <a:r>
              <a:rPr lang="en-US" altLang="zh-CN" dirty="0" err="1"/>
              <a:t>gSH</a:t>
            </a:r>
            <a:r>
              <a:rPr lang="en-US" altLang="zh-CN" dirty="0"/>
              <a:t>:</a:t>
            </a:r>
            <a:r>
              <a:rPr lang="zh-CN" altLang="en-US" dirty="0"/>
              <a:t> </a:t>
            </a:r>
            <a:r>
              <a:rPr lang="en-US" altLang="zh-CN" dirty="0"/>
              <a:t>a</a:t>
            </a:r>
            <a:r>
              <a:rPr lang="zh-CN" altLang="en-US" dirty="0"/>
              <a:t> </a:t>
            </a:r>
            <a:r>
              <a:rPr lang="en-US" altLang="zh-CN" dirty="0"/>
              <a:t>sampling</a:t>
            </a:r>
            <a:r>
              <a:rPr lang="zh-CN" altLang="en-US" dirty="0"/>
              <a:t> </a:t>
            </a:r>
            <a:r>
              <a:rPr lang="en-US" altLang="zh-CN" dirty="0"/>
              <a:t>framework using different probabilities</a:t>
            </a:r>
          </a:p>
          <a:p>
            <a:pPr lvl="1"/>
            <a:r>
              <a:rPr lang="en-US" altLang="zh-CN" dirty="0"/>
              <a:t>GPS: a</a:t>
            </a:r>
            <a:r>
              <a:rPr lang="zh-CN" altLang="en-US" dirty="0"/>
              <a:t> </a:t>
            </a:r>
            <a:r>
              <a:rPr lang="en-US" altLang="zh-CN" dirty="0"/>
              <a:t>sampling</a:t>
            </a:r>
            <a:r>
              <a:rPr lang="zh-CN" altLang="en-US" dirty="0"/>
              <a:t> </a:t>
            </a:r>
            <a:r>
              <a:rPr lang="en-US" altLang="zh-CN" dirty="0"/>
              <a:t>framework by setting different priority</a:t>
            </a:r>
          </a:p>
          <a:p>
            <a:pPr lvl="1"/>
            <a:r>
              <a:rPr lang="en-US" altLang="zh-CN" dirty="0"/>
              <a:t>MASCOT: local triangle estimation</a:t>
            </a:r>
          </a:p>
          <a:p>
            <a:r>
              <a:rPr lang="en-US" altLang="zh-CN" dirty="0"/>
              <a:t>Consumed memory</a:t>
            </a:r>
          </a:p>
          <a:p>
            <a:pPr lvl="1"/>
            <a:r>
              <a:rPr lang="en-US" altLang="zh-CN" dirty="0"/>
              <a:t>fluctuated around the real value</a:t>
            </a:r>
          </a:p>
          <a:p>
            <a:pPr lvl="1"/>
            <a:r>
              <a:rPr lang="en-US" altLang="zh-CN" dirty="0"/>
              <a:t>affected by initial sampling probability</a:t>
            </a:r>
          </a:p>
          <a:p>
            <a:endParaRPr lang="en-US" altLang="zh-CN" dirty="0"/>
          </a:p>
          <a:p>
            <a:endParaRPr lang="en-US" altLang="zh-CN" dirty="0"/>
          </a:p>
          <a:p>
            <a:pPr marL="0" indent="0">
              <a:buNone/>
            </a:pPr>
            <a:endParaRPr lang="en-US" altLang="zh-CN" dirty="0"/>
          </a:p>
        </p:txBody>
      </p:sp>
      <p:pic>
        <p:nvPicPr>
          <p:cNvPr id="5" name="图片 4">
            <a:extLst>
              <a:ext uri="{FF2B5EF4-FFF2-40B4-BE49-F238E27FC236}">
                <a16:creationId xmlns:a16="http://schemas.microsoft.com/office/drawing/2014/main" id="{A7F5CBEF-0CDC-4DD4-8BC4-0647865E3C81}"/>
              </a:ext>
            </a:extLst>
          </p:cNvPr>
          <p:cNvPicPr>
            <a:picLocks noChangeAspect="1"/>
          </p:cNvPicPr>
          <p:nvPr/>
        </p:nvPicPr>
        <p:blipFill>
          <a:blip r:embed="rId3"/>
          <a:stretch>
            <a:fillRect/>
          </a:stretch>
        </p:blipFill>
        <p:spPr>
          <a:xfrm>
            <a:off x="314325" y="4426857"/>
            <a:ext cx="8515350" cy="2342243"/>
          </a:xfrm>
          <a:prstGeom prst="rect">
            <a:avLst/>
          </a:prstGeom>
        </p:spPr>
      </p:pic>
    </p:spTree>
    <p:extLst>
      <p:ext uri="{BB962C8B-B14F-4D97-AF65-F5344CB8AC3E}">
        <p14:creationId xmlns:p14="http://schemas.microsoft.com/office/powerpoint/2010/main" val="3059489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F89B2E-AB24-4692-A76E-547E8F56448E}"/>
              </a:ext>
            </a:extLst>
          </p:cNvPr>
          <p:cNvSpPr>
            <a:spLocks noGrp="1"/>
          </p:cNvSpPr>
          <p:nvPr>
            <p:ph type="title"/>
          </p:nvPr>
        </p:nvSpPr>
        <p:spPr/>
        <p:txBody>
          <a:bodyPr/>
          <a:lstStyle/>
          <a:p>
            <a:r>
              <a:rPr lang="en-US" altLang="zh-CN" b="1" dirty="0">
                <a:latin typeface="Calibri" panose="020F0502020204030204" pitchFamily="34" charset="0"/>
                <a:cs typeface="Calibri" panose="020F0502020204030204" pitchFamily="34" charset="0"/>
              </a:rPr>
              <a:t>Outline</a:t>
            </a:r>
            <a:endParaRPr lang="zh-CN" altLang="en-US" b="1" dirty="0">
              <a:latin typeface="Calibri" panose="020F0502020204030204" pitchFamily="34" charset="0"/>
              <a:cs typeface="Calibri" panose="020F0502020204030204" pitchFamily="34" charset="0"/>
            </a:endParaRPr>
          </a:p>
        </p:txBody>
      </p:sp>
      <p:sp>
        <p:nvSpPr>
          <p:cNvPr id="3" name="内容占位符 2">
            <a:extLst>
              <a:ext uri="{FF2B5EF4-FFF2-40B4-BE49-F238E27FC236}">
                <a16:creationId xmlns:a16="http://schemas.microsoft.com/office/drawing/2014/main" id="{E21AA081-813E-4F2D-99E3-74BFCCE15626}"/>
              </a:ext>
            </a:extLst>
          </p:cNvPr>
          <p:cNvSpPr>
            <a:spLocks noGrp="1"/>
          </p:cNvSpPr>
          <p:nvPr>
            <p:ph idx="1"/>
          </p:nvPr>
        </p:nvSpPr>
        <p:spPr/>
        <p:txBody>
          <a:bodyPr/>
          <a:lstStyle/>
          <a:p>
            <a:r>
              <a:rPr lang="en-US" altLang="zh-CN" dirty="0">
                <a:latin typeface="Calibri" panose="020F0502020204030204" pitchFamily="34" charset="0"/>
                <a:cs typeface="Calibri" panose="020F0502020204030204" pitchFamily="34" charset="0"/>
              </a:rPr>
              <a:t>Introduction</a:t>
            </a:r>
          </a:p>
          <a:p>
            <a:r>
              <a:rPr lang="en-US" altLang="zh-CN" dirty="0">
                <a:latin typeface="Calibri" panose="020F0502020204030204" pitchFamily="34" charset="0"/>
                <a:cs typeface="Calibri" panose="020F0502020204030204" pitchFamily="34" charset="0"/>
              </a:rPr>
              <a:t>Related Work</a:t>
            </a:r>
          </a:p>
          <a:p>
            <a:r>
              <a:rPr lang="en-US" altLang="zh-CN" b="1" dirty="0">
                <a:latin typeface="Calibri" panose="020F0502020204030204" pitchFamily="34" charset="0"/>
                <a:cs typeface="Calibri" panose="020F0502020204030204" pitchFamily="34" charset="0"/>
              </a:rPr>
              <a:t>Proposed Method</a:t>
            </a:r>
          </a:p>
          <a:p>
            <a:r>
              <a:rPr lang="en-US" altLang="zh-CN" dirty="0">
                <a:latin typeface="Calibri" panose="020F0502020204030204" pitchFamily="34" charset="0"/>
                <a:cs typeface="Calibri" panose="020F0502020204030204" pitchFamily="34" charset="0"/>
              </a:rPr>
              <a:t>Experiments</a:t>
            </a:r>
          </a:p>
          <a:p>
            <a:r>
              <a:rPr lang="en-US" altLang="zh-CN" dirty="0">
                <a:latin typeface="Calibri" panose="020F0502020204030204" pitchFamily="34" charset="0"/>
                <a:cs typeface="Calibri" panose="020F0502020204030204" pitchFamily="34" charset="0"/>
              </a:rPr>
              <a:t>Conclusions</a:t>
            </a:r>
            <a:endParaRPr lang="zh-CN"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8272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F9A072-5AA7-485F-98A4-F32D577CC1A4}"/>
              </a:ext>
            </a:extLst>
          </p:cNvPr>
          <p:cNvSpPr>
            <a:spLocks noGrp="1"/>
          </p:cNvSpPr>
          <p:nvPr>
            <p:ph type="title"/>
          </p:nvPr>
        </p:nvSpPr>
        <p:spPr/>
        <p:txBody>
          <a:bodyPr/>
          <a:lstStyle/>
          <a:p>
            <a:r>
              <a:rPr lang="en-US" altLang="zh-CN" sz="4800" b="1" dirty="0">
                <a:solidFill>
                  <a:srgbClr val="1C20C8"/>
                </a:solidFill>
                <a:latin typeface="Calibri" panose="020F0502020204030204" pitchFamily="34" charset="0"/>
                <a:cs typeface="Calibri" panose="020F0502020204030204" pitchFamily="34" charset="0"/>
              </a:rPr>
              <a:t>Observations</a:t>
            </a:r>
            <a:endParaRPr lang="zh-CN" altLang="en-US" dirty="0"/>
          </a:p>
        </p:txBody>
      </p:sp>
      <p:sp>
        <p:nvSpPr>
          <p:cNvPr id="3" name="内容占位符 2">
            <a:extLst>
              <a:ext uri="{FF2B5EF4-FFF2-40B4-BE49-F238E27FC236}">
                <a16:creationId xmlns:a16="http://schemas.microsoft.com/office/drawing/2014/main" id="{D1E72963-5153-466A-A793-419BCC315672}"/>
              </a:ext>
            </a:extLst>
          </p:cNvPr>
          <p:cNvSpPr>
            <a:spLocks noGrp="1"/>
          </p:cNvSpPr>
          <p:nvPr>
            <p:ph idx="1"/>
          </p:nvPr>
        </p:nvSpPr>
        <p:spPr/>
        <p:txBody>
          <a:bodyPr/>
          <a:lstStyle/>
          <a:p>
            <a:pPr>
              <a:buFont typeface="Wingdings" panose="05000000000000000000" pitchFamily="2" charset="2"/>
              <a:buChar char="n"/>
            </a:pPr>
            <a:r>
              <a:rPr lang="en-US" altLang="zh-CN" dirty="0"/>
              <a:t> Scale of graph streams is unknown in advance</a:t>
            </a:r>
          </a:p>
          <a:p>
            <a:pPr>
              <a:buFont typeface="Wingdings" panose="05000000000000000000" pitchFamily="2" charset="2"/>
              <a:buChar char="n"/>
            </a:pPr>
            <a:endParaRPr lang="en-US" altLang="zh-CN" dirty="0"/>
          </a:p>
          <a:p>
            <a:pPr>
              <a:buFont typeface="Wingdings" panose="05000000000000000000" pitchFamily="2" charset="2"/>
              <a:buChar char="n"/>
            </a:pPr>
            <a:r>
              <a:rPr lang="en-US" altLang="zh-CN" dirty="0"/>
              <a:t> Evolving graph streams usually grow upwards</a:t>
            </a:r>
          </a:p>
          <a:p>
            <a:pPr>
              <a:buFont typeface="Wingdings" panose="05000000000000000000" pitchFamily="2" charset="2"/>
              <a:buChar char="n"/>
            </a:pPr>
            <a:endParaRPr lang="en-US" altLang="zh-CN" dirty="0"/>
          </a:p>
          <a:p>
            <a:pPr>
              <a:buFont typeface="Wingdings" panose="05000000000000000000" pitchFamily="2" charset="2"/>
              <a:buChar char="n"/>
            </a:pPr>
            <a:r>
              <a:rPr lang="en-US" altLang="zh-CN" dirty="0"/>
              <a:t> Limited main memory space</a:t>
            </a:r>
          </a:p>
          <a:p>
            <a:pPr marL="0" indent="0">
              <a:buNone/>
            </a:pPr>
            <a:endParaRPr lang="en-US" altLang="zh-CN" dirty="0"/>
          </a:p>
          <a:p>
            <a:endParaRPr lang="en-US" altLang="zh-CN" dirty="0"/>
          </a:p>
          <a:p>
            <a:endParaRPr lang="zh-CN" altLang="en-US" dirty="0"/>
          </a:p>
        </p:txBody>
      </p:sp>
      <p:sp>
        <p:nvSpPr>
          <p:cNvPr id="4" name="矩形 3">
            <a:extLst>
              <a:ext uri="{FF2B5EF4-FFF2-40B4-BE49-F238E27FC236}">
                <a16:creationId xmlns:a16="http://schemas.microsoft.com/office/drawing/2014/main" id="{EA560849-7E9D-4181-8AFF-47BF3B49D0E7}"/>
              </a:ext>
            </a:extLst>
          </p:cNvPr>
          <p:cNvSpPr/>
          <p:nvPr/>
        </p:nvSpPr>
        <p:spPr>
          <a:xfrm>
            <a:off x="628650" y="4791968"/>
            <a:ext cx="7886700" cy="1384995"/>
          </a:xfrm>
          <a:prstGeom prst="rect">
            <a:avLst/>
          </a:prstGeom>
        </p:spPr>
        <p:txBody>
          <a:bodyPr wrap="square">
            <a:spAutoFit/>
          </a:bodyPr>
          <a:lstStyle/>
          <a:p>
            <a:pPr marL="457200" indent="-457200">
              <a:buFont typeface="Wingdings" panose="05000000000000000000" pitchFamily="2" charset="2"/>
              <a:buChar char="ü"/>
            </a:pPr>
            <a:r>
              <a:rPr lang="zh-CN" altLang="en-US" sz="2800" dirty="0">
                <a:solidFill>
                  <a:srgbClr val="FF0000"/>
                </a:solidFill>
              </a:rPr>
              <a:t>How to maintain an appropriate </a:t>
            </a:r>
            <a:r>
              <a:rPr lang="zh-CN" altLang="en-US" sz="2800" b="1" dirty="0">
                <a:solidFill>
                  <a:srgbClr val="FF0000"/>
                </a:solidFill>
              </a:rPr>
              <a:t>sampling ratio </a:t>
            </a:r>
            <a:r>
              <a:rPr lang="zh-CN" altLang="en-US" sz="2800" dirty="0">
                <a:solidFill>
                  <a:srgbClr val="FF0000"/>
                </a:solidFill>
              </a:rPr>
              <a:t>and how much </a:t>
            </a:r>
            <a:r>
              <a:rPr lang="zh-CN" altLang="en-US" sz="2800" b="1" dirty="0">
                <a:solidFill>
                  <a:srgbClr val="FF0000"/>
                </a:solidFill>
              </a:rPr>
              <a:t>memory space </a:t>
            </a:r>
            <a:r>
              <a:rPr lang="zh-CN" altLang="en-US" sz="2800" dirty="0">
                <a:solidFill>
                  <a:srgbClr val="FF0000"/>
                </a:solidFill>
              </a:rPr>
              <a:t>to allocate for accurate global and local triangle counting?</a:t>
            </a:r>
          </a:p>
        </p:txBody>
      </p:sp>
    </p:spTree>
    <p:extLst>
      <p:ext uri="{BB962C8B-B14F-4D97-AF65-F5344CB8AC3E}">
        <p14:creationId xmlns:p14="http://schemas.microsoft.com/office/powerpoint/2010/main" val="1566096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F9A072-5AA7-485F-98A4-F32D577CC1A4}"/>
              </a:ext>
            </a:extLst>
          </p:cNvPr>
          <p:cNvSpPr>
            <a:spLocks noGrp="1"/>
          </p:cNvSpPr>
          <p:nvPr>
            <p:ph type="title"/>
          </p:nvPr>
        </p:nvSpPr>
        <p:spPr/>
        <p:txBody>
          <a:bodyPr/>
          <a:lstStyle/>
          <a:p>
            <a:r>
              <a:rPr lang="en-US" altLang="zh-CN" sz="4800" b="1" dirty="0">
                <a:solidFill>
                  <a:srgbClr val="1C20C8"/>
                </a:solidFill>
                <a:latin typeface="Calibri" panose="020F0502020204030204" pitchFamily="34" charset="0"/>
                <a:cs typeface="Calibri" panose="020F0502020204030204" pitchFamily="34" charset="0"/>
              </a:rPr>
              <a:t>Goals</a:t>
            </a:r>
            <a:endParaRPr lang="zh-CN" altLang="en-US" dirty="0"/>
          </a:p>
        </p:txBody>
      </p:sp>
      <p:sp>
        <p:nvSpPr>
          <p:cNvPr id="3" name="内容占位符 2">
            <a:extLst>
              <a:ext uri="{FF2B5EF4-FFF2-40B4-BE49-F238E27FC236}">
                <a16:creationId xmlns:a16="http://schemas.microsoft.com/office/drawing/2014/main" id="{D1E72963-5153-466A-A793-419BCC315672}"/>
              </a:ext>
            </a:extLst>
          </p:cNvPr>
          <p:cNvSpPr>
            <a:spLocks noGrp="1"/>
          </p:cNvSpPr>
          <p:nvPr>
            <p:ph idx="1"/>
          </p:nvPr>
        </p:nvSpPr>
        <p:spPr/>
        <p:txBody>
          <a:bodyPr/>
          <a:lstStyle/>
          <a:p>
            <a:r>
              <a:rPr lang="en-US" altLang="zh-CN" dirty="0"/>
              <a:t>Maintain a bounded-sampling-ratio </a:t>
            </a:r>
          </a:p>
          <a:p>
            <a:pPr lvl="1"/>
            <a:r>
              <a:rPr lang="en-US" altLang="zh-CN" dirty="0"/>
              <a:t>achieve accurate and stable estimation of global and local triangle counting</a:t>
            </a:r>
          </a:p>
          <a:p>
            <a:r>
              <a:rPr lang="en-US" altLang="zh-CN" dirty="0"/>
              <a:t>Control Consumed memory budget </a:t>
            </a:r>
          </a:p>
          <a:p>
            <a:pPr lvl="1"/>
            <a:r>
              <a:rPr lang="en-US" altLang="zh-CN" dirty="0"/>
              <a:t>improve the efficiency of memory usage</a:t>
            </a:r>
          </a:p>
          <a:p>
            <a:r>
              <a:rPr lang="en-US" altLang="zh-CN" dirty="0"/>
              <a:t>Develop single-pass streaming algorithm</a:t>
            </a:r>
          </a:p>
          <a:p>
            <a:pPr lvl="1"/>
            <a:r>
              <a:rPr lang="en-US" altLang="zh-CN" dirty="0"/>
              <a:t>avoid multi-repeated and redundant operations</a:t>
            </a:r>
          </a:p>
          <a:p>
            <a:r>
              <a:rPr lang="en-US" altLang="zh-CN" dirty="0"/>
              <a:t>Process only in memory space</a:t>
            </a:r>
          </a:p>
          <a:p>
            <a:pPr lvl="1"/>
            <a:r>
              <a:rPr lang="en-US" altLang="zh-CN" dirty="0"/>
              <a:t>no need to access slower secondary storage</a:t>
            </a:r>
          </a:p>
          <a:p>
            <a:pPr marL="0" indent="0">
              <a:buNone/>
            </a:pPr>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Tree>
    <p:extLst>
      <p:ext uri="{BB962C8B-B14F-4D97-AF65-F5344CB8AC3E}">
        <p14:creationId xmlns:p14="http://schemas.microsoft.com/office/powerpoint/2010/main" val="19220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F9A072-5AA7-485F-98A4-F32D577CC1A4}"/>
              </a:ext>
            </a:extLst>
          </p:cNvPr>
          <p:cNvSpPr>
            <a:spLocks noGrp="1"/>
          </p:cNvSpPr>
          <p:nvPr>
            <p:ph type="title"/>
          </p:nvPr>
        </p:nvSpPr>
        <p:spPr/>
        <p:txBody>
          <a:bodyPr/>
          <a:lstStyle/>
          <a:p>
            <a:r>
              <a:rPr lang="en-US" altLang="zh-CN" b="1" dirty="0">
                <a:solidFill>
                  <a:srgbClr val="1C20C8"/>
                </a:solidFill>
                <a:latin typeface="Calibri" panose="020F0502020204030204" pitchFamily="34" charset="0"/>
                <a:cs typeface="Calibri" panose="020F0502020204030204" pitchFamily="34" charset="0"/>
              </a:rPr>
              <a:t>Overview</a:t>
            </a:r>
            <a:endParaRPr lang="zh-CN" altLang="en-US" dirty="0"/>
          </a:p>
        </p:txBody>
      </p:sp>
      <p:pic>
        <p:nvPicPr>
          <p:cNvPr id="7" name="图片 6">
            <a:extLst>
              <a:ext uri="{FF2B5EF4-FFF2-40B4-BE49-F238E27FC236}">
                <a16:creationId xmlns:a16="http://schemas.microsoft.com/office/drawing/2014/main" id="{C97C3566-9BE1-4234-8982-7A2C7FA6A6E7}"/>
              </a:ext>
            </a:extLst>
          </p:cNvPr>
          <p:cNvPicPr>
            <a:picLocks noChangeAspect="1"/>
          </p:cNvPicPr>
          <p:nvPr/>
        </p:nvPicPr>
        <p:blipFill>
          <a:blip r:embed="rId3"/>
          <a:stretch>
            <a:fillRect/>
          </a:stretch>
        </p:blipFill>
        <p:spPr>
          <a:xfrm>
            <a:off x="811467" y="1261701"/>
            <a:ext cx="7521063" cy="5038381"/>
          </a:xfrm>
          <a:prstGeom prst="rect">
            <a:avLst/>
          </a:prstGeom>
        </p:spPr>
      </p:pic>
      <p:sp>
        <p:nvSpPr>
          <p:cNvPr id="3" name="矩形 2">
            <a:extLst>
              <a:ext uri="{FF2B5EF4-FFF2-40B4-BE49-F238E27FC236}">
                <a16:creationId xmlns:a16="http://schemas.microsoft.com/office/drawing/2014/main" id="{B109693D-5795-4A32-A030-DA8767BC48EA}"/>
              </a:ext>
            </a:extLst>
          </p:cNvPr>
          <p:cNvSpPr/>
          <p:nvPr/>
        </p:nvSpPr>
        <p:spPr>
          <a:xfrm>
            <a:off x="1915599" y="6300082"/>
            <a:ext cx="5312801" cy="461665"/>
          </a:xfrm>
          <a:prstGeom prst="rect">
            <a:avLst/>
          </a:prstGeom>
        </p:spPr>
        <p:txBody>
          <a:bodyPr wrap="none">
            <a:spAutoFit/>
          </a:bodyPr>
          <a:lstStyle/>
          <a:p>
            <a:r>
              <a:rPr lang="zh-CN" altLang="en-US" sz="2400" b="1" dirty="0"/>
              <a:t>The framework of BSR-Sample &amp; BSR-TC</a:t>
            </a:r>
          </a:p>
        </p:txBody>
      </p:sp>
    </p:spTree>
    <p:extLst>
      <p:ext uri="{BB962C8B-B14F-4D97-AF65-F5344CB8AC3E}">
        <p14:creationId xmlns:p14="http://schemas.microsoft.com/office/powerpoint/2010/main" val="3913228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401FC9-D175-45E3-8AE6-8A9DC4CCD47D}"/>
              </a:ext>
            </a:extLst>
          </p:cNvPr>
          <p:cNvSpPr>
            <a:spLocks noGrp="1"/>
          </p:cNvSpPr>
          <p:nvPr>
            <p:ph type="title"/>
          </p:nvPr>
        </p:nvSpPr>
        <p:spPr/>
        <p:txBody>
          <a:bodyPr/>
          <a:lstStyle/>
          <a:p>
            <a:r>
              <a:rPr lang="en-US" altLang="zh-CN" b="1" dirty="0">
                <a:solidFill>
                  <a:srgbClr val="1C20C8"/>
                </a:solidFill>
                <a:latin typeface="Calibri" panose="020F0502020204030204" pitchFamily="34" charset="0"/>
                <a:cs typeface="Calibri" panose="020F0502020204030204" pitchFamily="34" charset="0"/>
              </a:rPr>
              <a:t>Estimation</a:t>
            </a:r>
            <a:endParaRPr lang="zh-CN" altLang="en-US" dirty="0"/>
          </a:p>
        </p:txBody>
      </p:sp>
      <p:pic>
        <p:nvPicPr>
          <p:cNvPr id="4" name="图片 3">
            <a:extLst>
              <a:ext uri="{FF2B5EF4-FFF2-40B4-BE49-F238E27FC236}">
                <a16:creationId xmlns:a16="http://schemas.microsoft.com/office/drawing/2014/main" id="{BE7FDFE8-E295-4A1E-9737-300AA0CD18F7}"/>
              </a:ext>
            </a:extLst>
          </p:cNvPr>
          <p:cNvPicPr>
            <a:picLocks noChangeAspect="1"/>
          </p:cNvPicPr>
          <p:nvPr/>
        </p:nvPicPr>
        <p:blipFill>
          <a:blip r:embed="rId3"/>
          <a:stretch>
            <a:fillRect/>
          </a:stretch>
        </p:blipFill>
        <p:spPr>
          <a:xfrm>
            <a:off x="223740" y="1235211"/>
            <a:ext cx="8696520" cy="5115600"/>
          </a:xfrm>
          <a:prstGeom prst="rect">
            <a:avLst/>
          </a:prstGeom>
        </p:spPr>
      </p:pic>
      <p:sp>
        <p:nvSpPr>
          <p:cNvPr id="5" name="矩形 4">
            <a:extLst>
              <a:ext uri="{FF2B5EF4-FFF2-40B4-BE49-F238E27FC236}">
                <a16:creationId xmlns:a16="http://schemas.microsoft.com/office/drawing/2014/main" id="{2B6B0C91-A624-4527-A224-07273D992534}"/>
              </a:ext>
            </a:extLst>
          </p:cNvPr>
          <p:cNvSpPr/>
          <p:nvPr/>
        </p:nvSpPr>
        <p:spPr>
          <a:xfrm>
            <a:off x="1915599" y="6300082"/>
            <a:ext cx="5312801" cy="461665"/>
          </a:xfrm>
          <a:prstGeom prst="rect">
            <a:avLst/>
          </a:prstGeom>
        </p:spPr>
        <p:txBody>
          <a:bodyPr wrap="none">
            <a:spAutoFit/>
          </a:bodyPr>
          <a:lstStyle/>
          <a:p>
            <a:r>
              <a:rPr lang="zh-CN" altLang="en-US" sz="2400" b="1" dirty="0"/>
              <a:t>The framework of BSR-Sample &amp; BSR-TC</a:t>
            </a:r>
          </a:p>
        </p:txBody>
      </p:sp>
    </p:spTree>
    <p:extLst>
      <p:ext uri="{BB962C8B-B14F-4D97-AF65-F5344CB8AC3E}">
        <p14:creationId xmlns:p14="http://schemas.microsoft.com/office/powerpoint/2010/main" val="3984963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401FC9-D175-45E3-8AE6-8A9DC4CCD47D}"/>
              </a:ext>
            </a:extLst>
          </p:cNvPr>
          <p:cNvSpPr>
            <a:spLocks noGrp="1"/>
          </p:cNvSpPr>
          <p:nvPr>
            <p:ph type="title"/>
          </p:nvPr>
        </p:nvSpPr>
        <p:spPr/>
        <p:txBody>
          <a:bodyPr/>
          <a:lstStyle/>
          <a:p>
            <a:r>
              <a:rPr lang="en-US" altLang="zh-CN" b="1" dirty="0">
                <a:solidFill>
                  <a:srgbClr val="1C20C8"/>
                </a:solidFill>
                <a:latin typeface="Calibri" panose="020F0502020204030204" pitchFamily="34" charset="0"/>
                <a:cs typeface="Calibri" panose="020F0502020204030204" pitchFamily="34" charset="0"/>
              </a:rPr>
              <a:t>Sampling</a:t>
            </a:r>
            <a:endParaRPr lang="zh-CN" altLang="en-US" dirty="0"/>
          </a:p>
        </p:txBody>
      </p:sp>
      <p:pic>
        <p:nvPicPr>
          <p:cNvPr id="3" name="图片 2">
            <a:extLst>
              <a:ext uri="{FF2B5EF4-FFF2-40B4-BE49-F238E27FC236}">
                <a16:creationId xmlns:a16="http://schemas.microsoft.com/office/drawing/2014/main" id="{8E40905F-93F0-4F82-9959-7B08FA269DB3}"/>
              </a:ext>
            </a:extLst>
          </p:cNvPr>
          <p:cNvPicPr>
            <a:picLocks noChangeAspect="1"/>
          </p:cNvPicPr>
          <p:nvPr/>
        </p:nvPicPr>
        <p:blipFill>
          <a:blip r:embed="rId3"/>
          <a:stretch>
            <a:fillRect/>
          </a:stretch>
        </p:blipFill>
        <p:spPr>
          <a:xfrm>
            <a:off x="220290" y="1377274"/>
            <a:ext cx="8703420" cy="5115600"/>
          </a:xfrm>
          <a:prstGeom prst="rect">
            <a:avLst/>
          </a:prstGeom>
        </p:spPr>
      </p:pic>
      <p:sp>
        <p:nvSpPr>
          <p:cNvPr id="4" name="矩形 3">
            <a:extLst>
              <a:ext uri="{FF2B5EF4-FFF2-40B4-BE49-F238E27FC236}">
                <a16:creationId xmlns:a16="http://schemas.microsoft.com/office/drawing/2014/main" id="{41F4C27B-D5FC-4480-8EE3-53F451814C07}"/>
              </a:ext>
            </a:extLst>
          </p:cNvPr>
          <p:cNvSpPr/>
          <p:nvPr/>
        </p:nvSpPr>
        <p:spPr>
          <a:xfrm>
            <a:off x="1915599" y="6300082"/>
            <a:ext cx="5312801" cy="461665"/>
          </a:xfrm>
          <a:prstGeom prst="rect">
            <a:avLst/>
          </a:prstGeom>
        </p:spPr>
        <p:txBody>
          <a:bodyPr wrap="none">
            <a:spAutoFit/>
          </a:bodyPr>
          <a:lstStyle/>
          <a:p>
            <a:r>
              <a:rPr lang="zh-CN" altLang="en-US" sz="2400" b="1" dirty="0"/>
              <a:t>The framework of BSR-Sample &amp; BSR-TC</a:t>
            </a:r>
          </a:p>
        </p:txBody>
      </p:sp>
    </p:spTree>
    <p:extLst>
      <p:ext uri="{BB962C8B-B14F-4D97-AF65-F5344CB8AC3E}">
        <p14:creationId xmlns:p14="http://schemas.microsoft.com/office/powerpoint/2010/main" val="32483912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401FC9-D175-45E3-8AE6-8A9DC4CCD47D}"/>
              </a:ext>
            </a:extLst>
          </p:cNvPr>
          <p:cNvSpPr>
            <a:spLocks noGrp="1"/>
          </p:cNvSpPr>
          <p:nvPr>
            <p:ph type="title"/>
          </p:nvPr>
        </p:nvSpPr>
        <p:spPr/>
        <p:txBody>
          <a:bodyPr/>
          <a:lstStyle/>
          <a:p>
            <a:r>
              <a:rPr lang="en-US" altLang="zh-CN" b="1" dirty="0">
                <a:solidFill>
                  <a:srgbClr val="1C20C8"/>
                </a:solidFill>
                <a:latin typeface="Calibri" panose="020F0502020204030204" pitchFamily="34" charset="0"/>
                <a:cs typeface="Calibri" panose="020F0502020204030204" pitchFamily="34" charset="0"/>
              </a:rPr>
              <a:t>Checking</a:t>
            </a:r>
            <a:endParaRPr lang="zh-CN" altLang="en-US" dirty="0"/>
          </a:p>
        </p:txBody>
      </p:sp>
      <p:pic>
        <p:nvPicPr>
          <p:cNvPr id="3" name="图片 2">
            <a:extLst>
              <a:ext uri="{FF2B5EF4-FFF2-40B4-BE49-F238E27FC236}">
                <a16:creationId xmlns:a16="http://schemas.microsoft.com/office/drawing/2014/main" id="{FDD333D3-1270-4FFA-BE94-E1789A0A4675}"/>
              </a:ext>
            </a:extLst>
          </p:cNvPr>
          <p:cNvPicPr>
            <a:picLocks noChangeAspect="1"/>
          </p:cNvPicPr>
          <p:nvPr/>
        </p:nvPicPr>
        <p:blipFill>
          <a:blip r:embed="rId3"/>
          <a:stretch>
            <a:fillRect/>
          </a:stretch>
        </p:blipFill>
        <p:spPr>
          <a:xfrm>
            <a:off x="220290" y="1377274"/>
            <a:ext cx="8703420" cy="5115600"/>
          </a:xfrm>
          <a:prstGeom prst="rect">
            <a:avLst/>
          </a:prstGeom>
        </p:spPr>
      </p:pic>
      <p:sp>
        <p:nvSpPr>
          <p:cNvPr id="4" name="矩形 3">
            <a:extLst>
              <a:ext uri="{FF2B5EF4-FFF2-40B4-BE49-F238E27FC236}">
                <a16:creationId xmlns:a16="http://schemas.microsoft.com/office/drawing/2014/main" id="{FEBE17B0-26D4-4669-93A6-BC67F12BE1E5}"/>
              </a:ext>
            </a:extLst>
          </p:cNvPr>
          <p:cNvSpPr/>
          <p:nvPr/>
        </p:nvSpPr>
        <p:spPr>
          <a:xfrm>
            <a:off x="1915599" y="6300082"/>
            <a:ext cx="5312801" cy="461665"/>
          </a:xfrm>
          <a:prstGeom prst="rect">
            <a:avLst/>
          </a:prstGeom>
        </p:spPr>
        <p:txBody>
          <a:bodyPr wrap="none">
            <a:spAutoFit/>
          </a:bodyPr>
          <a:lstStyle/>
          <a:p>
            <a:r>
              <a:rPr lang="zh-CN" altLang="en-US" sz="2400" b="1" dirty="0"/>
              <a:t>The framework of BSR-Sample &amp; BSR-TC</a:t>
            </a:r>
          </a:p>
        </p:txBody>
      </p:sp>
    </p:spTree>
    <p:extLst>
      <p:ext uri="{BB962C8B-B14F-4D97-AF65-F5344CB8AC3E}">
        <p14:creationId xmlns:p14="http://schemas.microsoft.com/office/powerpoint/2010/main" val="929401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401FC9-D175-45E3-8AE6-8A9DC4CCD47D}"/>
              </a:ext>
            </a:extLst>
          </p:cNvPr>
          <p:cNvSpPr>
            <a:spLocks noGrp="1"/>
          </p:cNvSpPr>
          <p:nvPr>
            <p:ph type="title"/>
          </p:nvPr>
        </p:nvSpPr>
        <p:spPr/>
        <p:txBody>
          <a:bodyPr/>
          <a:lstStyle/>
          <a:p>
            <a:r>
              <a:rPr lang="en-US" altLang="zh-CN" b="1" dirty="0">
                <a:solidFill>
                  <a:srgbClr val="1C20C8"/>
                </a:solidFill>
                <a:latin typeface="Calibri" panose="020F0502020204030204" pitchFamily="34" charset="0"/>
                <a:cs typeface="Calibri" panose="020F0502020204030204" pitchFamily="34" charset="0"/>
              </a:rPr>
              <a:t>Algorithms</a:t>
            </a:r>
            <a:endParaRPr lang="zh-CN" altLang="en-US" dirty="0"/>
          </a:p>
        </p:txBody>
      </p:sp>
      <p:pic>
        <p:nvPicPr>
          <p:cNvPr id="4" name="图片 3">
            <a:extLst>
              <a:ext uri="{FF2B5EF4-FFF2-40B4-BE49-F238E27FC236}">
                <a16:creationId xmlns:a16="http://schemas.microsoft.com/office/drawing/2014/main" id="{84D7E440-4F70-4C88-8749-E425B2D52833}"/>
              </a:ext>
            </a:extLst>
          </p:cNvPr>
          <p:cNvPicPr>
            <a:picLocks noChangeAspect="1"/>
          </p:cNvPicPr>
          <p:nvPr/>
        </p:nvPicPr>
        <p:blipFill>
          <a:blip r:embed="rId3"/>
          <a:stretch>
            <a:fillRect/>
          </a:stretch>
        </p:blipFill>
        <p:spPr>
          <a:xfrm>
            <a:off x="4806368" y="385591"/>
            <a:ext cx="3817018" cy="5872335"/>
          </a:xfrm>
          <a:prstGeom prst="rect">
            <a:avLst/>
          </a:prstGeom>
        </p:spPr>
      </p:pic>
      <p:pic>
        <p:nvPicPr>
          <p:cNvPr id="5" name="图片 4">
            <a:extLst>
              <a:ext uri="{FF2B5EF4-FFF2-40B4-BE49-F238E27FC236}">
                <a16:creationId xmlns:a16="http://schemas.microsoft.com/office/drawing/2014/main" id="{57D1500A-32B0-4451-879B-D70C42D045D1}"/>
              </a:ext>
            </a:extLst>
          </p:cNvPr>
          <p:cNvPicPr>
            <a:picLocks noChangeAspect="1"/>
          </p:cNvPicPr>
          <p:nvPr/>
        </p:nvPicPr>
        <p:blipFill>
          <a:blip r:embed="rId4"/>
          <a:stretch>
            <a:fillRect/>
          </a:stretch>
        </p:blipFill>
        <p:spPr>
          <a:xfrm>
            <a:off x="374067" y="1690689"/>
            <a:ext cx="3963567" cy="4567237"/>
          </a:xfrm>
          <a:prstGeom prst="rect">
            <a:avLst/>
          </a:prstGeom>
        </p:spPr>
      </p:pic>
    </p:spTree>
    <p:extLst>
      <p:ext uri="{BB962C8B-B14F-4D97-AF65-F5344CB8AC3E}">
        <p14:creationId xmlns:p14="http://schemas.microsoft.com/office/powerpoint/2010/main" val="40941355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F89B2E-AB24-4692-A76E-547E8F56448E}"/>
              </a:ext>
            </a:extLst>
          </p:cNvPr>
          <p:cNvSpPr>
            <a:spLocks noGrp="1"/>
          </p:cNvSpPr>
          <p:nvPr>
            <p:ph type="title"/>
          </p:nvPr>
        </p:nvSpPr>
        <p:spPr/>
        <p:txBody>
          <a:bodyPr/>
          <a:lstStyle/>
          <a:p>
            <a:r>
              <a:rPr lang="en-US" altLang="zh-CN" b="1" dirty="0">
                <a:latin typeface="Calibri" panose="020F0502020204030204" pitchFamily="34" charset="0"/>
                <a:cs typeface="Calibri" panose="020F0502020204030204" pitchFamily="34" charset="0"/>
              </a:rPr>
              <a:t>Outline</a:t>
            </a:r>
            <a:endParaRPr lang="zh-CN" altLang="en-US" b="1" dirty="0">
              <a:latin typeface="Calibri" panose="020F0502020204030204" pitchFamily="34" charset="0"/>
              <a:cs typeface="Calibri" panose="020F0502020204030204" pitchFamily="34" charset="0"/>
            </a:endParaRPr>
          </a:p>
        </p:txBody>
      </p:sp>
      <p:sp>
        <p:nvSpPr>
          <p:cNvPr id="3" name="内容占位符 2">
            <a:extLst>
              <a:ext uri="{FF2B5EF4-FFF2-40B4-BE49-F238E27FC236}">
                <a16:creationId xmlns:a16="http://schemas.microsoft.com/office/drawing/2014/main" id="{E21AA081-813E-4F2D-99E3-74BFCCE15626}"/>
              </a:ext>
            </a:extLst>
          </p:cNvPr>
          <p:cNvSpPr>
            <a:spLocks noGrp="1"/>
          </p:cNvSpPr>
          <p:nvPr>
            <p:ph idx="1"/>
          </p:nvPr>
        </p:nvSpPr>
        <p:spPr/>
        <p:txBody>
          <a:bodyPr/>
          <a:lstStyle/>
          <a:p>
            <a:r>
              <a:rPr lang="en-US" altLang="zh-CN" dirty="0">
                <a:latin typeface="Calibri" panose="020F0502020204030204" pitchFamily="34" charset="0"/>
                <a:cs typeface="Calibri" panose="020F0502020204030204" pitchFamily="34" charset="0"/>
              </a:rPr>
              <a:t>Introduction</a:t>
            </a:r>
          </a:p>
          <a:p>
            <a:r>
              <a:rPr lang="en-US" altLang="zh-CN" dirty="0">
                <a:latin typeface="Calibri" panose="020F0502020204030204" pitchFamily="34" charset="0"/>
                <a:cs typeface="Calibri" panose="020F0502020204030204" pitchFamily="34" charset="0"/>
              </a:rPr>
              <a:t>Related Work</a:t>
            </a:r>
          </a:p>
          <a:p>
            <a:r>
              <a:rPr lang="en-US" altLang="zh-CN" dirty="0">
                <a:latin typeface="Calibri" panose="020F0502020204030204" pitchFamily="34" charset="0"/>
                <a:cs typeface="Calibri" panose="020F0502020204030204" pitchFamily="34" charset="0"/>
              </a:rPr>
              <a:t>Proposed Method</a:t>
            </a:r>
          </a:p>
          <a:p>
            <a:r>
              <a:rPr lang="en-US" altLang="zh-CN" b="1" dirty="0">
                <a:latin typeface="Calibri" panose="020F0502020204030204" pitchFamily="34" charset="0"/>
                <a:cs typeface="Calibri" panose="020F0502020204030204" pitchFamily="34" charset="0"/>
              </a:rPr>
              <a:t>Experiments</a:t>
            </a:r>
          </a:p>
          <a:p>
            <a:r>
              <a:rPr lang="en-US" altLang="zh-CN" dirty="0">
                <a:latin typeface="Calibri" panose="020F0502020204030204" pitchFamily="34" charset="0"/>
                <a:cs typeface="Calibri" panose="020F0502020204030204" pitchFamily="34" charset="0"/>
              </a:rPr>
              <a:t>Conclusions</a:t>
            </a:r>
            <a:endParaRPr lang="zh-CN"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676058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F9A072-5AA7-485F-98A4-F32D577CC1A4}"/>
              </a:ext>
            </a:extLst>
          </p:cNvPr>
          <p:cNvSpPr>
            <a:spLocks noGrp="1"/>
          </p:cNvSpPr>
          <p:nvPr>
            <p:ph type="title"/>
          </p:nvPr>
        </p:nvSpPr>
        <p:spPr/>
        <p:txBody>
          <a:bodyPr/>
          <a:lstStyle/>
          <a:p>
            <a:r>
              <a:rPr lang="en-US" altLang="zh-CN" b="1" dirty="0">
                <a:solidFill>
                  <a:srgbClr val="1C20C8"/>
                </a:solidFill>
                <a:latin typeface="Calibri" panose="020F0502020204030204" pitchFamily="34" charset="0"/>
                <a:cs typeface="Calibri" panose="020F0502020204030204" pitchFamily="34" charset="0"/>
              </a:rPr>
              <a:t>Evaluation</a:t>
            </a:r>
            <a:endParaRPr lang="zh-CN" altLang="en-US" dirty="0"/>
          </a:p>
        </p:txBody>
      </p:sp>
      <p:sp>
        <p:nvSpPr>
          <p:cNvPr id="3" name="内容占位符 2">
            <a:extLst>
              <a:ext uri="{FF2B5EF4-FFF2-40B4-BE49-F238E27FC236}">
                <a16:creationId xmlns:a16="http://schemas.microsoft.com/office/drawing/2014/main" id="{D1E72963-5153-466A-A793-419BCC315672}"/>
              </a:ext>
            </a:extLst>
          </p:cNvPr>
          <p:cNvSpPr>
            <a:spLocks noGrp="1"/>
          </p:cNvSpPr>
          <p:nvPr>
            <p:ph idx="1"/>
          </p:nvPr>
        </p:nvSpPr>
        <p:spPr/>
        <p:txBody>
          <a:bodyPr>
            <a:normAutofit lnSpcReduction="10000"/>
          </a:bodyPr>
          <a:lstStyle/>
          <a:p>
            <a:r>
              <a:rPr lang="en-US" altLang="zh-CN" dirty="0"/>
              <a:t>Platforms</a:t>
            </a:r>
          </a:p>
          <a:p>
            <a:pPr lvl="1"/>
            <a:r>
              <a:rPr lang="en-US" altLang="zh-CN" dirty="0"/>
              <a:t>A server with Intel Xeon Gold 6148 processors</a:t>
            </a:r>
          </a:p>
          <a:p>
            <a:pPr lvl="1"/>
            <a:r>
              <a:rPr lang="en-US" altLang="zh-CN" dirty="0"/>
              <a:t>64-bit Red Hat Linux OS</a:t>
            </a:r>
          </a:p>
          <a:p>
            <a:r>
              <a:rPr lang="en-US" altLang="zh-CN" dirty="0"/>
              <a:t>Datasets</a:t>
            </a:r>
          </a:p>
          <a:p>
            <a:pPr lvl="1"/>
            <a:r>
              <a:rPr lang="en-US" altLang="zh-CN" dirty="0"/>
              <a:t>4 real-world graph datasets</a:t>
            </a:r>
          </a:p>
          <a:p>
            <a:r>
              <a:rPr lang="en-US" altLang="zh-CN" dirty="0"/>
              <a:t>Baseline</a:t>
            </a:r>
          </a:p>
          <a:p>
            <a:pPr lvl="1"/>
            <a:r>
              <a:rPr lang="en-US" altLang="zh-CN" dirty="0"/>
              <a:t>Three state-of-the-art triangle counting algorithms: WRS, MASCOT and ThinkDAcc  </a:t>
            </a:r>
          </a:p>
          <a:p>
            <a:r>
              <a:rPr lang="en-US" altLang="zh-CN" dirty="0"/>
              <a:t>Metrics</a:t>
            </a:r>
          </a:p>
          <a:p>
            <a:pPr lvl="1"/>
            <a:r>
              <a:rPr lang="en-US" altLang="zh-CN" dirty="0"/>
              <a:t>Global error</a:t>
            </a:r>
          </a:p>
          <a:p>
            <a:pPr lvl="1"/>
            <a:r>
              <a:rPr lang="en-US" altLang="zh-CN" dirty="0"/>
              <a:t>Local Error</a:t>
            </a:r>
          </a:p>
        </p:txBody>
      </p:sp>
      <p:pic>
        <p:nvPicPr>
          <p:cNvPr id="4" name="图片 3">
            <a:extLst>
              <a:ext uri="{FF2B5EF4-FFF2-40B4-BE49-F238E27FC236}">
                <a16:creationId xmlns:a16="http://schemas.microsoft.com/office/drawing/2014/main" id="{1920875E-5F82-41ED-9F6A-71C405CD1FC8}"/>
              </a:ext>
            </a:extLst>
          </p:cNvPr>
          <p:cNvPicPr>
            <a:picLocks noChangeAspect="1"/>
          </p:cNvPicPr>
          <p:nvPr/>
        </p:nvPicPr>
        <p:blipFill>
          <a:blip r:embed="rId3"/>
          <a:stretch>
            <a:fillRect/>
          </a:stretch>
        </p:blipFill>
        <p:spPr>
          <a:xfrm>
            <a:off x="3797300" y="681037"/>
            <a:ext cx="5075237" cy="1325563"/>
          </a:xfrm>
          <a:prstGeom prst="rect">
            <a:avLst/>
          </a:prstGeom>
        </p:spPr>
      </p:pic>
      <p:pic>
        <p:nvPicPr>
          <p:cNvPr id="5" name="图片 4">
            <a:extLst>
              <a:ext uri="{FF2B5EF4-FFF2-40B4-BE49-F238E27FC236}">
                <a16:creationId xmlns:a16="http://schemas.microsoft.com/office/drawing/2014/main" id="{C315C3C6-7664-4652-BFB9-F3D808E9C445}"/>
              </a:ext>
            </a:extLst>
          </p:cNvPr>
          <p:cNvPicPr>
            <a:picLocks noChangeAspect="1"/>
          </p:cNvPicPr>
          <p:nvPr/>
        </p:nvPicPr>
        <p:blipFill>
          <a:blip r:embed="rId4"/>
          <a:stretch>
            <a:fillRect/>
          </a:stretch>
        </p:blipFill>
        <p:spPr>
          <a:xfrm>
            <a:off x="4380771" y="5002216"/>
            <a:ext cx="2143125" cy="838200"/>
          </a:xfrm>
          <a:prstGeom prst="rect">
            <a:avLst/>
          </a:prstGeom>
        </p:spPr>
      </p:pic>
      <p:pic>
        <p:nvPicPr>
          <p:cNvPr id="6" name="图片 5">
            <a:extLst>
              <a:ext uri="{FF2B5EF4-FFF2-40B4-BE49-F238E27FC236}">
                <a16:creationId xmlns:a16="http://schemas.microsoft.com/office/drawing/2014/main" id="{DC5DD8CE-8F1B-4A93-B961-07766F12A81F}"/>
              </a:ext>
            </a:extLst>
          </p:cNvPr>
          <p:cNvPicPr>
            <a:picLocks noChangeAspect="1"/>
          </p:cNvPicPr>
          <p:nvPr/>
        </p:nvPicPr>
        <p:blipFill>
          <a:blip r:embed="rId5"/>
          <a:stretch>
            <a:fillRect/>
          </a:stretch>
        </p:blipFill>
        <p:spPr>
          <a:xfrm>
            <a:off x="3452812" y="5883274"/>
            <a:ext cx="4295775" cy="857250"/>
          </a:xfrm>
          <a:prstGeom prst="rect">
            <a:avLst/>
          </a:prstGeom>
        </p:spPr>
      </p:pic>
    </p:spTree>
    <p:extLst>
      <p:ext uri="{BB962C8B-B14F-4D97-AF65-F5344CB8AC3E}">
        <p14:creationId xmlns:p14="http://schemas.microsoft.com/office/powerpoint/2010/main" val="19843219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F9A072-5AA7-485F-98A4-F32D577CC1A4}"/>
              </a:ext>
            </a:extLst>
          </p:cNvPr>
          <p:cNvSpPr>
            <a:spLocks noGrp="1"/>
          </p:cNvSpPr>
          <p:nvPr>
            <p:ph type="title"/>
          </p:nvPr>
        </p:nvSpPr>
        <p:spPr/>
        <p:txBody>
          <a:bodyPr/>
          <a:lstStyle/>
          <a:p>
            <a:r>
              <a:rPr lang="en-US" altLang="zh-CN" b="1" dirty="0">
                <a:solidFill>
                  <a:srgbClr val="1C20C8"/>
                </a:solidFill>
                <a:latin typeface="Calibri" panose="020F0502020204030204" pitchFamily="34" charset="0"/>
                <a:cs typeface="Calibri" panose="020F0502020204030204" pitchFamily="34" charset="0"/>
              </a:rPr>
              <a:t>Scalability</a:t>
            </a:r>
            <a:endParaRPr lang="zh-CN" altLang="en-US" dirty="0"/>
          </a:p>
        </p:txBody>
      </p:sp>
      <p:sp>
        <p:nvSpPr>
          <p:cNvPr id="3" name="内容占位符 2">
            <a:extLst>
              <a:ext uri="{FF2B5EF4-FFF2-40B4-BE49-F238E27FC236}">
                <a16:creationId xmlns:a16="http://schemas.microsoft.com/office/drawing/2014/main" id="{D1E72963-5153-466A-A793-419BCC315672}"/>
              </a:ext>
            </a:extLst>
          </p:cNvPr>
          <p:cNvSpPr>
            <a:spLocks noGrp="1"/>
          </p:cNvSpPr>
          <p:nvPr>
            <p:ph idx="1"/>
          </p:nvPr>
        </p:nvSpPr>
        <p:spPr/>
        <p:txBody>
          <a:bodyPr/>
          <a:lstStyle/>
          <a:p>
            <a:r>
              <a:rPr lang="en-US" altLang="zh-CN" dirty="0"/>
              <a:t>Maintain accuracy over evolving graph streams</a:t>
            </a:r>
          </a:p>
          <a:p>
            <a:pPr lvl="1"/>
            <a:r>
              <a:rPr lang="en-US" altLang="zh-CN" dirty="0"/>
              <a:t>BSR-TC has unbiased estimates</a:t>
            </a:r>
          </a:p>
          <a:p>
            <a:pPr lvl="1"/>
            <a:r>
              <a:rPr lang="en-US" altLang="zh-CN" dirty="0"/>
              <a:t>BSR-TC keeps stable</a:t>
            </a:r>
            <a:endParaRPr lang="zh-CN" altLang="en-US" dirty="0"/>
          </a:p>
        </p:txBody>
      </p:sp>
      <p:pic>
        <p:nvPicPr>
          <p:cNvPr id="5" name="图片 4">
            <a:extLst>
              <a:ext uri="{FF2B5EF4-FFF2-40B4-BE49-F238E27FC236}">
                <a16:creationId xmlns:a16="http://schemas.microsoft.com/office/drawing/2014/main" id="{72416FF2-F694-4423-9C2B-AA183D3D637D}"/>
              </a:ext>
            </a:extLst>
          </p:cNvPr>
          <p:cNvPicPr>
            <a:picLocks noChangeAspect="1"/>
          </p:cNvPicPr>
          <p:nvPr/>
        </p:nvPicPr>
        <p:blipFill>
          <a:blip r:embed="rId3"/>
          <a:stretch>
            <a:fillRect/>
          </a:stretch>
        </p:blipFill>
        <p:spPr>
          <a:xfrm>
            <a:off x="1562100" y="3136080"/>
            <a:ext cx="5715000" cy="3356794"/>
          </a:xfrm>
          <a:prstGeom prst="rect">
            <a:avLst/>
          </a:prstGeom>
        </p:spPr>
      </p:pic>
    </p:spTree>
    <p:extLst>
      <p:ext uri="{BB962C8B-B14F-4D97-AF65-F5344CB8AC3E}">
        <p14:creationId xmlns:p14="http://schemas.microsoft.com/office/powerpoint/2010/main" val="32936774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F9A072-5AA7-485F-98A4-F32D577CC1A4}"/>
              </a:ext>
            </a:extLst>
          </p:cNvPr>
          <p:cNvSpPr>
            <a:spLocks noGrp="1"/>
          </p:cNvSpPr>
          <p:nvPr>
            <p:ph type="title"/>
          </p:nvPr>
        </p:nvSpPr>
        <p:spPr/>
        <p:txBody>
          <a:bodyPr/>
          <a:lstStyle/>
          <a:p>
            <a:r>
              <a:rPr lang="en-US" altLang="zh-CN" b="1" dirty="0">
                <a:solidFill>
                  <a:srgbClr val="1C20C8"/>
                </a:solidFill>
                <a:latin typeface="Calibri" panose="020F0502020204030204" pitchFamily="34" charset="0"/>
                <a:cs typeface="Calibri" panose="020F0502020204030204" pitchFamily="34" charset="0"/>
              </a:rPr>
              <a:t>Accuracy</a:t>
            </a:r>
            <a:endParaRPr lang="zh-CN" altLang="en-US" dirty="0"/>
          </a:p>
        </p:txBody>
      </p:sp>
      <p:sp>
        <p:nvSpPr>
          <p:cNvPr id="3" name="内容占位符 2">
            <a:extLst>
              <a:ext uri="{FF2B5EF4-FFF2-40B4-BE49-F238E27FC236}">
                <a16:creationId xmlns:a16="http://schemas.microsoft.com/office/drawing/2014/main" id="{D1E72963-5153-466A-A793-419BCC315672}"/>
              </a:ext>
            </a:extLst>
          </p:cNvPr>
          <p:cNvSpPr>
            <a:spLocks noGrp="1"/>
          </p:cNvSpPr>
          <p:nvPr>
            <p:ph idx="1"/>
          </p:nvPr>
        </p:nvSpPr>
        <p:spPr/>
        <p:txBody>
          <a:bodyPr/>
          <a:lstStyle/>
          <a:p>
            <a:r>
              <a:rPr lang="en-US" altLang="zh-CN" dirty="0"/>
              <a:t>Estimation Errors</a:t>
            </a:r>
          </a:p>
          <a:p>
            <a:pPr lvl="1"/>
            <a:r>
              <a:rPr lang="en-US" altLang="zh-CN" dirty="0"/>
              <a:t>BSR-TC discovers orders of magnitude more triangles</a:t>
            </a:r>
          </a:p>
          <a:p>
            <a:pPr lvl="1"/>
            <a:r>
              <a:rPr lang="en-US" altLang="zh-CN" dirty="0"/>
              <a:t>BSR-TC reduces both global and local errors</a:t>
            </a:r>
            <a:endParaRPr lang="zh-CN" altLang="en-US" dirty="0"/>
          </a:p>
        </p:txBody>
      </p:sp>
      <p:pic>
        <p:nvPicPr>
          <p:cNvPr id="4" name="图片 3">
            <a:extLst>
              <a:ext uri="{FF2B5EF4-FFF2-40B4-BE49-F238E27FC236}">
                <a16:creationId xmlns:a16="http://schemas.microsoft.com/office/drawing/2014/main" id="{70361B0D-85D8-48F1-9C3F-B8B6408B5AF3}"/>
              </a:ext>
            </a:extLst>
          </p:cNvPr>
          <p:cNvPicPr>
            <a:picLocks noChangeAspect="1"/>
          </p:cNvPicPr>
          <p:nvPr/>
        </p:nvPicPr>
        <p:blipFill>
          <a:blip r:embed="rId3"/>
          <a:stretch>
            <a:fillRect/>
          </a:stretch>
        </p:blipFill>
        <p:spPr>
          <a:xfrm>
            <a:off x="846041" y="3416299"/>
            <a:ext cx="3371850" cy="2895600"/>
          </a:xfrm>
          <a:prstGeom prst="rect">
            <a:avLst/>
          </a:prstGeom>
        </p:spPr>
      </p:pic>
      <p:pic>
        <p:nvPicPr>
          <p:cNvPr id="6" name="图片 5">
            <a:extLst>
              <a:ext uri="{FF2B5EF4-FFF2-40B4-BE49-F238E27FC236}">
                <a16:creationId xmlns:a16="http://schemas.microsoft.com/office/drawing/2014/main" id="{DF610C13-F1D0-43A2-A54E-227DB2E893C0}"/>
              </a:ext>
            </a:extLst>
          </p:cNvPr>
          <p:cNvPicPr>
            <a:picLocks noChangeAspect="1"/>
          </p:cNvPicPr>
          <p:nvPr/>
        </p:nvPicPr>
        <p:blipFill>
          <a:blip r:embed="rId4"/>
          <a:stretch>
            <a:fillRect/>
          </a:stretch>
        </p:blipFill>
        <p:spPr>
          <a:xfrm>
            <a:off x="4435281" y="3429000"/>
            <a:ext cx="4457893" cy="2747963"/>
          </a:xfrm>
          <a:prstGeom prst="rect">
            <a:avLst/>
          </a:prstGeom>
        </p:spPr>
      </p:pic>
    </p:spTree>
    <p:extLst>
      <p:ext uri="{BB962C8B-B14F-4D97-AF65-F5344CB8AC3E}">
        <p14:creationId xmlns:p14="http://schemas.microsoft.com/office/powerpoint/2010/main" val="39690704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F89B2E-AB24-4692-A76E-547E8F56448E}"/>
              </a:ext>
            </a:extLst>
          </p:cNvPr>
          <p:cNvSpPr>
            <a:spLocks noGrp="1"/>
          </p:cNvSpPr>
          <p:nvPr>
            <p:ph type="title"/>
          </p:nvPr>
        </p:nvSpPr>
        <p:spPr/>
        <p:txBody>
          <a:bodyPr/>
          <a:lstStyle/>
          <a:p>
            <a:r>
              <a:rPr lang="en-US" altLang="zh-CN" b="1" dirty="0">
                <a:latin typeface="Calibri" panose="020F0502020204030204" pitchFamily="34" charset="0"/>
                <a:cs typeface="Calibri" panose="020F0502020204030204" pitchFamily="34" charset="0"/>
              </a:rPr>
              <a:t>Outline</a:t>
            </a:r>
            <a:endParaRPr lang="zh-CN" altLang="en-US" b="1" dirty="0">
              <a:latin typeface="Calibri" panose="020F0502020204030204" pitchFamily="34" charset="0"/>
              <a:cs typeface="Calibri" panose="020F0502020204030204" pitchFamily="34" charset="0"/>
            </a:endParaRPr>
          </a:p>
        </p:txBody>
      </p:sp>
      <p:sp>
        <p:nvSpPr>
          <p:cNvPr id="3" name="内容占位符 2">
            <a:extLst>
              <a:ext uri="{FF2B5EF4-FFF2-40B4-BE49-F238E27FC236}">
                <a16:creationId xmlns:a16="http://schemas.microsoft.com/office/drawing/2014/main" id="{E21AA081-813E-4F2D-99E3-74BFCCE15626}"/>
              </a:ext>
            </a:extLst>
          </p:cNvPr>
          <p:cNvSpPr>
            <a:spLocks noGrp="1"/>
          </p:cNvSpPr>
          <p:nvPr>
            <p:ph idx="1"/>
          </p:nvPr>
        </p:nvSpPr>
        <p:spPr/>
        <p:txBody>
          <a:bodyPr/>
          <a:lstStyle/>
          <a:p>
            <a:r>
              <a:rPr lang="en-US" altLang="zh-CN" dirty="0">
                <a:latin typeface="Calibri" panose="020F0502020204030204" pitchFamily="34" charset="0"/>
                <a:cs typeface="Calibri" panose="020F0502020204030204" pitchFamily="34" charset="0"/>
              </a:rPr>
              <a:t>Introduction</a:t>
            </a:r>
          </a:p>
          <a:p>
            <a:r>
              <a:rPr lang="en-US" altLang="zh-CN" dirty="0">
                <a:latin typeface="Calibri" panose="020F0502020204030204" pitchFamily="34" charset="0"/>
                <a:cs typeface="Calibri" panose="020F0502020204030204" pitchFamily="34" charset="0"/>
              </a:rPr>
              <a:t>Related Work</a:t>
            </a:r>
          </a:p>
          <a:p>
            <a:r>
              <a:rPr lang="en-US" altLang="zh-CN" dirty="0">
                <a:latin typeface="Calibri" panose="020F0502020204030204" pitchFamily="34" charset="0"/>
                <a:cs typeface="Calibri" panose="020F0502020204030204" pitchFamily="34" charset="0"/>
              </a:rPr>
              <a:t>Proposed Method</a:t>
            </a:r>
          </a:p>
          <a:p>
            <a:r>
              <a:rPr lang="en-US" altLang="zh-CN" dirty="0">
                <a:latin typeface="Calibri" panose="020F0502020204030204" pitchFamily="34" charset="0"/>
                <a:cs typeface="Calibri" panose="020F0502020204030204" pitchFamily="34" charset="0"/>
              </a:rPr>
              <a:t>Experiments</a:t>
            </a:r>
          </a:p>
          <a:p>
            <a:r>
              <a:rPr lang="en-US" altLang="zh-CN" b="1" dirty="0">
                <a:latin typeface="Calibri" panose="020F0502020204030204" pitchFamily="34" charset="0"/>
                <a:cs typeface="Calibri" panose="020F0502020204030204" pitchFamily="34" charset="0"/>
              </a:rPr>
              <a:t>Conclusions</a:t>
            </a:r>
            <a:endParaRPr lang="zh-CN" alt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425634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09AE32-0413-4B68-8E38-8645E31993EB}"/>
              </a:ext>
            </a:extLst>
          </p:cNvPr>
          <p:cNvSpPr>
            <a:spLocks noGrp="1"/>
          </p:cNvSpPr>
          <p:nvPr>
            <p:ph type="title"/>
          </p:nvPr>
        </p:nvSpPr>
        <p:spPr/>
        <p:txBody>
          <a:bodyPr/>
          <a:lstStyle/>
          <a:p>
            <a:r>
              <a:rPr lang="en-US" altLang="zh-CN" b="1" dirty="0">
                <a:solidFill>
                  <a:srgbClr val="1C20C8"/>
                </a:solidFill>
                <a:latin typeface="Calibri" panose="020F0502020204030204" pitchFamily="34" charset="0"/>
                <a:cs typeface="Calibri" panose="020F0502020204030204" pitchFamily="34" charset="0"/>
              </a:rPr>
              <a:t>Conclusions</a:t>
            </a:r>
            <a:endParaRPr lang="zh-CN" altLang="en-US" dirty="0"/>
          </a:p>
        </p:txBody>
      </p:sp>
      <p:sp>
        <p:nvSpPr>
          <p:cNvPr id="3" name="内容占位符 2">
            <a:extLst>
              <a:ext uri="{FF2B5EF4-FFF2-40B4-BE49-F238E27FC236}">
                <a16:creationId xmlns:a16="http://schemas.microsoft.com/office/drawing/2014/main" id="{91C0D29E-0B51-434D-9E57-C149CB68402F}"/>
              </a:ext>
            </a:extLst>
          </p:cNvPr>
          <p:cNvSpPr>
            <a:spLocks noGrp="1"/>
          </p:cNvSpPr>
          <p:nvPr>
            <p:ph idx="1"/>
          </p:nvPr>
        </p:nvSpPr>
        <p:spPr/>
        <p:txBody>
          <a:bodyPr/>
          <a:lstStyle/>
          <a:p>
            <a:r>
              <a:rPr lang="en-US" altLang="zh-CN" dirty="0"/>
              <a:t>Method:  novel and general sampling</a:t>
            </a:r>
          </a:p>
          <a:p>
            <a:pPr lvl="1"/>
            <a:r>
              <a:rPr lang="en-US" altLang="zh-CN" dirty="0"/>
              <a:t>Adaptively resampling</a:t>
            </a:r>
          </a:p>
          <a:p>
            <a:pPr lvl="1"/>
            <a:r>
              <a:rPr lang="en-US" altLang="zh-CN" dirty="0"/>
              <a:t>Sampling ratio is always ≥ user-specified one</a:t>
            </a:r>
          </a:p>
          <a:p>
            <a:pPr lvl="1"/>
            <a:r>
              <a:rPr lang="en-US" altLang="zh-CN" dirty="0"/>
              <a:t>without any prior knowledge about graph streams</a:t>
            </a:r>
          </a:p>
          <a:p>
            <a:r>
              <a:rPr lang="en-US" altLang="zh-CN" dirty="0"/>
              <a:t>Algorithms: global and local triangle counting</a:t>
            </a:r>
          </a:p>
          <a:p>
            <a:pPr lvl="1"/>
            <a:r>
              <a:rPr lang="en-US" altLang="zh-CN" dirty="0"/>
              <a:t>BSR-Sample(Bounded-Sampling-Ratio Sample)</a:t>
            </a:r>
          </a:p>
          <a:p>
            <a:pPr lvl="1"/>
            <a:r>
              <a:rPr lang="en-US" altLang="zh-CN" dirty="0"/>
              <a:t>BSR-TC(Bounded-Sampling-Ratio for triangle counting)</a:t>
            </a:r>
          </a:p>
          <a:p>
            <a:r>
              <a:rPr lang="en-US" altLang="zh-CN" dirty="0"/>
              <a:t>Analyses: scalability and accuracy</a:t>
            </a:r>
          </a:p>
          <a:p>
            <a:pPr lvl="1"/>
            <a:r>
              <a:rPr lang="en-US" altLang="zh-CN" dirty="0"/>
              <a:t>BSR-TC has accurate and unbiased results</a:t>
            </a:r>
          </a:p>
          <a:p>
            <a:endParaRPr lang="zh-CN" altLang="en-US" dirty="0"/>
          </a:p>
        </p:txBody>
      </p:sp>
    </p:spTree>
    <p:extLst>
      <p:ext uri="{BB962C8B-B14F-4D97-AF65-F5344CB8AC3E}">
        <p14:creationId xmlns:p14="http://schemas.microsoft.com/office/powerpoint/2010/main" val="1248527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6EA0738A-D1B4-4079-BA88-A15557851D3E}"/>
              </a:ext>
            </a:extLst>
          </p:cNvPr>
          <p:cNvSpPr/>
          <p:nvPr/>
        </p:nvSpPr>
        <p:spPr>
          <a:xfrm>
            <a:off x="2851272" y="2661452"/>
            <a:ext cx="3441455" cy="1323439"/>
          </a:xfrm>
          <a:prstGeom prst="rect">
            <a:avLst/>
          </a:prstGeom>
        </p:spPr>
        <p:txBody>
          <a:bodyPr wrap="none">
            <a:spAutoFit/>
          </a:bodyPr>
          <a:lstStyle/>
          <a:p>
            <a:r>
              <a:rPr lang="en-US" altLang="zh-CN" sz="8000" b="1" dirty="0">
                <a:solidFill>
                  <a:srgbClr val="FF0000"/>
                </a:solidFill>
                <a:effectLst>
                  <a:glow rad="228600">
                    <a:schemeClr val="accent3">
                      <a:satMod val="175000"/>
                      <a:alpha val="40000"/>
                    </a:schemeClr>
                  </a:glow>
                </a:effectLst>
              </a:rPr>
              <a:t>Thanks</a:t>
            </a:r>
            <a:r>
              <a:rPr lang="en-US" altLang="zh-CN" sz="6000" b="1" dirty="0">
                <a:solidFill>
                  <a:srgbClr val="FF0000"/>
                </a:solidFill>
                <a:effectLst>
                  <a:glow rad="228600">
                    <a:schemeClr val="accent3">
                      <a:satMod val="175000"/>
                      <a:alpha val="40000"/>
                    </a:schemeClr>
                  </a:glow>
                </a:effectLst>
              </a:rPr>
              <a:t>!</a:t>
            </a:r>
            <a:endParaRPr lang="zh-CN" altLang="en-US" sz="6000" b="1" dirty="0">
              <a:solidFill>
                <a:srgbClr val="FF0000"/>
              </a:solidFill>
              <a:effectLst>
                <a:glow rad="228600">
                  <a:schemeClr val="accent3">
                    <a:satMod val="175000"/>
                    <a:alpha val="40000"/>
                  </a:schemeClr>
                </a:glow>
              </a:effectLst>
            </a:endParaRPr>
          </a:p>
        </p:txBody>
      </p:sp>
    </p:spTree>
    <p:extLst>
      <p:ext uri="{BB962C8B-B14F-4D97-AF65-F5344CB8AC3E}">
        <p14:creationId xmlns:p14="http://schemas.microsoft.com/office/powerpoint/2010/main" val="3854894074"/>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4712</TotalTime>
  <Words>1943</Words>
  <Application>Microsoft Macintosh PowerPoint</Application>
  <PresentationFormat>On-screen Show (4:3)</PresentationFormat>
  <Paragraphs>297</Paragraphs>
  <Slides>25</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等线</vt:lpstr>
      <vt:lpstr>Arial</vt:lpstr>
      <vt:lpstr>Calibri</vt:lpstr>
      <vt:lpstr>Calibri Light</vt:lpstr>
      <vt:lpstr>Wingdings</vt:lpstr>
      <vt:lpstr>Office 主题​​</vt:lpstr>
      <vt:lpstr>Triangle Counting by Adaptively Resampling over Evolving Graph Streams</vt:lpstr>
      <vt:lpstr>Outline</vt:lpstr>
      <vt:lpstr>Triangle Counting in a Graph</vt:lpstr>
      <vt:lpstr>Applications of Triangle Counting</vt:lpstr>
      <vt:lpstr>Evolving Graph Streams</vt:lpstr>
      <vt:lpstr>Challenges in Streaming Graphs</vt:lpstr>
      <vt:lpstr>Outline</vt:lpstr>
      <vt:lpstr>Related Work</vt:lpstr>
      <vt:lpstr>Reservoir-based method</vt:lpstr>
      <vt:lpstr>Bernoulli-based method</vt:lpstr>
      <vt:lpstr>Outline</vt:lpstr>
      <vt:lpstr>Observations</vt:lpstr>
      <vt:lpstr>Goals</vt:lpstr>
      <vt:lpstr>Overview</vt:lpstr>
      <vt:lpstr>Estimation</vt:lpstr>
      <vt:lpstr>Sampling</vt:lpstr>
      <vt:lpstr>Checking</vt:lpstr>
      <vt:lpstr>Algorithms</vt:lpstr>
      <vt:lpstr>Outline</vt:lpstr>
      <vt:lpstr>Evaluation</vt:lpstr>
      <vt:lpstr>Scalability</vt:lpstr>
      <vt:lpstr>Accuracy</vt:lpstr>
      <vt:lpstr>Outline</vt:lpstr>
      <vt:lpstr>Conclusions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wayne</dc:creator>
  <cp:lastModifiedBy>Wei Xuan</cp:lastModifiedBy>
  <cp:revision>197</cp:revision>
  <dcterms:created xsi:type="dcterms:W3CDTF">2021-05-06T10:33:14Z</dcterms:created>
  <dcterms:modified xsi:type="dcterms:W3CDTF">2026-10-22T07:14:02Z</dcterms:modified>
</cp:coreProperties>
</file>