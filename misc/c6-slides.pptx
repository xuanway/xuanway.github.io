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076137826" r:id="rId2"/>
    <p:sldId id="2076137844" r:id="rId3"/>
    <p:sldId id="2076137849" r:id="rId4"/>
    <p:sldId id="286" r:id="rId5"/>
    <p:sldId id="2076137827" r:id="rId6"/>
    <p:sldId id="2076137843" r:id="rId7"/>
    <p:sldId id="282" r:id="rId8"/>
    <p:sldId id="2076137838" r:id="rId9"/>
    <p:sldId id="2076137845" r:id="rId10"/>
    <p:sldId id="2076137828" r:id="rId11"/>
    <p:sldId id="2076137829" r:id="rId12"/>
    <p:sldId id="2076137850" r:id="rId13"/>
    <p:sldId id="278" r:id="rId14"/>
    <p:sldId id="279" r:id="rId15"/>
    <p:sldId id="2076137846" r:id="rId16"/>
    <p:sldId id="283" r:id="rId17"/>
    <p:sldId id="2076137840" r:id="rId18"/>
    <p:sldId id="2076137841" r:id="rId19"/>
    <p:sldId id="273" r:id="rId20"/>
    <p:sldId id="2076137852" r:id="rId21"/>
    <p:sldId id="264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sE9G6uR8KrU/AF2fTgae8awS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A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2759" autoAdjust="0"/>
    <p:restoredTop sz="79184" autoAdjust="0"/>
  </p:normalViewPr>
  <p:slideViewPr>
    <p:cSldViewPr snapToGrid="0" showGuides="1">
      <p:cViewPr varScale="1">
        <p:scale>
          <a:sx n="100" d="100"/>
          <a:sy n="100" d="100"/>
        </p:scale>
        <p:origin x="56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F6F577C-7205-A553-DD2D-625D1C61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AF08EE2-DAB6-A915-E943-E981B622B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DF48010-83A9-E24F-50A0-F89AA1DF1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240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EC1874E-BBD3-9B32-75DA-AFFEE67E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003588B-5EEB-30B8-2748-4B93F58CF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9470A123-C931-6923-1E88-21ED1575B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1939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297FA3E-430A-E7BB-2582-C041C3937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E5661FD7-E6AF-6F97-1641-28452DA55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AA97177-154E-D5D3-6950-3922B91ED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098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50579CB-30C7-D0F5-6D0A-3B2BF51D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68BD19B8-854B-869E-2D78-41A8518BA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972582D-6409-995F-A474-11A3C1B0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800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3D4537B-A0A5-F56F-669F-73FAB22B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4247CC6D-4322-1B72-85B6-D5641536E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34DE11F-685E-9EE2-668D-FB881D333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080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3D4083B-910D-4B06-8FB2-7DFBD342D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D1B860B5-A8B8-58B3-4550-661B12383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0E11B83-BDAA-D1A1-4B02-D55342C76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6468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6C2D60F-B8F8-39C3-A767-2557B627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99C87B76-E913-556C-B154-AC2158A12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EB7F657-6554-6284-9B74-E436D75BA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5307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9AE97744-FDAD-DBD6-9349-0F1C4D40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227B0F26-06CE-DDCF-D3EA-323474DD5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2D889A6-981C-4571-5614-4D56912DD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85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F7E3E8C-221E-77EF-AF5E-F8F22F81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4A57FA8-5350-E600-1388-9CDCB23B5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ECBD00A-A3E2-EEE3-FCFE-CAB9AEC6C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3857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850257A-9C04-3575-9A1F-09DC5E373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840E386-C695-EE1F-8556-2C6B80C56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507C4B0-C515-C50A-9695-67D8C5C9E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0624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E8FD0CE-1437-F00C-A0FE-8DCE0551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3D97FB22-3978-4ED2-E28A-7AD0F7D6D3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ED954E0-F3F8-2D9E-BC7D-0612A819F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5245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CBC98F1-8015-6035-C6EE-9B08F04E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E9F496D7-FCFE-5EAF-51B7-46835B5C2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7D4D2B0-D72E-0573-7404-13F5A39F3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43269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58EA9C3-2EDF-3FC8-3655-D4772FC6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499527A0-3F3F-46FE-22CD-A77B33598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E38C336-5835-B855-C424-9DE58E97A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53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520D8FD-EC27-FD80-1859-D990D291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4462A68-E2ED-400D-D2EC-D3DEB0398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8F75D20-4856-34BB-D895-1025EF1DA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707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307C8CE-57F9-4F3C-0216-C1DA3B99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CCA8F16-3AB7-A016-DBF8-BF6F2F0D4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A62D92E-E19C-D878-4970-A999CFBAA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451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ED5293C-242D-9844-040F-438E55CD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32CC24C-4B21-D92B-E251-DF8A3B190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8343004-53F0-3250-83DA-919928BF3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6590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BD8945ED-1F40-C828-A488-E16B726A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FB3FFFFF-FFFC-5554-7D6D-970F8AD1B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94A3A40-2FBE-BB35-4A05-329F2C0B8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786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DD88D349-3C48-8BC3-4768-A32E18F6E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A687910-7346-B346-2E56-AE536D161B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E5E755F-1E9C-8475-3741-D654ED410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8297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CE88AA09-8B8D-89C1-6940-401005DE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CE5C8936-520B-09FE-34B3-39E78CEF3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4F77E10-E36B-221E-C692-74A0A3A93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0036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170EF2E-2B4A-A46B-BE9E-B850319D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40D5B845-6228-7D6D-826E-14811409E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>
            <a:extLst>
              <a:ext uri="{FF2B5EF4-FFF2-40B4-BE49-F238E27FC236}">
                <a16:creationId xmlns:a16="http://schemas.microsoft.com/office/drawing/2014/main" id="{99AC7427-BBB7-0281-C278-72EB4A64E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833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 descr="A blue and purple background with orange line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1524000" y="76763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524000" y="324730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546" y="4903071"/>
            <a:ext cx="4272916" cy="1793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1" descr="A logo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65896" y="6089190"/>
            <a:ext cx="3886200" cy="54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431158" y="2418654"/>
            <a:ext cx="5866901" cy="23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" name="Google Shape;24;p12" descr="A logo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5896" y="6089190"/>
            <a:ext cx="3886200" cy="54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546" y="4903071"/>
            <a:ext cx="4272916" cy="1793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4" descr="A black and pink rectang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5808"/>
          <a:stretch/>
        </p:blipFill>
        <p:spPr>
          <a:xfrm flipH="1">
            <a:off x="0" y="0"/>
            <a:ext cx="12192000" cy="18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395221" y="0"/>
            <a:ext cx="114335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26" y="5784981"/>
            <a:ext cx="1074540" cy="107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Speaker">
  <p:cSld name="SingleSpeak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6888971" y="1741470"/>
            <a:ext cx="437680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>
            <a:spLocks noGrp="1"/>
          </p:cNvSpPr>
          <p:nvPr>
            <p:ph type="pic" idx="2"/>
          </p:nvPr>
        </p:nvSpPr>
        <p:spPr>
          <a:xfrm>
            <a:off x="1290181" y="1171834"/>
            <a:ext cx="4988954" cy="433967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6"/>
          <p:cNvSpPr txBox="1">
            <a:spLocks noGrp="1"/>
          </p:cNvSpPr>
          <p:nvPr>
            <p:ph type="body" idx="1"/>
          </p:nvPr>
        </p:nvSpPr>
        <p:spPr>
          <a:xfrm>
            <a:off x="6888971" y="3341670"/>
            <a:ext cx="4376803" cy="76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16"/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3"/>
          </p:nvPr>
        </p:nvSpPr>
        <p:spPr>
          <a:xfrm>
            <a:off x="6888971" y="4176450"/>
            <a:ext cx="2741613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26" y="5784981"/>
            <a:ext cx="1074540" cy="107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>
            <a:spLocks noGrp="1"/>
          </p:cNvSpPr>
          <p:nvPr>
            <p:ph type="pic" idx="2"/>
          </p:nvPr>
        </p:nvSpPr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0" descr="A black and pink rectang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15808"/>
          <a:stretch/>
        </p:blipFill>
        <p:spPr>
          <a:xfrm flipH="1">
            <a:off x="0" y="-1"/>
            <a:ext cx="12192000" cy="18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2" name="Google Shape;8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826" y="5784981"/>
            <a:ext cx="1074540" cy="10745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608B06-7884-03F6-AEC5-EB2121DD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A4D919-C23F-A83A-F037-F16B3DAEE494}"/>
              </a:ext>
            </a:extLst>
          </p:cNvPr>
          <p:cNvSpPr/>
          <p:nvPr/>
        </p:nvSpPr>
        <p:spPr>
          <a:xfrm>
            <a:off x="-222356" y="2838"/>
            <a:ext cx="12636709" cy="13381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D712B8D3-A96F-6735-C18D-BDB6EAF773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296132"/>
            <a:ext cx="12192000" cy="169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 sz="4400" dirty="0"/>
              <a:t>SeDA: </a:t>
            </a:r>
            <a:r>
              <a:rPr lang="en-US" sz="4400" u="sng" dirty="0"/>
              <a:t>Se</a:t>
            </a:r>
            <a:r>
              <a:rPr lang="en-US" sz="4400" dirty="0"/>
              <a:t>cure and Efficient </a:t>
            </a:r>
            <a:r>
              <a:rPr lang="en-US" sz="4400" u="sng" dirty="0"/>
              <a:t>D</a:t>
            </a:r>
            <a:r>
              <a:rPr lang="en-US" sz="4400" dirty="0"/>
              <a:t>NN </a:t>
            </a:r>
            <a:r>
              <a:rPr lang="en-US" sz="4400" u="sng" dirty="0"/>
              <a:t>A</a:t>
            </a:r>
            <a:r>
              <a:rPr lang="en-US" sz="4400" dirty="0"/>
              <a:t>ccelerators with Hardware/Software Synergy</a:t>
            </a:r>
            <a:endParaRPr sz="4400" dirty="0"/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6E1AF7C0-47D7-CFB5-DB6A-27499A6D2D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76003"/>
            <a:ext cx="9144000" cy="862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>
                <a:solidFill>
                  <a:srgbClr val="FF0000"/>
                </a:solidFill>
              </a:rPr>
              <a:t>Wei Xuan</a:t>
            </a:r>
            <a:r>
              <a:rPr lang="en-US" dirty="0"/>
              <a:t>, Zhongrui Wang, Lang Feng, Ning Lin, Zihao Xuan, </a:t>
            </a:r>
            <a:r>
              <a:rPr lang="en-US" dirty="0" err="1"/>
              <a:t>Rongliang</a:t>
            </a:r>
            <a:r>
              <a:rPr lang="en-US" dirty="0"/>
              <a:t> Fu, Tsung-Yi Ho, Yuzhong Jiao and Luhong Liang</a:t>
            </a:r>
            <a:endParaRPr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624670-AC3B-B6A9-9ADF-8EAAABA95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1301" y="266330"/>
            <a:ext cx="2860803" cy="689350"/>
          </a:xfrm>
          <a:prstGeom prst="rect">
            <a:avLst/>
          </a:prstGeom>
        </p:spPr>
      </p:pic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8F2B95CA-9070-4649-D1FF-524DE5E31A9A}"/>
              </a:ext>
            </a:extLst>
          </p:cNvPr>
          <p:cNvSpPr txBox="1">
            <a:spLocks/>
          </p:cNvSpPr>
          <p:nvPr/>
        </p:nvSpPr>
        <p:spPr>
          <a:xfrm>
            <a:off x="3051495" y="4664281"/>
            <a:ext cx="6089009" cy="44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25 June 2025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390DB6-8A71-6DFC-223C-46BA793E8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4662" y="157956"/>
            <a:ext cx="1856038" cy="90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542BC77-7FD5-4441-5BC4-279BA57D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14C3ED-8474-E2C3-0A19-3B6E524407D3}"/>
              </a:ext>
            </a:extLst>
          </p:cNvPr>
          <p:cNvSpPr txBox="1"/>
          <p:nvPr/>
        </p:nvSpPr>
        <p:spPr>
          <a:xfrm>
            <a:off x="1002888" y="2223402"/>
            <a:ext cx="377558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Introduction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Motivation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Solution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53067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0B9A782-C299-4E06-00CB-EDCAB8ADF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91F6E57-67DD-3DAC-98FA-22339C88B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Secure DNN Accelerators is important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EA1B186-B43E-8F00-F8A5-E189589EFE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1C5DDA-D7C0-FDFF-8B6A-6E248CB6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58" r="6004"/>
          <a:stretch/>
        </p:blipFill>
        <p:spPr>
          <a:xfrm>
            <a:off x="3196166" y="1880693"/>
            <a:ext cx="2850833" cy="2132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232982-306C-755A-3A51-F97EDE6C5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003" y="1880693"/>
            <a:ext cx="2850833" cy="2138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9002F7-A99E-4D40-3BA1-FB1797AF8B9F}"/>
              </a:ext>
            </a:extLst>
          </p:cNvPr>
          <p:cNvSpPr txBox="1"/>
          <p:nvPr/>
        </p:nvSpPr>
        <p:spPr>
          <a:xfrm>
            <a:off x="9093840" y="2285024"/>
            <a:ext cx="309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(3) Healthcare cybersecurity threats are escalating, endangering patient data, medical devices, and operations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21B09-7CEF-0C15-5A1E-1094B7B8639C}"/>
              </a:ext>
            </a:extLst>
          </p:cNvPr>
          <p:cNvSpPr txBox="1"/>
          <p:nvPr/>
        </p:nvSpPr>
        <p:spPr>
          <a:xfrm>
            <a:off x="314187" y="2060422"/>
            <a:ext cx="28329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(1) Autonomous vehicles are susceptible to cyberattacks that can disrupt critical functions and pose serious safety risks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D0BBC-D9F6-E7C2-332D-D3A00C442937}"/>
              </a:ext>
            </a:extLst>
          </p:cNvPr>
          <p:cNvSpPr txBox="1"/>
          <p:nvPr/>
        </p:nvSpPr>
        <p:spPr>
          <a:xfrm>
            <a:off x="314187" y="4682017"/>
            <a:ext cx="2832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Font typeface="Arial"/>
              <a:buNone/>
            </a:pPr>
            <a:r>
              <a:rPr lang="en-US" sz="1600" dirty="0"/>
              <a:t>(2) Maliciously hacked AI robots may harm human interests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A4DEFE-3616-9CCA-DD71-6571CB6CA0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04" r="5404"/>
          <a:stretch/>
        </p:blipFill>
        <p:spPr>
          <a:xfrm>
            <a:off x="3196164" y="4100465"/>
            <a:ext cx="2850834" cy="21321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ACB4C0-734B-90C8-80E7-0D5BC6389A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34" r="12740"/>
          <a:stretch/>
        </p:blipFill>
        <p:spPr>
          <a:xfrm>
            <a:off x="6145003" y="4100466"/>
            <a:ext cx="2850834" cy="21321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1273A8-1945-510B-5595-FAC64C01C7C6}"/>
              </a:ext>
            </a:extLst>
          </p:cNvPr>
          <p:cNvSpPr txBox="1"/>
          <p:nvPr/>
        </p:nvSpPr>
        <p:spPr>
          <a:xfrm>
            <a:off x="9093840" y="4558906"/>
            <a:ext cx="30258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(4) Malicious data alterations by attackers undermine financial market fairness and investor trust</a:t>
            </a:r>
          </a:p>
        </p:txBody>
      </p:sp>
    </p:spTree>
    <p:extLst>
      <p:ext uri="{BB962C8B-B14F-4D97-AF65-F5344CB8AC3E}">
        <p14:creationId xmlns:p14="http://schemas.microsoft.com/office/powerpoint/2010/main" val="3351108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A64A113-2F14-5925-7B97-AC46E67A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6A4F606-03C7-6811-2ADE-E60592048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Memory Protection Mechanism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B98A69C-F678-085F-3B39-1C1B67D704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42E97-E605-A97C-08FA-735C143A1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954" y="3065536"/>
            <a:ext cx="9136092" cy="2999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5F310E-E1A3-914A-21ED-F54366DAFC4B}"/>
              </a:ext>
            </a:extLst>
          </p:cNvPr>
          <p:cNvSpPr txBox="1"/>
          <p:nvPr/>
        </p:nvSpPr>
        <p:spPr>
          <a:xfrm>
            <a:off x="276045" y="1892104"/>
            <a:ext cx="78257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HK" sz="2400" b="1" dirty="0">
                <a:latin typeface="Arial" panose="020B0604020202020204" pitchFamily="34" charset="0"/>
                <a:cs typeface="Arial" panose="020B0604020202020204" pitchFamily="34" charset="0"/>
              </a:rPr>
              <a:t>Goal: </a:t>
            </a:r>
            <a:r>
              <a:rPr lang="en-HK" sz="2400" dirty="0">
                <a:latin typeface="Arial" panose="020B0604020202020204" pitchFamily="34" charset="0"/>
                <a:cs typeface="Arial" panose="020B0604020202020204" pitchFamily="34" charset="0"/>
              </a:rPr>
              <a:t>augment traditional unsecure DNN accelerators with the capability to cryptographic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46920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EA9CEE4C-4B3F-3338-F5BD-C2FD5AA7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7BFC451-519C-84D4-C7E0-D7B20865D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lnSpc>
                <a:spcPct val="114000"/>
              </a:lnSpc>
            </a:pPr>
            <a:r>
              <a:rPr lang="en-US" altLang="zh-CN" sz="4400" dirty="0">
                <a:latin typeface="+mn-lt"/>
              </a:rPr>
              <a:t>Authentication En/Decryption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A1359E3D-B544-57CF-E77B-21BEDDA537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F44C86C0-6E78-2D86-AB08-D68ADF10B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29" y="1579588"/>
            <a:ext cx="5846899" cy="1849412"/>
          </a:xfrm>
          <a:prstGeom prst="rect">
            <a:avLst/>
          </a:prstGeom>
        </p:spPr>
      </p:pic>
      <p:sp>
        <p:nvSpPr>
          <p:cNvPr id="4" name="矩形 8">
            <a:extLst>
              <a:ext uri="{FF2B5EF4-FFF2-40B4-BE49-F238E27FC236}">
                <a16:creationId xmlns:a16="http://schemas.microsoft.com/office/drawing/2014/main" id="{0ACAFA60-5AA6-A2AF-E96C-049F8C61A859}"/>
              </a:ext>
            </a:extLst>
          </p:cNvPr>
          <p:cNvSpPr/>
          <p:nvPr/>
        </p:nvSpPr>
        <p:spPr>
          <a:xfrm>
            <a:off x="2355912" y="3499935"/>
            <a:ext cx="2736647" cy="369332"/>
          </a:xfrm>
          <a:prstGeom prst="rect">
            <a:avLst/>
          </a:prstGeom>
          <a:solidFill>
            <a:srgbClr val="FBE5D6"/>
          </a:solidFill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Confidentiality Protection</a:t>
            </a:r>
          </a:p>
        </p:txBody>
      </p:sp>
      <p:sp>
        <p:nvSpPr>
          <p:cNvPr id="5" name="矩形 9">
            <a:extLst>
              <a:ext uri="{FF2B5EF4-FFF2-40B4-BE49-F238E27FC236}">
                <a16:creationId xmlns:a16="http://schemas.microsoft.com/office/drawing/2014/main" id="{A6EA0DF4-98FF-F835-AE59-2A366CB824B4}"/>
              </a:ext>
            </a:extLst>
          </p:cNvPr>
          <p:cNvSpPr/>
          <p:nvPr/>
        </p:nvSpPr>
        <p:spPr>
          <a:xfrm>
            <a:off x="2601588" y="6253095"/>
            <a:ext cx="2210862" cy="369332"/>
          </a:xfrm>
          <a:prstGeom prst="rect">
            <a:avLst/>
          </a:prstGeom>
          <a:solidFill>
            <a:srgbClr val="FBE5D6"/>
          </a:solidFill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Integrity Verification</a:t>
            </a:r>
          </a:p>
        </p:txBody>
      </p:sp>
      <p:pic>
        <p:nvPicPr>
          <p:cNvPr id="6" name="图片 13">
            <a:extLst>
              <a:ext uri="{FF2B5EF4-FFF2-40B4-BE49-F238E27FC236}">
                <a16:creationId xmlns:a16="http://schemas.microsoft.com/office/drawing/2014/main" id="{40DCEDF9-E53C-0C49-DEC3-E02E5FC6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861" y="1744960"/>
            <a:ext cx="3101148" cy="3258833"/>
          </a:xfrm>
          <a:prstGeom prst="rect">
            <a:avLst/>
          </a:prstGeom>
        </p:spPr>
      </p:pic>
      <p:sp>
        <p:nvSpPr>
          <p:cNvPr id="7" name="箭头: 下 14">
            <a:extLst>
              <a:ext uri="{FF2B5EF4-FFF2-40B4-BE49-F238E27FC236}">
                <a16:creationId xmlns:a16="http://schemas.microsoft.com/office/drawing/2014/main" id="{2D666F67-569E-03F8-9021-D065611BF073}"/>
              </a:ext>
            </a:extLst>
          </p:cNvPr>
          <p:cNvSpPr/>
          <p:nvPr/>
        </p:nvSpPr>
        <p:spPr>
          <a:xfrm rot="17629059">
            <a:off x="6728926" y="2996589"/>
            <a:ext cx="321972" cy="802728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箭头: 下 15">
            <a:extLst>
              <a:ext uri="{FF2B5EF4-FFF2-40B4-BE49-F238E27FC236}">
                <a16:creationId xmlns:a16="http://schemas.microsoft.com/office/drawing/2014/main" id="{439D72A2-C614-7A5A-2A2A-3483A5349755}"/>
              </a:ext>
            </a:extLst>
          </p:cNvPr>
          <p:cNvSpPr/>
          <p:nvPr/>
        </p:nvSpPr>
        <p:spPr>
          <a:xfrm rot="16200000">
            <a:off x="6099469" y="4487550"/>
            <a:ext cx="321972" cy="900914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7ACD564A-14B4-30CC-0C54-5083F5C67A76}"/>
              </a:ext>
            </a:extLst>
          </p:cNvPr>
          <p:cNvSpPr/>
          <p:nvPr/>
        </p:nvSpPr>
        <p:spPr>
          <a:xfrm>
            <a:off x="5676117" y="54053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Confidentiality protection (CP) and Integrity Verification (IV) both involve the current data block's PA and VN.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Introduce memory overhead for MACs.</a:t>
            </a:r>
          </a:p>
        </p:txBody>
      </p:sp>
      <p:pic>
        <p:nvPicPr>
          <p:cNvPr id="10" name="图片 10">
            <a:extLst>
              <a:ext uri="{FF2B5EF4-FFF2-40B4-BE49-F238E27FC236}">
                <a16:creationId xmlns:a16="http://schemas.microsoft.com/office/drawing/2014/main" id="{09540A1D-7F7E-6FD3-B89C-E355D987B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864" y="4027277"/>
            <a:ext cx="2741155" cy="22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9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142714E-E7A2-C6CA-015F-A1A91BCA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E47A4B-DC04-6B45-28BD-13DB1B0980C1}"/>
              </a:ext>
            </a:extLst>
          </p:cNvPr>
          <p:cNvSpPr txBox="1"/>
          <p:nvPr/>
        </p:nvSpPr>
        <p:spPr>
          <a:xfrm>
            <a:off x="1002888" y="2223402"/>
            <a:ext cx="377558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Motivation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Solution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18791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B02B9A8-A8E5-B173-D840-22412575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06CC079-B4BB-5582-2842-BCC2135845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Hardware Overhead of Security 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CE161FC-4B1D-189E-6D6E-875D7D45C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CE6A0-C91A-412C-9E16-1665F34E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8" t="1956" r="-1" b="8586"/>
          <a:stretch/>
        </p:blipFill>
        <p:spPr>
          <a:xfrm>
            <a:off x="8856475" y="3829481"/>
            <a:ext cx="2578002" cy="22438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75C925-4B74-7767-F780-AA0D9F303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37" y="4161280"/>
            <a:ext cx="4400550" cy="1981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259070-1BB9-43C6-AE90-75BF53ED0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3921" y="3735951"/>
            <a:ext cx="2626222" cy="23954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1137DD-D478-1BDB-DCBC-B89430027946}"/>
              </a:ext>
            </a:extLst>
          </p:cNvPr>
          <p:cNvSpPr txBox="1"/>
          <p:nvPr/>
        </p:nvSpPr>
        <p:spPr>
          <a:xfrm>
            <a:off x="312350" y="1556355"/>
            <a:ext cx="552773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Secure DNN accelerators can </a:t>
            </a:r>
            <a:r>
              <a:rPr lang="en-US" sz="2000" b="1" dirty="0"/>
              <a:t>model</a:t>
            </a:r>
            <a:r>
              <a:rPr lang="en-US" sz="2000" dirty="0"/>
              <a:t> cryptographic and authentication operations as an additional constraint on off-chip DRAM bandwidth [1]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dirty="0"/>
              <a:t>Effective memory bandwidth </a:t>
            </a:r>
            <a:r>
              <a:rPr lang="en-US" sz="2000" dirty="0"/>
              <a:t>= Min (original memory bandwidth, memory protection bandwidth)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95F6C-6490-BAE8-CD3F-1918C9B620AB}"/>
              </a:ext>
            </a:extLst>
          </p:cNvPr>
          <p:cNvSpPr txBox="1"/>
          <p:nvPr/>
        </p:nvSpPr>
        <p:spPr>
          <a:xfrm>
            <a:off x="1203983" y="6449219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[1] </a:t>
            </a:r>
            <a:r>
              <a:rPr lang="en-US" sz="1200" dirty="0" err="1"/>
              <a:t>SecureLoop</a:t>
            </a:r>
            <a:r>
              <a:rPr lang="en-US" sz="1200" dirty="0"/>
              <a:t>: Design Space Exploration of Secure DNN Accelerators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3B6AC2-946D-0182-A464-69173F7A7D4B}"/>
              </a:ext>
            </a:extLst>
          </p:cNvPr>
          <p:cNvSpPr txBox="1"/>
          <p:nvPr/>
        </p:nvSpPr>
        <p:spPr>
          <a:xfrm>
            <a:off x="1040245" y="5947396"/>
            <a:ext cx="3910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​Diagram of effective memory bandwidth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E880D0-4CC0-A61C-4114-1A0F1BE584EE}"/>
              </a:ext>
            </a:extLst>
          </p:cNvPr>
          <p:cNvSpPr txBox="1"/>
          <p:nvPr/>
        </p:nvSpPr>
        <p:spPr>
          <a:xfrm>
            <a:off x="5556564" y="6099798"/>
            <a:ext cx="2827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buFont typeface="Arial"/>
              <a:buNone/>
            </a:pPr>
            <a:r>
              <a:rPr lang="en-HK" sz="1600" dirty="0"/>
              <a:t>Roofline model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B0144-A82D-79FE-7542-C10DE1EF24C9}"/>
              </a:ext>
            </a:extLst>
          </p:cNvPr>
          <p:cNvSpPr txBox="1"/>
          <p:nvPr/>
        </p:nvSpPr>
        <p:spPr>
          <a:xfrm>
            <a:off x="5884137" y="1786848"/>
            <a:ext cx="59446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Analysis via the roofline model reveals that the </a:t>
            </a:r>
            <a:r>
              <a:rPr lang="en-US" sz="2000" b="1" dirty="0"/>
              <a:t>bandwidth of security protection unit </a:t>
            </a:r>
            <a:r>
              <a:rPr lang="en-US" sz="2000" dirty="0"/>
              <a:t>could constrain the performance of secure DNN accelerators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Parallel hardware encryption incurs overhead to meet bandwidth needs of accelerators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6BACDB-9120-A316-BF2B-C54F82499089}"/>
              </a:ext>
            </a:extLst>
          </p:cNvPr>
          <p:cNvSpPr txBox="1"/>
          <p:nvPr/>
        </p:nvSpPr>
        <p:spPr>
          <a:xfrm>
            <a:off x="8459145" y="6071358"/>
            <a:ext cx="3054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1600" dirty="0"/>
              <a:t>Serial &amp; parallel hardware implement</a:t>
            </a:r>
          </a:p>
        </p:txBody>
      </p:sp>
    </p:spTree>
    <p:extLst>
      <p:ext uri="{BB962C8B-B14F-4D97-AF65-F5344CB8AC3E}">
        <p14:creationId xmlns:p14="http://schemas.microsoft.com/office/powerpoint/2010/main" val="324758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338EDD7-06BC-2DA8-FAEC-3174BFA4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91F5E3B-1BE0-95F1-A46C-66857790C2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Extra Off-chip Memory Access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284870F-05FC-66D0-CEE2-4AD77D0CBE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100762-63F8-F112-133F-05CB47A68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664" y="2658772"/>
            <a:ext cx="4067910" cy="3050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EE0323-E3FD-74B8-D08D-5F9A073FF132}"/>
              </a:ext>
            </a:extLst>
          </p:cNvPr>
          <p:cNvCxnSpPr>
            <a:cxnSpLocks/>
          </p:cNvCxnSpPr>
          <p:nvPr/>
        </p:nvCxnSpPr>
        <p:spPr>
          <a:xfrm flipH="1">
            <a:off x="10925071" y="3200243"/>
            <a:ext cx="215503" cy="31016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E5372A-215D-5A94-B884-39485E6B1698}"/>
              </a:ext>
            </a:extLst>
          </p:cNvPr>
          <p:cNvSpPr txBox="1"/>
          <p:nvPr/>
        </p:nvSpPr>
        <p:spPr>
          <a:xfrm>
            <a:off x="11140574" y="3037318"/>
            <a:ext cx="69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29.5%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8B69AA3-D4BE-8971-BFF6-A9D8E86EABD1}"/>
              </a:ext>
            </a:extLst>
          </p:cNvPr>
          <p:cNvCxnSpPr>
            <a:cxnSpLocks/>
          </p:cNvCxnSpPr>
          <p:nvPr/>
        </p:nvCxnSpPr>
        <p:spPr>
          <a:xfrm flipH="1">
            <a:off x="11016088" y="3508020"/>
            <a:ext cx="175682" cy="141034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854E8C-FB1A-BD94-BE31-94ADB27335A4}"/>
              </a:ext>
            </a:extLst>
          </p:cNvPr>
          <p:cNvSpPr txBox="1"/>
          <p:nvPr/>
        </p:nvSpPr>
        <p:spPr>
          <a:xfrm>
            <a:off x="11140573" y="3341277"/>
            <a:ext cx="69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28.6%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F10D1-30E4-0A61-919A-A06779075260}"/>
              </a:ext>
            </a:extLst>
          </p:cNvPr>
          <p:cNvSpPr txBox="1"/>
          <p:nvPr/>
        </p:nvSpPr>
        <p:spPr>
          <a:xfrm>
            <a:off x="7580619" y="5799695"/>
            <a:ext cx="3435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Memory access overhead of security metadata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9FA93-677D-408C-B3B4-3D098E6F7075}"/>
              </a:ext>
            </a:extLst>
          </p:cNvPr>
          <p:cNvSpPr txBox="1"/>
          <p:nvPr/>
        </p:nvSpPr>
        <p:spPr>
          <a:xfrm>
            <a:off x="821674" y="1717192"/>
            <a:ext cx="6094562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1800" dirty="0"/>
              <a:t>Costly off-chip memory access overhead due to </a:t>
            </a:r>
            <a:r>
              <a:rPr lang="en-US" sz="1800" b="1" dirty="0"/>
              <a:t>security metadata</a:t>
            </a:r>
            <a:r>
              <a:rPr lang="en-US" sz="1800" dirty="0"/>
              <a:t>:</a:t>
            </a:r>
          </a:p>
          <a:p>
            <a:pPr marL="285750" lvl="3" indent="-285750">
              <a:lnSpc>
                <a:spcPct val="9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Memory traffic increases 29.5% on average</a:t>
            </a:r>
          </a:p>
          <a:p>
            <a:pPr marL="285750" lvl="3" indent="-285750">
              <a:lnSpc>
                <a:spcPct val="9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Performance decreases 28.6% on average</a:t>
            </a:r>
          </a:p>
        </p:txBody>
      </p:sp>
      <p:pic>
        <p:nvPicPr>
          <p:cNvPr id="3" name="图片 13">
            <a:extLst>
              <a:ext uri="{FF2B5EF4-FFF2-40B4-BE49-F238E27FC236}">
                <a16:creationId xmlns:a16="http://schemas.microsoft.com/office/drawing/2014/main" id="{F9F76612-11C9-F0E8-F01A-90392A451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410" y="2918130"/>
            <a:ext cx="3101148" cy="32588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178127-69A8-B3D6-6BB0-A02A406F2AF1}"/>
              </a:ext>
            </a:extLst>
          </p:cNvPr>
          <p:cNvSpPr/>
          <p:nvPr/>
        </p:nvSpPr>
        <p:spPr>
          <a:xfrm>
            <a:off x="3032760" y="4844499"/>
            <a:ext cx="655320" cy="13375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0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2FA3AD0-419B-D7CD-9AEE-EEABCA21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3DF59B-9B05-9768-B20D-A1FAC74BC2D6}"/>
              </a:ext>
            </a:extLst>
          </p:cNvPr>
          <p:cNvSpPr txBox="1"/>
          <p:nvPr/>
        </p:nvSpPr>
        <p:spPr>
          <a:xfrm>
            <a:off x="1002888" y="2223402"/>
            <a:ext cx="377558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Motivation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Solution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777702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B84C253C-E5C0-04EA-1FF2-08E21AEA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D008D5E-C6AF-1C69-60F0-459112867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Key Insight 1: Multi-OTP Generation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952D04F-D968-A883-9ACC-4F7AE8C6819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F602A2-BB84-B50A-7405-6766BF4B0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536" y="3073778"/>
            <a:ext cx="5246928" cy="2296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29FEDB-8342-486F-513A-02B2947475BA}"/>
              </a:ext>
            </a:extLst>
          </p:cNvPr>
          <p:cNvSpPr txBox="1"/>
          <p:nvPr/>
        </p:nvSpPr>
        <p:spPr>
          <a:xfrm>
            <a:off x="560167" y="1602641"/>
            <a:ext cx="65919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High hardware resources </a:t>
            </a:r>
            <a:r>
              <a:rPr lang="en-US" sz="1600" dirty="0"/>
              <a:t>for confidentiality protection to provide high </a:t>
            </a:r>
            <a:r>
              <a:rPr lang="en-US" sz="1600" dirty="0" err="1"/>
              <a:t>en</a:t>
            </a:r>
            <a:r>
              <a:rPr lang="en-US" sz="1600" dirty="0"/>
              <a:t>/decryption bandwidth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Shared OTP incurs </a:t>
            </a:r>
            <a:r>
              <a:rPr lang="en-US" sz="1600" b="1" dirty="0"/>
              <a:t>Single-Element Collision Attack (SECA)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FEBDE-A318-AA1F-0031-3F7F64132890}"/>
              </a:ext>
            </a:extLst>
          </p:cNvPr>
          <p:cNvSpPr txBox="1"/>
          <p:nvPr/>
        </p:nvSpPr>
        <p:spPr>
          <a:xfrm>
            <a:off x="3856146" y="5629467"/>
            <a:ext cx="4479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/>
                </a:solidFill>
              </a:rPr>
              <a:t>Minimal hardware overhead, supporting multiple distinct OTPs generation</a:t>
            </a:r>
          </a:p>
        </p:txBody>
      </p:sp>
    </p:spTree>
    <p:extLst>
      <p:ext uri="{BB962C8B-B14F-4D97-AF65-F5344CB8AC3E}">
        <p14:creationId xmlns:p14="http://schemas.microsoft.com/office/powerpoint/2010/main" val="267195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C947845-FD63-C293-C099-3756B6F8E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8E89144-30E0-B3F2-FA30-D68C12E6B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Key Insight 2: Cross-layer Authentication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50D37A6-2FE0-83C1-47F0-6E33D18369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1A91-4E14-9068-48EB-92E8EF140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88" y="3377240"/>
            <a:ext cx="5992516" cy="2632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3997C3-473D-378F-2E70-26E9757C71DA}"/>
              </a:ext>
            </a:extLst>
          </p:cNvPr>
          <p:cNvSpPr txBox="1"/>
          <p:nvPr/>
        </p:nvSpPr>
        <p:spPr>
          <a:xfrm>
            <a:off x="560167" y="1602641"/>
            <a:ext cx="65919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High hardware resources </a:t>
            </a:r>
            <a:r>
              <a:rPr lang="en-US" sz="1600" dirty="0"/>
              <a:t>for confidentiality protection to provide high </a:t>
            </a:r>
            <a:r>
              <a:rPr lang="en-US" sz="1600" dirty="0" err="1"/>
              <a:t>en</a:t>
            </a:r>
            <a:r>
              <a:rPr lang="en-US" sz="1600" dirty="0"/>
              <a:t>/decryption bandwidth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Shared OTP incurs </a:t>
            </a:r>
            <a:r>
              <a:rPr lang="en-US" sz="1600" b="1" dirty="0"/>
              <a:t>Single-Element Collision Attack (SECA)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Cross-layer different tiling patterns incurs error of integrity check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9E18F9-F8B2-88F7-2370-EE19BB6BDD9A}"/>
              </a:ext>
            </a:extLst>
          </p:cNvPr>
          <p:cNvSpPr txBox="1"/>
          <p:nvPr/>
        </p:nvSpPr>
        <p:spPr>
          <a:xfrm>
            <a:off x="4223651" y="6009312"/>
            <a:ext cx="4479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6"/>
                </a:solidFill>
              </a:rPr>
              <a:t>Cross-layer authentication considering different tiling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69777-3AC0-D7B3-8BAB-F2EF40073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790" y="2473789"/>
            <a:ext cx="2305641" cy="1806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B02A0-9464-B58D-8E1F-6D3D96372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455" y="4385027"/>
            <a:ext cx="2278976" cy="18069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A9E4F6-110C-B51E-96CD-7F2CAE0B006A}"/>
              </a:ext>
            </a:extLst>
          </p:cNvPr>
          <p:cNvSpPr txBox="1"/>
          <p:nvPr/>
        </p:nvSpPr>
        <p:spPr>
          <a:xfrm>
            <a:off x="8468579" y="1913919"/>
            <a:ext cx="3154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Different tiling patterns for the same matrix</a:t>
            </a:r>
          </a:p>
        </p:txBody>
      </p:sp>
    </p:spTree>
    <p:extLst>
      <p:ext uri="{BB962C8B-B14F-4D97-AF65-F5344CB8AC3E}">
        <p14:creationId xmlns:p14="http://schemas.microsoft.com/office/powerpoint/2010/main" val="382101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D05C4138-D3B8-FBA0-894A-16202615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3380F8A-B62D-13FF-4C1F-2E6068D50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altLang="zh-CN" dirty="0"/>
              <a:t>Overview of This Work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1C75FEB-AA1C-3461-9DA3-5A2A598801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C346B-8B89-E576-6F8C-7162EF24E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86" y="1516133"/>
            <a:ext cx="10509504" cy="3274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A58DDC-3C6D-8254-7916-B527AC11E520}"/>
              </a:ext>
            </a:extLst>
          </p:cNvPr>
          <p:cNvSpPr txBox="1"/>
          <p:nvPr/>
        </p:nvSpPr>
        <p:spPr>
          <a:xfrm>
            <a:off x="1140431" y="5151546"/>
            <a:ext cx="1005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(a) The Crypt Engine optimizes hardware by XORing keys from the AES Engine’s </a:t>
            </a:r>
            <a:r>
              <a:rPr lang="en-US" sz="1600" dirty="0" err="1"/>
              <a:t>KeyExpansion</a:t>
            </a:r>
            <a:r>
              <a:rPr lang="en-US" sz="1600" dirty="0"/>
              <a:t> module with OPT, creating bandwidth-sensitive encryption granularity and reducing hardware overhead compared to using multiple AES Engines.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(b) The </a:t>
            </a:r>
            <a:r>
              <a:rPr lang="en-US" sz="1600" dirty="0" err="1"/>
              <a:t>Integ</a:t>
            </a:r>
            <a:r>
              <a:rPr lang="en-US" sz="1600" dirty="0"/>
              <a:t> Engine optimizes software by analyzing overlapping tiles within a layer and patterns across layers to determine the optimal block size, </a:t>
            </a:r>
            <a:r>
              <a:rPr lang="en-US" sz="1600" dirty="0" err="1"/>
              <a:t>optBlk</a:t>
            </a:r>
            <a:r>
              <a:rPr lang="en-US" sz="1600" dirty="0"/>
              <a:t>, for integrity verification. </a:t>
            </a:r>
          </a:p>
        </p:txBody>
      </p:sp>
    </p:spTree>
    <p:extLst>
      <p:ext uri="{BB962C8B-B14F-4D97-AF65-F5344CB8AC3E}">
        <p14:creationId xmlns:p14="http://schemas.microsoft.com/office/powerpoint/2010/main" val="241952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62A2C7E-0E9C-A8C8-E507-8C8EDF70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D0FADBD-BFB2-E9E8-5FD0-313D3B3CC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Bandwidth-aware Encryption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0D1D2FF-D54D-A3D2-C58C-C11134785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40651" y="4871021"/>
            <a:ext cx="8660302" cy="164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Leverage the inherent features of AES-CTR encryption mode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Use just a single AES engine and a minimal number of XOR logic gates to generate multiple distinct OTPs at </a:t>
            </a:r>
            <a:r>
              <a:rPr lang="en-US" sz="1600" dirty="0" err="1"/>
              <a:t>KeyExpansion</a:t>
            </a:r>
            <a:endParaRPr lang="en-US" sz="1600" dirty="0"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Provide high effective bandwidth while avoid SECA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3C92ED5B-BB3F-A568-994C-7B51AC061A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2BFEC-F76D-BC99-9DF8-F4B52D7F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60" y="1599694"/>
            <a:ext cx="3331770" cy="2855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A31208-8B7F-4C22-BB4B-C7169CBCC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867" y="2437086"/>
            <a:ext cx="6205253" cy="180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41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EF163921-2F04-9ED5-2949-CC20553F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FD317F0-228C-F570-C602-957868D42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Multi-level Integrity Verification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C336E88E-6C97-7947-8192-6FA71A5906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046CD4-5406-4585-B66B-F80B4201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54" y="1547790"/>
            <a:ext cx="4095534" cy="2847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AB8CC-3720-A382-42A1-5D7F46649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103" y="2387320"/>
            <a:ext cx="6066312" cy="1967678"/>
          </a:xfrm>
          <a:prstGeom prst="rect">
            <a:avLst/>
          </a:prstGeom>
        </p:spPr>
      </p:pic>
      <p:sp>
        <p:nvSpPr>
          <p:cNvPr id="5" name="Google Shape;110;p4">
            <a:extLst>
              <a:ext uri="{FF2B5EF4-FFF2-40B4-BE49-F238E27FC236}">
                <a16:creationId xmlns:a16="http://schemas.microsoft.com/office/drawing/2014/main" id="{DA40C7D3-9B92-39E5-5A3C-D6F5B6E43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65849" y="4696341"/>
            <a:ext cx="8660302" cy="1712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Explore optimal block (</a:t>
            </a:r>
            <a:r>
              <a:rPr lang="en-US" sz="1600" dirty="0" err="1"/>
              <a:t>optBlk</a:t>
            </a:r>
            <a:r>
              <a:rPr lang="en-US" sz="1600" dirty="0"/>
              <a:t>) of authentication using </a:t>
            </a:r>
            <a:r>
              <a:rPr lang="en-US" sz="1600" dirty="0" err="1"/>
              <a:t>Secureloop</a:t>
            </a:r>
            <a:r>
              <a:rPr lang="en-US" sz="1600" dirty="0"/>
              <a:t> [1], considering diverse inter-layer tiling patterns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Calculate message authentication code of each </a:t>
            </a:r>
            <a:r>
              <a:rPr lang="en-US" sz="1600" dirty="0" err="1"/>
              <a:t>optBlk</a:t>
            </a:r>
            <a:r>
              <a:rPr lang="en-US" sz="1600" dirty="0"/>
              <a:t> (</a:t>
            </a:r>
            <a:r>
              <a:rPr lang="en-US" sz="1600" dirty="0" err="1"/>
              <a:t>optBlk</a:t>
            </a:r>
            <a:r>
              <a:rPr lang="en-US" sz="1600" dirty="0"/>
              <a:t> MAC)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Aggregate</a:t>
            </a:r>
            <a:r>
              <a:rPr lang="zh-CN" altLang="en-US" sz="1600" dirty="0"/>
              <a:t> </a:t>
            </a:r>
            <a:r>
              <a:rPr lang="en-US" altLang="zh-CN" sz="1600" dirty="0"/>
              <a:t>layer</a:t>
            </a:r>
            <a:r>
              <a:rPr lang="zh-CN" altLang="en-US" sz="1600" dirty="0"/>
              <a:t> </a:t>
            </a:r>
            <a:r>
              <a:rPr lang="en-US" altLang="zh-CN" sz="1600" dirty="0"/>
              <a:t>MAC (model MAC) by XORing all </a:t>
            </a:r>
            <a:r>
              <a:rPr lang="en-US" altLang="zh-CN" sz="1600" dirty="0" err="1"/>
              <a:t>optBlk</a:t>
            </a:r>
            <a:r>
              <a:rPr lang="en-US" altLang="zh-CN" sz="1600" dirty="0"/>
              <a:t> MACs (layer MACs)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2400"/>
              <a:buChar char="•"/>
            </a:pPr>
            <a:r>
              <a:rPr lang="en-US" sz="1600" dirty="0"/>
              <a:t>Minimize the off-chip memory access to only layer MACs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9D79C-F234-3742-4839-AFF79B95265A}"/>
              </a:ext>
            </a:extLst>
          </p:cNvPr>
          <p:cNvSpPr txBox="1"/>
          <p:nvPr/>
        </p:nvSpPr>
        <p:spPr>
          <a:xfrm>
            <a:off x="1203983" y="6449219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[1] </a:t>
            </a:r>
            <a:r>
              <a:rPr lang="en-US" sz="1200" dirty="0" err="1"/>
              <a:t>SecureLoop</a:t>
            </a:r>
            <a:r>
              <a:rPr lang="en-US" sz="1200" dirty="0"/>
              <a:t>: Design Space Exploration of Secure DNN Accelerators</a:t>
            </a:r>
          </a:p>
        </p:txBody>
      </p:sp>
    </p:spTree>
    <p:extLst>
      <p:ext uri="{BB962C8B-B14F-4D97-AF65-F5344CB8AC3E}">
        <p14:creationId xmlns:p14="http://schemas.microsoft.com/office/powerpoint/2010/main" val="360977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CA6E454-9120-7107-A264-35395965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B3D8138-4E45-7F35-F0B1-BBA0CD621002}"/>
              </a:ext>
            </a:extLst>
          </p:cNvPr>
          <p:cNvSpPr txBox="1"/>
          <p:nvPr/>
        </p:nvSpPr>
        <p:spPr>
          <a:xfrm>
            <a:off x="1002888" y="2223402"/>
            <a:ext cx="377558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Motivation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Solution</a:t>
            </a:r>
          </a:p>
          <a:p>
            <a:pPr marL="571500" indent="-5715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93681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8146AF9-2EA6-185E-9C0E-292DE553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C7C5658-4264-2681-9572-45A2958AF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Evaluation Methodology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C5181820-5BA7-0288-5281-15ECE8E6D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0654" y="1777080"/>
            <a:ext cx="5186250" cy="372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/>
            <a:r>
              <a:rPr lang="en-US" sz="1800" dirty="0"/>
              <a:t>Simulators: </a:t>
            </a:r>
          </a:p>
          <a:p>
            <a:pPr marL="685800" lvl="1" indent="-228600">
              <a:spcBef>
                <a:spcPts val="1000"/>
              </a:spcBef>
              <a:buSzPts val="2400"/>
            </a:pPr>
            <a:r>
              <a:rPr lang="en-US" sz="1800" dirty="0"/>
              <a:t>SCALE-Sim2 [1], Ramulator2 [2]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Workloads: </a:t>
            </a:r>
          </a:p>
          <a:p>
            <a:pPr marL="685800" lvl="1" indent="-228600">
              <a:spcBef>
                <a:spcPts val="1000"/>
              </a:spcBef>
              <a:buSzPts val="2400"/>
            </a:pPr>
            <a:r>
              <a:rPr lang="en-US" sz="1800" dirty="0"/>
              <a:t> Lenet, </a:t>
            </a:r>
            <a:r>
              <a:rPr lang="en-US" sz="1800" dirty="0" err="1"/>
              <a:t>Alexnet</a:t>
            </a:r>
            <a:r>
              <a:rPr lang="en-US" sz="1800" dirty="0"/>
              <a:t>, </a:t>
            </a:r>
            <a:r>
              <a:rPr lang="en-US" sz="1800" dirty="0" err="1"/>
              <a:t>Mobilenet</a:t>
            </a:r>
            <a:r>
              <a:rPr lang="en-US" sz="1800" dirty="0"/>
              <a:t>, ResNet18, </a:t>
            </a:r>
            <a:r>
              <a:rPr lang="en-US" sz="1800" dirty="0" err="1"/>
              <a:t>GoogleNet</a:t>
            </a:r>
            <a:r>
              <a:rPr lang="en-US" sz="1800" dirty="0"/>
              <a:t>, DLRM, </a:t>
            </a:r>
            <a:r>
              <a:rPr lang="en-US" sz="1800" dirty="0" err="1"/>
              <a:t>AlphaGoZero</a:t>
            </a:r>
            <a:r>
              <a:rPr lang="en-US" sz="1800" dirty="0"/>
              <a:t>, DeepSpeech2, </a:t>
            </a:r>
            <a:r>
              <a:rPr lang="en-US" sz="1800" dirty="0" err="1"/>
              <a:t>FasterRCNN</a:t>
            </a:r>
            <a:r>
              <a:rPr lang="en-US" sz="1800" dirty="0"/>
              <a:t>, </a:t>
            </a:r>
            <a:r>
              <a:rPr lang="en-US" sz="1800" dirty="0" err="1"/>
              <a:t>NCF_recommendation</a:t>
            </a:r>
            <a:r>
              <a:rPr lang="en-US" sz="1800" dirty="0"/>
              <a:t>, </a:t>
            </a:r>
            <a:r>
              <a:rPr lang="en-US" sz="1800" dirty="0" err="1"/>
              <a:t>Sentimental_seqCNN</a:t>
            </a:r>
            <a:r>
              <a:rPr lang="en-US" sz="1800" dirty="0"/>
              <a:t>, </a:t>
            </a:r>
            <a:r>
              <a:rPr lang="en-US" sz="1800" dirty="0" err="1"/>
              <a:t>Transformer_fwd</a:t>
            </a:r>
            <a:r>
              <a:rPr lang="en-US" sz="1800" dirty="0"/>
              <a:t>, </a:t>
            </a:r>
            <a:r>
              <a:rPr lang="en-US" sz="1800" dirty="0" err="1"/>
              <a:t>Yolo_tiny</a:t>
            </a:r>
            <a:endParaRPr lang="en-US" sz="18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dirty="0"/>
              <a:t>Accelerator configuration:</a:t>
            </a:r>
          </a:p>
          <a:p>
            <a:pPr marL="685800" lvl="1" indent="-228600">
              <a:spcBef>
                <a:spcPts val="1000"/>
              </a:spcBef>
              <a:buSzPts val="2400"/>
            </a:pPr>
            <a:r>
              <a:rPr lang="en-US" sz="1800" dirty="0"/>
              <a:t>Server NPU (Google TPU v1), Edge NPU (Samsung </a:t>
            </a:r>
            <a:r>
              <a:rPr lang="en-US" sz="1800" dirty="0" err="1"/>
              <a:t>Exynos</a:t>
            </a:r>
            <a:r>
              <a:rPr lang="en-US" sz="1800" dirty="0"/>
              <a:t> 990)</a:t>
            </a:r>
            <a:endParaRPr sz="1800"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A14C838-BADC-B10D-37A0-6D59B3AB65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4A8EDD-717C-51B8-870A-61B4363A8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484692"/>
              </p:ext>
            </p:extLst>
          </p:nvPr>
        </p:nvGraphicFramePr>
        <p:xfrm>
          <a:off x="5468505" y="2602540"/>
          <a:ext cx="6452841" cy="195899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37131">
                  <a:extLst>
                    <a:ext uri="{9D8B030D-6E8A-4147-A177-3AD203B41FA5}">
                      <a16:colId xmlns:a16="http://schemas.microsoft.com/office/drawing/2014/main" val="3870025080"/>
                    </a:ext>
                  </a:extLst>
                </a:gridCol>
                <a:gridCol w="2369153">
                  <a:extLst>
                    <a:ext uri="{9D8B030D-6E8A-4147-A177-3AD203B41FA5}">
                      <a16:colId xmlns:a16="http://schemas.microsoft.com/office/drawing/2014/main" val="3036859456"/>
                    </a:ext>
                  </a:extLst>
                </a:gridCol>
                <a:gridCol w="2646557">
                  <a:extLst>
                    <a:ext uri="{9D8B030D-6E8A-4147-A177-3AD203B41FA5}">
                      <a16:colId xmlns:a16="http://schemas.microsoft.com/office/drawing/2014/main" val="1804259950"/>
                    </a:ext>
                  </a:extLst>
                </a:gridCol>
              </a:tblGrid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 (Google TPU 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Edge (Samsung </a:t>
                      </a:r>
                      <a:r>
                        <a:rPr lang="en-US" dirty="0" err="1"/>
                        <a:t>Exynos</a:t>
                      </a:r>
                      <a:r>
                        <a:rPr lang="en-US" dirty="0"/>
                        <a:t> 990)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46294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</a:t>
                      </a:r>
                      <a:r>
                        <a:rPr lang="en-US" altLang="zh-CN" b="1" dirty="0"/>
                        <a:t>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256 x 256 in systolic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 x 32 in systolic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10785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Bandwidth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 GB/s with 4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 GB/s with 4 channels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428569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2.75 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58428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480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69750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B for per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B for per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4602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E7C1EA7-2B9F-0B11-45AD-8ADAE49B986E}"/>
              </a:ext>
            </a:extLst>
          </p:cNvPr>
          <p:cNvSpPr txBox="1"/>
          <p:nvPr/>
        </p:nvSpPr>
        <p:spPr>
          <a:xfrm>
            <a:off x="1114403" y="6184397"/>
            <a:ext cx="6097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[1] A systematic methodology for characterizing scalability of DNN accelerators using SCALE-sim </a:t>
            </a:r>
          </a:p>
          <a:p>
            <a:r>
              <a:rPr lang="en-US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[2] </a:t>
            </a:r>
            <a:r>
              <a:rPr lang="en-US" sz="10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Ramulator</a:t>
            </a:r>
            <a:r>
              <a:rPr lang="en-US" sz="1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2.0: A modern, modular, and extensible DRAM simulator.</a:t>
            </a:r>
          </a:p>
          <a:p>
            <a:r>
              <a:rPr lang="en-US" sz="1000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[3] Energy-efficient protocols and hardware architectures for transport layer security</a:t>
            </a:r>
            <a:endParaRPr lang="en-US" sz="1000" b="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59C911-9FE8-4644-F01E-10F05112D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875578"/>
              </p:ext>
            </p:extLst>
          </p:nvPr>
        </p:nvGraphicFramePr>
        <p:xfrm>
          <a:off x="5468505" y="4799042"/>
          <a:ext cx="6452841" cy="6529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26848">
                  <a:extLst>
                    <a:ext uri="{9D8B030D-6E8A-4147-A177-3AD203B41FA5}">
                      <a16:colId xmlns:a16="http://schemas.microsoft.com/office/drawing/2014/main" val="3870025080"/>
                    </a:ext>
                  </a:extLst>
                </a:gridCol>
                <a:gridCol w="1315844">
                  <a:extLst>
                    <a:ext uri="{9D8B030D-6E8A-4147-A177-3AD203B41FA5}">
                      <a16:colId xmlns:a16="http://schemas.microsoft.com/office/drawing/2014/main" val="3036859456"/>
                    </a:ext>
                  </a:extLst>
                </a:gridCol>
                <a:gridCol w="2310149">
                  <a:extLst>
                    <a:ext uri="{9D8B030D-6E8A-4147-A177-3AD203B41FA5}">
                      <a16:colId xmlns:a16="http://schemas.microsoft.com/office/drawing/2014/main" val="1804259950"/>
                    </a:ext>
                  </a:extLst>
                </a:gridCol>
              </a:tblGrid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Authentication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/decryption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46294"/>
                  </a:ext>
                </a:extLst>
              </a:tr>
              <a:tr h="3264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AES-GCM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 cycles [3]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61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53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0991B46-2CB6-BC5A-F7F5-9692508C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37623376-9A65-83FF-7ACE-E08A2DD05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Traffic Comparison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8DE81C6-502D-250E-8E29-B01A2F480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2516" y="1422787"/>
            <a:ext cx="4536684" cy="212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Traffic comparison with five protection schemes:</a:t>
            </a:r>
          </a:p>
          <a:p>
            <a:pPr marL="685800" lvl="1" indent="-228600">
              <a:spcBef>
                <a:spcPts val="0"/>
              </a:spcBef>
              <a:buSzPts val="2400"/>
            </a:pPr>
            <a:r>
              <a:rPr lang="en-US" dirty="0"/>
              <a:t>SGX-64B, SGX-512B, MGX-64B, MGX-512B and unsecure baseline</a:t>
            </a:r>
          </a:p>
          <a:p>
            <a:pPr marL="685800" lvl="1" indent="-228600">
              <a:spcBef>
                <a:spcPts val="0"/>
              </a:spcBef>
              <a:buSzPts val="2400"/>
            </a:pPr>
            <a:r>
              <a:rPr lang="en-US" dirty="0"/>
              <a:t>64B and 512B indicate different security granularities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524E73D-FBE2-5C54-41AF-4DE297C856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02EDEF-C5A9-3F3D-1520-930FC0BC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035" y="2074193"/>
            <a:ext cx="5839064" cy="2040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CEF517-0A4D-B6F3-8046-467C8542C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035" y="4433748"/>
            <a:ext cx="5839064" cy="20405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6D9A86-8D12-2A6A-F92B-912E37E37180}"/>
              </a:ext>
            </a:extLst>
          </p:cNvPr>
          <p:cNvSpPr txBox="1"/>
          <p:nvPr/>
        </p:nvSpPr>
        <p:spPr>
          <a:xfrm>
            <a:off x="6945072" y="1853114"/>
            <a:ext cx="2540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Server NPUs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ED549D-F856-C8B5-2230-4B28989BE36B}"/>
              </a:ext>
            </a:extLst>
          </p:cNvPr>
          <p:cNvSpPr txBox="1"/>
          <p:nvPr/>
        </p:nvSpPr>
        <p:spPr>
          <a:xfrm>
            <a:off x="7181319" y="6488668"/>
            <a:ext cx="2540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Edge NPUs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563B1E-DBAC-18E7-67B6-117ED9177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557" y="4193878"/>
            <a:ext cx="4461335" cy="3158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3FC744-A497-CC8D-1254-23D1D42D9806}"/>
              </a:ext>
            </a:extLst>
          </p:cNvPr>
          <p:cNvSpPr txBox="1"/>
          <p:nvPr/>
        </p:nvSpPr>
        <p:spPr>
          <a:xfrm>
            <a:off x="10397107" y="3944481"/>
            <a:ext cx="19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Lower is better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EE0323-E3FD-74B8-D08D-5F9A073FF132}"/>
              </a:ext>
            </a:extLst>
          </p:cNvPr>
          <p:cNvCxnSpPr>
            <a:cxnSpLocks/>
          </p:cNvCxnSpPr>
          <p:nvPr/>
        </p:nvCxnSpPr>
        <p:spPr>
          <a:xfrm flipH="1">
            <a:off x="11067605" y="2576119"/>
            <a:ext cx="374329" cy="24359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16">
            <a:extLst>
              <a:ext uri="{FF2B5EF4-FFF2-40B4-BE49-F238E27FC236}">
                <a16:creationId xmlns:a16="http://schemas.microsoft.com/office/drawing/2014/main" id="{CAE5372A-215D-5A94-B884-39485E6B1698}"/>
              </a:ext>
            </a:extLst>
          </p:cNvPr>
          <p:cNvSpPr txBox="1"/>
          <p:nvPr/>
        </p:nvSpPr>
        <p:spPr>
          <a:xfrm>
            <a:off x="11387336" y="2179687"/>
            <a:ext cx="6925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Up to 22.7%</a:t>
            </a:r>
            <a:endParaRPr lang="en-US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B69AA3-D4BE-8971-BFF6-A9D8E86EABD1}"/>
              </a:ext>
            </a:extLst>
          </p:cNvPr>
          <p:cNvCxnSpPr>
            <a:cxnSpLocks/>
          </p:cNvCxnSpPr>
          <p:nvPr/>
        </p:nvCxnSpPr>
        <p:spPr>
          <a:xfrm flipH="1">
            <a:off x="11093380" y="5134872"/>
            <a:ext cx="349320" cy="211828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2">
            <a:extLst>
              <a:ext uri="{FF2B5EF4-FFF2-40B4-BE49-F238E27FC236}">
                <a16:creationId xmlns:a16="http://schemas.microsoft.com/office/drawing/2014/main" id="{E0854E8C-FB1A-BD94-BE31-94ADB27335A4}"/>
              </a:ext>
            </a:extLst>
          </p:cNvPr>
          <p:cNvSpPr txBox="1"/>
          <p:nvPr/>
        </p:nvSpPr>
        <p:spPr>
          <a:xfrm>
            <a:off x="11387336" y="4867549"/>
            <a:ext cx="80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Up to</a:t>
            </a:r>
          </a:p>
          <a:p>
            <a:r>
              <a:rPr lang="en-US" sz="1600" dirty="0"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22</a:t>
            </a:r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.0%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DF526E-02F8-DDEC-2CD3-F3B4D3E8C3D2}"/>
              </a:ext>
            </a:extLst>
          </p:cNvPr>
          <p:cNvSpPr/>
          <p:nvPr/>
        </p:nvSpPr>
        <p:spPr>
          <a:xfrm>
            <a:off x="10614014" y="2196288"/>
            <a:ext cx="374284" cy="16944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6A351-C7C3-021E-F9F1-AA3E9AA0FE79}"/>
              </a:ext>
            </a:extLst>
          </p:cNvPr>
          <p:cNvSpPr/>
          <p:nvPr/>
        </p:nvSpPr>
        <p:spPr>
          <a:xfrm>
            <a:off x="10600803" y="4560562"/>
            <a:ext cx="374284" cy="169448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66C681-419D-BC2C-0326-C2DB5EBFD29B}"/>
              </a:ext>
            </a:extLst>
          </p:cNvPr>
          <p:cNvSpPr txBox="1"/>
          <p:nvPr/>
        </p:nvSpPr>
        <p:spPr>
          <a:xfrm>
            <a:off x="826307" y="4313813"/>
            <a:ext cx="4257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1800" dirty="0"/>
              <a:t>SeDA reduces authentication metadata by multi-level integrity verification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800" dirty="0"/>
              <a:t>Off-chip memory traffic reduces over 22% for both server and edge NPUs</a:t>
            </a:r>
          </a:p>
        </p:txBody>
      </p:sp>
    </p:spTree>
    <p:extLst>
      <p:ext uri="{BB962C8B-B14F-4D97-AF65-F5344CB8AC3E}">
        <p14:creationId xmlns:p14="http://schemas.microsoft.com/office/powerpoint/2010/main" val="173116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AB59093-B515-8CA8-443A-AAE3F506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16399EA-69C8-E089-A2D3-194BF342B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Performance Comparison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501E834-DB6B-6FD0-EB3E-89CB4E903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2516" y="1422787"/>
            <a:ext cx="4536684" cy="212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Traffic comparison with five protection schemes:</a:t>
            </a:r>
          </a:p>
          <a:p>
            <a:pPr marL="685800" lvl="1" indent="-228600">
              <a:spcBef>
                <a:spcPts val="0"/>
              </a:spcBef>
              <a:buSzPts val="2400"/>
            </a:pPr>
            <a:r>
              <a:rPr lang="en-US" dirty="0"/>
              <a:t>SGX-64B, SGX-512B, MGX-64B, MGX-512B and unsecure baseline</a:t>
            </a:r>
          </a:p>
          <a:p>
            <a:pPr marL="685800" lvl="1" indent="-228600">
              <a:spcBef>
                <a:spcPts val="0"/>
              </a:spcBef>
              <a:buSzPts val="2400"/>
            </a:pPr>
            <a:r>
              <a:rPr lang="en-US" dirty="0"/>
              <a:t>64B and 512B indicate different security granularities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CA663FA-AD14-5A40-D704-9DEF621A94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FC87E5-02C4-85A4-F053-19A1AE1F4398}"/>
              </a:ext>
            </a:extLst>
          </p:cNvPr>
          <p:cNvSpPr txBox="1"/>
          <p:nvPr/>
        </p:nvSpPr>
        <p:spPr>
          <a:xfrm>
            <a:off x="7181319" y="6488668"/>
            <a:ext cx="2540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Edge NPUs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7A7CF6-6076-6D56-1286-CA1850067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57" y="4193878"/>
            <a:ext cx="4461335" cy="315841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0676DBB5-8A2E-D338-902C-522E930E714B}"/>
              </a:ext>
            </a:extLst>
          </p:cNvPr>
          <p:cNvSpPr txBox="1"/>
          <p:nvPr/>
        </p:nvSpPr>
        <p:spPr>
          <a:xfrm>
            <a:off x="11387336" y="2179687"/>
            <a:ext cx="80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Up to </a:t>
            </a:r>
            <a:r>
              <a:rPr lang="en-US" sz="1600" dirty="0"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12</a:t>
            </a:r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.1%</a:t>
            </a:r>
            <a:endParaRPr lang="en-US" sz="1600" dirty="0"/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4F3E8EE1-AFAF-2FC6-0D77-058836CB2FF8}"/>
              </a:ext>
            </a:extLst>
          </p:cNvPr>
          <p:cNvSpPr txBox="1"/>
          <p:nvPr/>
        </p:nvSpPr>
        <p:spPr>
          <a:xfrm>
            <a:off x="11387336" y="4867549"/>
            <a:ext cx="8046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Up to</a:t>
            </a:r>
          </a:p>
          <a:p>
            <a:r>
              <a:rPr lang="en-US" sz="1600" dirty="0"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12</a:t>
            </a:r>
            <a:r>
              <a:rPr lang="en-US" sz="1600" dirty="0">
                <a:effectLst/>
                <a:latin typeface="Arial" panose="020B060402020202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.4%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8379D2-E1B7-03DF-72B5-19EE2A26D2A7}"/>
              </a:ext>
            </a:extLst>
          </p:cNvPr>
          <p:cNvSpPr txBox="1"/>
          <p:nvPr/>
        </p:nvSpPr>
        <p:spPr>
          <a:xfrm>
            <a:off x="683528" y="4193878"/>
            <a:ext cx="44613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sz="1800" dirty="0"/>
              <a:t>SeDA utilizes bandwidth-aware encryption to efficiently generate OTPs and multi-level integrity verification to reduce memory access</a:t>
            </a:r>
          </a:p>
          <a:p>
            <a:pPr marL="342900" indent="-342900">
              <a:buFont typeface="+mj-lt"/>
              <a:buAutoNum type="arabicParenR"/>
            </a:pPr>
            <a:r>
              <a:rPr lang="en-US" sz="1800" dirty="0"/>
              <a:t>Performance improve over 12% for both server and edge NPUs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E4495C-A020-AC9E-0824-B64CA338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035" y="2071669"/>
            <a:ext cx="5833422" cy="203735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EACFC55-F4FE-76B1-956D-1BC9EF8BA3E0}"/>
              </a:ext>
            </a:extLst>
          </p:cNvPr>
          <p:cNvSpPr/>
          <p:nvPr/>
        </p:nvSpPr>
        <p:spPr>
          <a:xfrm>
            <a:off x="10614014" y="2196288"/>
            <a:ext cx="374284" cy="16944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54F86-E59F-EF4D-E876-3BEAFF748D4E}"/>
              </a:ext>
            </a:extLst>
          </p:cNvPr>
          <p:cNvSpPr txBox="1"/>
          <p:nvPr/>
        </p:nvSpPr>
        <p:spPr>
          <a:xfrm>
            <a:off x="6945072" y="1853114"/>
            <a:ext cx="2540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Server NPUs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8DA2AF-5584-3E92-BFE2-83851999D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232" y="4480518"/>
            <a:ext cx="5830225" cy="203735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ABB6D2B-04ED-6DB2-AFDF-D41C30085D07}"/>
              </a:ext>
            </a:extLst>
          </p:cNvPr>
          <p:cNvSpPr/>
          <p:nvPr/>
        </p:nvSpPr>
        <p:spPr>
          <a:xfrm>
            <a:off x="10600803" y="4560562"/>
            <a:ext cx="374284" cy="169448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805B0E-3C16-5519-BB8B-1DF276090FD3}"/>
              </a:ext>
            </a:extLst>
          </p:cNvPr>
          <p:cNvCxnSpPr>
            <a:cxnSpLocks/>
          </p:cNvCxnSpPr>
          <p:nvPr/>
        </p:nvCxnSpPr>
        <p:spPr>
          <a:xfrm flipH="1">
            <a:off x="11067605" y="2576119"/>
            <a:ext cx="374329" cy="24359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6620CF-AE01-B5E2-A663-88843C12EB54}"/>
              </a:ext>
            </a:extLst>
          </p:cNvPr>
          <p:cNvCxnSpPr>
            <a:cxnSpLocks/>
          </p:cNvCxnSpPr>
          <p:nvPr/>
        </p:nvCxnSpPr>
        <p:spPr>
          <a:xfrm flipH="1">
            <a:off x="11093380" y="5134872"/>
            <a:ext cx="349320" cy="211828"/>
          </a:xfrm>
          <a:prstGeom prst="straightConnector1">
            <a:avLst/>
          </a:prstGeom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20CADB-6D94-61D6-9519-3BC6FEE4B1B0}"/>
              </a:ext>
            </a:extLst>
          </p:cNvPr>
          <p:cNvSpPr txBox="1"/>
          <p:nvPr/>
        </p:nvSpPr>
        <p:spPr>
          <a:xfrm>
            <a:off x="10397107" y="3944481"/>
            <a:ext cx="19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/>
              <a:t>Higher is better</a:t>
            </a:r>
          </a:p>
        </p:txBody>
      </p:sp>
    </p:spTree>
    <p:extLst>
      <p:ext uri="{BB962C8B-B14F-4D97-AF65-F5344CB8AC3E}">
        <p14:creationId xmlns:p14="http://schemas.microsoft.com/office/powerpoint/2010/main" val="3660107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9708600D-53D6-2532-DB33-AFEAF32B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33DAEC8-CE5B-DB44-570F-65A679286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463" y="18255"/>
            <a:ext cx="11365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BAF1164-B46F-26D4-49D4-E12B957D66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Google Shape;110;p4">
            <a:extLst>
              <a:ext uri="{FF2B5EF4-FFF2-40B4-BE49-F238E27FC236}">
                <a16:creationId xmlns:a16="http://schemas.microsoft.com/office/drawing/2014/main" id="{457E3B24-BE23-E174-A8E2-7A6EAFC19D4E}"/>
              </a:ext>
            </a:extLst>
          </p:cNvPr>
          <p:cNvSpPr txBox="1">
            <a:spLocks/>
          </p:cNvSpPr>
          <p:nvPr/>
        </p:nvSpPr>
        <p:spPr>
          <a:xfrm>
            <a:off x="463463" y="2048171"/>
            <a:ext cx="11728537" cy="3625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</a:pPr>
            <a:r>
              <a:rPr lang="en-US" b="1" dirty="0"/>
              <a:t>Problem</a:t>
            </a:r>
          </a:p>
          <a:p>
            <a:pPr marL="685800" lvl="1" indent="-228600">
              <a:spcBef>
                <a:spcPts val="0"/>
              </a:spcBef>
            </a:pPr>
            <a:r>
              <a:rPr lang="en-US" dirty="0"/>
              <a:t>Secure DNN accelerator increases off-chip memory access and degrades the performance</a:t>
            </a:r>
          </a:p>
          <a:p>
            <a:pPr marL="228600" indent="-228600">
              <a:spcBef>
                <a:spcPts val="0"/>
              </a:spcBef>
            </a:pPr>
            <a:endParaRPr lang="en-US" dirty="0"/>
          </a:p>
          <a:p>
            <a:pPr marL="228600" indent="-228600">
              <a:spcBef>
                <a:spcPts val="0"/>
              </a:spcBef>
            </a:pPr>
            <a:endParaRPr lang="en-US" dirty="0"/>
          </a:p>
          <a:p>
            <a:pPr marL="228600" indent="-228600">
              <a:spcBef>
                <a:spcPts val="0"/>
              </a:spcBef>
            </a:pPr>
            <a:r>
              <a:rPr lang="en-US" b="1" dirty="0"/>
              <a:t>Solution</a:t>
            </a:r>
          </a:p>
          <a:p>
            <a:pPr marL="685800" lvl="1" indent="-228600">
              <a:spcBef>
                <a:spcPts val="0"/>
              </a:spcBef>
            </a:pPr>
            <a:r>
              <a:rPr lang="en-US" dirty="0"/>
              <a:t>Bandwidth-aware encryption reduces hardware resources for confidentiality protection</a:t>
            </a:r>
          </a:p>
          <a:p>
            <a:pPr marL="685800" lvl="1" indent="-228600">
              <a:spcBef>
                <a:spcPts val="0"/>
              </a:spcBef>
            </a:pPr>
            <a:r>
              <a:rPr lang="en-US" dirty="0"/>
              <a:t>Multi-level integrity verification reduces off-chip memory access of security metadata</a:t>
            </a:r>
          </a:p>
          <a:p>
            <a:pPr marL="685800" lvl="1" indent="-228600">
              <a:spcBef>
                <a:spcPts val="0"/>
              </a:spcBef>
            </a:pPr>
            <a:endParaRPr lang="en-US" dirty="0"/>
          </a:p>
          <a:p>
            <a:pPr marL="228600" indent="-228600">
              <a:spcBef>
                <a:spcPts val="0"/>
              </a:spcBef>
            </a:pPr>
            <a:endParaRPr lang="en-US" dirty="0"/>
          </a:p>
          <a:p>
            <a:pPr marL="228600" indent="-228600">
              <a:spcBef>
                <a:spcPts val="0"/>
              </a:spcBef>
            </a:pPr>
            <a:r>
              <a:rPr lang="en-US" b="1" dirty="0"/>
              <a:t>Evaluation</a:t>
            </a:r>
          </a:p>
          <a:p>
            <a:pPr marL="685800" lvl="1" indent="-228600">
              <a:spcBef>
                <a:spcPts val="0"/>
              </a:spcBef>
            </a:pPr>
            <a:r>
              <a:rPr lang="en-US" dirty="0"/>
              <a:t>Reduce the performance overhead by over 12% compared to of state-of-the-art approaches</a:t>
            </a:r>
          </a:p>
        </p:txBody>
      </p:sp>
    </p:spTree>
    <p:extLst>
      <p:ext uri="{BB962C8B-B14F-4D97-AF65-F5344CB8AC3E}">
        <p14:creationId xmlns:p14="http://schemas.microsoft.com/office/powerpoint/2010/main" val="2204576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EC04455-9243-4D6E-37C0-7918149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>
            <a:extLst>
              <a:ext uri="{FF2B5EF4-FFF2-40B4-BE49-F238E27FC236}">
                <a16:creationId xmlns:a16="http://schemas.microsoft.com/office/drawing/2014/main" id="{36379283-7E55-7828-8CE9-BD2DA21FB8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8431" y="6176963"/>
            <a:ext cx="630382" cy="544513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C34646-A048-0682-2A75-827C27DF9120}"/>
              </a:ext>
            </a:extLst>
          </p:cNvPr>
          <p:cNvSpPr>
            <a:spLocks noGrp="1"/>
          </p:cNvSpPr>
          <p:nvPr/>
        </p:nvSpPr>
        <p:spPr>
          <a:xfrm>
            <a:off x="4589067" y="-1056064"/>
            <a:ext cx="4006642" cy="60685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3800" b="1" i="0" kern="0" baseline="0">
                <a:solidFill>
                  <a:schemeClr val="tx1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defRPr>
            </a:lvl1pPr>
          </a:lstStyle>
          <a:p>
            <a:pPr algn="ctr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498CF8-3255-8481-23DF-D80A04816113}"/>
              </a:ext>
            </a:extLst>
          </p:cNvPr>
          <p:cNvSpPr>
            <a:spLocks noGrp="1"/>
          </p:cNvSpPr>
          <p:nvPr/>
        </p:nvSpPr>
        <p:spPr>
          <a:xfrm>
            <a:off x="6794093" y="3224793"/>
            <a:ext cx="4006642" cy="1974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sz="3800" b="1" i="0" kern="0" baseline="0">
                <a:solidFill>
                  <a:schemeClr val="tx1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defRPr>
            </a:lvl1pPr>
          </a:lstStyle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  <a:p>
            <a:pPr algn="ctr"/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614716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8" descr="A close-up of a poster&#10;&#10;Description automatically generate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BD7E7"/>
      </a:accent1>
      <a:accent2>
        <a:srgbClr val="E97132"/>
      </a:accent2>
      <a:accent3>
        <a:srgbClr val="C1D830"/>
      </a:accent3>
      <a:accent4>
        <a:srgbClr val="492354"/>
      </a:accent4>
      <a:accent5>
        <a:srgbClr val="1A2051"/>
      </a:accent5>
      <a:accent6>
        <a:srgbClr val="4EA72E"/>
      </a:accent6>
      <a:hlink>
        <a:srgbClr val="F37837"/>
      </a:hlink>
      <a:folHlink>
        <a:srgbClr val="A93A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956</Words>
  <Application>Microsoft Macintosh PowerPoint</Application>
  <PresentationFormat>Widescreen</PresentationFormat>
  <Paragraphs>162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SeDA: Secure and Efficient DNN Accelerators with Hardware/Software Synergy</vt:lpstr>
      <vt:lpstr>PowerPoint Presentation</vt:lpstr>
      <vt:lpstr>Secure DNN Accelerators is important</vt:lpstr>
      <vt:lpstr>Memory Protection Mechanism</vt:lpstr>
      <vt:lpstr>Authentication En/Decryption</vt:lpstr>
      <vt:lpstr>PowerPoint Presentation</vt:lpstr>
      <vt:lpstr>Hardware Overhead of Security </vt:lpstr>
      <vt:lpstr>Extra Off-chip Memory Access</vt:lpstr>
      <vt:lpstr>PowerPoint Presentation</vt:lpstr>
      <vt:lpstr>Key Insight 1: Multi-OTP Generation</vt:lpstr>
      <vt:lpstr>Key Insight 2: Cross-layer Authentication</vt:lpstr>
      <vt:lpstr>Overview of This Work</vt:lpstr>
      <vt:lpstr>Bandwidth-aware Encryption</vt:lpstr>
      <vt:lpstr>Multi-level Integrity Verification</vt:lpstr>
      <vt:lpstr>PowerPoint Presentation</vt:lpstr>
      <vt:lpstr>Evaluation Methodology</vt:lpstr>
      <vt:lpstr>Traffic Comparison</vt:lpstr>
      <vt:lpstr>Performance Comparison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 Rossell</dc:creator>
  <cp:lastModifiedBy>Wayne Hsuan</cp:lastModifiedBy>
  <cp:revision>147</cp:revision>
  <dcterms:created xsi:type="dcterms:W3CDTF">2024-09-11T13:48:27Z</dcterms:created>
  <dcterms:modified xsi:type="dcterms:W3CDTF">2025-06-04T00:55:12Z</dcterms:modified>
</cp:coreProperties>
</file>